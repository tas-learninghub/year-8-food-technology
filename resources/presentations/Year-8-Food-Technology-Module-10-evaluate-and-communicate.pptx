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5b32ca7be74ebe" /><Relationship Type="http://schemas.openxmlformats.org/officeDocument/2006/relationships/extended-properties" Target="/docProps/app.xml" Id="Re786dc430d694356" /><Relationship Type="http://schemas.openxmlformats.org/officeDocument/2006/relationships/officeDocument" Target="/ppt/presentation.xml" Id="R99fffe8b3b2949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720312e4f044d7"/>
  </p:sldMasterIdLst>
  <p:notesMasterIdLst>
    <p:notesMasterId xmlns:r="http://schemas.openxmlformats.org/officeDocument/2006/relationships" r:id="R45119f446f034728"/>
  </p:notesMasterIdLst>
  <p:sldIdLst>
    <p:sldId xmlns:r="http://schemas.openxmlformats.org/officeDocument/2006/relationships" id="256" r:id="Re7ac7bae472442bb"/>
    <p:sldId xmlns:r="http://schemas.openxmlformats.org/officeDocument/2006/relationships" id="257" r:id="Rd59289cc8b074d56"/>
    <p:sldId xmlns:r="http://schemas.openxmlformats.org/officeDocument/2006/relationships" id="258" r:id="R3290a52448be4280"/>
    <p:sldId xmlns:r="http://schemas.openxmlformats.org/officeDocument/2006/relationships" id="259" r:id="Rf411b49cf500425d"/>
    <p:sldId xmlns:r="http://schemas.openxmlformats.org/officeDocument/2006/relationships" id="260" r:id="Ra50f6c99b19944f7"/>
    <p:sldId xmlns:r="http://schemas.openxmlformats.org/officeDocument/2006/relationships" id="261" r:id="Rd0bc23fd3b9442b8"/>
    <p:sldId xmlns:r="http://schemas.openxmlformats.org/officeDocument/2006/relationships" id="262" r:id="R608b94582d4f4ecc"/>
    <p:sldId xmlns:r="http://schemas.openxmlformats.org/officeDocument/2006/relationships" id="263" r:id="Rec9a9e31b21443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c3297be1ec4851" /><Relationship Type="http://schemas.openxmlformats.org/officeDocument/2006/relationships/slideMaster" Target="/ppt/slideMasters/slideMaster1.xml" Id="Rc4720312e4f044d7" /><Relationship Type="http://schemas.openxmlformats.org/officeDocument/2006/relationships/notesMaster" Target="/ppt/notesMasters/notesMaster1.xml" Id="R45119f446f034728" /><Relationship Type="http://schemas.openxmlformats.org/officeDocument/2006/relationships/presProps" Target="/ppt/presProps.xml" Id="Rd3c5bda401cb465e" /><Relationship Type="http://schemas.openxmlformats.org/officeDocument/2006/relationships/tableStyles" Target="/ppt/tableStyles.xml" Id="Raa9e6cc7e44a4ddd" /><Relationship Type="http://schemas.openxmlformats.org/officeDocument/2006/relationships/slide" Target="/ppt/slides/slide1.xml" Id="Re7ac7bae472442bb" /><Relationship Type="http://schemas.openxmlformats.org/officeDocument/2006/relationships/slide" Target="/ppt/slides/slide2.xml" Id="Rd59289cc8b074d56" /><Relationship Type="http://schemas.openxmlformats.org/officeDocument/2006/relationships/slide" Target="/ppt/slides/slide3.xml" Id="R3290a52448be4280" /><Relationship Type="http://schemas.openxmlformats.org/officeDocument/2006/relationships/slide" Target="/ppt/slides/slide4.xml" Id="Rf411b49cf500425d" /><Relationship Type="http://schemas.openxmlformats.org/officeDocument/2006/relationships/slide" Target="/ppt/slides/slide5.xml" Id="Ra50f6c99b19944f7" /><Relationship Type="http://schemas.openxmlformats.org/officeDocument/2006/relationships/slide" Target="/ppt/slides/slide6.xml" Id="Rd0bc23fd3b9442b8" /><Relationship Type="http://schemas.openxmlformats.org/officeDocument/2006/relationships/slide" Target="/ppt/slides/slide7.xml" Id="R608b94582d4f4ecc" /><Relationship Type="http://schemas.openxmlformats.org/officeDocument/2006/relationships/slide" Target="/ppt/slides/slide8.xml" Id="Rec9a9e31b21443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932af8b52f49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e557fd3a1545b8" /><Relationship Type="http://schemas.openxmlformats.org/officeDocument/2006/relationships/notesMaster" Target="/ppt/notesMasters/notesMaster1.xml" Id="Rda3b7a7d1ab440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eb5c9e3caa4bd2" /><Relationship Type="http://schemas.openxmlformats.org/officeDocument/2006/relationships/notesMaster" Target="/ppt/notesMasters/notesMaster1.xml" Id="R00375a9eff5145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9884e15a764964" /><Relationship Type="http://schemas.openxmlformats.org/officeDocument/2006/relationships/notesMaster" Target="/ppt/notesMasters/notesMaster1.xml" Id="R9183e97d73e046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53f68faa07467b" /><Relationship Type="http://schemas.openxmlformats.org/officeDocument/2006/relationships/notesMaster" Target="/ppt/notesMasters/notesMaster1.xml" Id="Ree3283a428704b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1eb69ad198460f" /><Relationship Type="http://schemas.openxmlformats.org/officeDocument/2006/relationships/notesMaster" Target="/ppt/notesMasters/notesMaster1.xml" Id="Rf3cc589561964f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2bfa2ad4004097" /><Relationship Type="http://schemas.openxmlformats.org/officeDocument/2006/relationships/notesMaster" Target="/ppt/notesMasters/notesMaster1.xml" Id="R94604316cb0b4e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b6179177c74abd" /><Relationship Type="http://schemas.openxmlformats.org/officeDocument/2006/relationships/notesMaster" Target="/ppt/notesMasters/notesMaster1.xml" Id="Rf07ee8fdb75f4c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29cedf737e4a8a" /><Relationship Type="http://schemas.openxmlformats.org/officeDocument/2006/relationships/notesMaster" Target="/ppt/notesMasters/notesMaster1.xml" Id="R31896cfa179b42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learning purpose: Judge the result against criteria and explain the next improvement.</a:t>
            </a:r>
          </a:p>
          <a:p xmlns:a="http://schemas.openxmlformats.org/drawingml/2006/main">
            <a:r>
              <a:t>Ask students to inspect the image and identify one detail connected to the module.</a:t>
            </a:r>
          </a:p>
          <a:p xmlns:a="http://schemas.openxmlformats.org/drawingml/2006/main">
            <a:r>
              <a:t>Do not present any unconfirmed local practical or assessment detail as settled.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course-program
- assets/photos/module-10-evaluation-evidence.png · SHA-256 b226ebdddde8929e7c6dd2ae5a3fcfaca8e590d2eeef311c691d305570077702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warm-up as a short think-pair-share.</a:t>
            </a:r>
          </a:p>
          <a:p xmlns:a="http://schemas.openxmlformats.org/drawingml/2006/main">
            <a:r>
              <a:t>Preview the sequence: Testing against criteria; Evidence, sources and bibliography; Reflection, improvement and communication.</a:t>
            </a:r>
          </a:p>
          <a:p xmlns:a="http://schemas.openxmlformats.org/drawingml/2006/main">
            <a:r>
              <a:t>Listen for the first misconception listed in each section and note which idea needs more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course-program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Match evidence to each criterion; Make a reasoned judgement; Recognise trade-offs.</a:t>
            </a:r>
          </a:p>
          <a:p xmlns:a="http://schemas.openxmlformats.org/drawingml/2006/main">
            <a:r>
              <a:t>Use the worked example: Evaluating a party-food platter. A strong evaluation explains the degree of success by connecting each judgement to specific evidence rather than relying on description or personal preference.</a:t>
            </a:r>
          </a:p>
          <a:p xmlns:a="http://schemas.openxmlformats.org/drawingml/2006/main">
            <a:r>
              <a:t>Likely misconception: Evaluation means describing what the finished food looks and tastes like. Correction: Description can provide evidence, but evaluation also compares that evidence with a stated criterion and reaches a supported judgement.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course-program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Choose useful evidence and sources; Paraphrase, quote briefly and give credit; Record details as you research.</a:t>
            </a:r>
          </a:p>
          <a:p xmlns:a="http://schemas.openxmlformats.org/drawingml/2006/main">
            <a:r>
              <a:t>Use the worked example: Building evidence for a design explanation. Strong design explanations combine appropriate primary and secondary evidence while making it clear where borrowed information came from.</a:t>
            </a:r>
          </a:p>
          <a:p xmlns:a="http://schemas.openxmlformats.org/drawingml/2006/main">
            <a:r>
              <a:t>Likely misconception: If information is on a website, it is automatically reliable and suitable to use. Correction: A source should be checked for credibility and relevance before its information is used.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course-program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Reflect with evidence; Turn reflection into a specific improvement; Communicate for your audience and use feedback critically.</a:t>
            </a:r>
          </a:p>
          <a:p xmlns:a="http://schemas.openxmlformats.org/drawingml/2006/main">
            <a:r>
              <a:t>Use the worked example: Reflecting on a party-food practical. Effective reflection connects what happened with evidence, explains its significance, makes a judgement and identifies a realistic improvement for next time.</a:t>
            </a:r>
          </a:p>
          <a:p xmlns:a="http://schemas.openxmlformats.org/drawingml/2006/main">
            <a:r>
              <a:t>Likely misconception: Reflection means writing a timeline of everything that happened during the practical lesson. Correction: A strong reflection selects the most relevant events and connects them with evidence, reasoning, judgement and future action.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course-program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quiet thinking time before discussion.</a:t>
            </a:r>
          </a:p>
          <a:p xmlns:a="http://schemas.openxmlformats.org/drawingml/2006/main">
            <a:r>
              <a:t>Question on Testing against criteria: accept an answer only when it explains why. Description can provide evidence, but evaluation also compares that evidence with a stated criterion and reaches a supported judgement.</a:t>
            </a:r>
          </a:p>
          <a:p xmlns:a="http://schemas.openxmlformats.org/drawingml/2006/main">
            <a:r>
              <a:t>Question on Evidence, sources and bibliography: accept an answer only when it explains why. A source should be checked for credibility and relevance before its information is used.</a:t>
            </a:r>
          </a:p>
          <a:p xmlns:a="http://schemas.openxmlformats.org/drawingml/2006/main">
            <a:r>
              <a:t>Question on Reflection, improvement and communication: accept an answer only when it explains why. A strong reflection selects the most relevant events and connects them with evidence, reasoning, judgement and future action.</a:t>
            </a:r>
          </a:p>
          <a:p xmlns:a="http://schemas.openxmlformats.org/drawingml/2006/main">
            <a:r>
              <a:t>Use this as formative checking; it is not a formal 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course-program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full prompt aloud once, then give students time to unpack it.</a:t>
            </a:r>
          </a:p>
          <a:p xmlns:a="http://schemas.openxmlformats.org/drawingml/2006/main">
            <a:r>
              <a:t>A strong response should draw on: Testing against criteria; Evidence, sources and bibliography; Reflection, improvement and communication.</a:t>
            </a:r>
          </a:p>
          <a:p xmlns:a="http://schemas.openxmlformats.org/drawingml/2006/main">
            <a:r>
              <a:t>Model a connection using because, so or therefore without supplying a complete answer.</a:t>
            </a:r>
          </a:p>
          <a:p xmlns:a="http://schemas.openxmlformats.org/drawingml/2006/main">
            <a:r>
              <a:t>Remind students that local saving is formative evidence, not proof of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course-program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ticket or brief verbal check.</a:t>
            </a:r>
          </a:p>
          <a:p xmlns:a="http://schemas.openxmlformats.org/drawingml/2006/main">
            <a:r>
              <a:t>Ask students to save their longer response before closing the module page.</a:t>
            </a:r>
          </a:p>
          <a:p xmlns:a="http://schemas.openxmlformats.org/drawingml/2006/main">
            <a:r>
              <a:t>Close the course loop by linking evidence back to criteria and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assessment-workbook
- course-program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658de157a45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cee500480945d6" /><Relationship Type="http://schemas.openxmlformats.org/officeDocument/2006/relationships/slideLayout" Target="/ppt/slideLayouts/slideLayout1.xml" Id="R3f20d4a209324b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20d4a209324b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707db4b954f37" /><Relationship Type="http://schemas.openxmlformats.org/officeDocument/2006/relationships/image" Target="/ppt/media/image.png" Id="Rca312f694a114ac8" /><Relationship Type="http://schemas.openxmlformats.org/officeDocument/2006/relationships/notesSlide" Target="/ppt/notesSlides/notesSlide1.xml" Id="R85cd5af3ac334b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87aad7fe84a5d" /><Relationship Type="http://schemas.openxmlformats.org/officeDocument/2006/relationships/notesSlide" Target="/ppt/notesSlides/notesSlide2.xml" Id="Rfdff434f6d6e4d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6a285772c4c84" /><Relationship Type="http://schemas.openxmlformats.org/officeDocument/2006/relationships/notesSlide" Target="/ppt/notesSlides/notesSlide3.xml" Id="R9e942e75ce7946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633a11ec64955" /><Relationship Type="http://schemas.openxmlformats.org/officeDocument/2006/relationships/notesSlide" Target="/ppt/notesSlides/notesSlide4.xml" Id="R853e194cec6849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aec407c3c48d6" /><Relationship Type="http://schemas.openxmlformats.org/officeDocument/2006/relationships/notesSlide" Target="/ppt/notesSlides/notesSlide5.xml" Id="R63a80d4eb8c145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6120082c44e67" /><Relationship Type="http://schemas.openxmlformats.org/officeDocument/2006/relationships/notesSlide" Target="/ppt/notesSlides/notesSlide6.xml" Id="R316854ce3f6f4c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cfd3f935e4f25" /><Relationship Type="http://schemas.openxmlformats.org/officeDocument/2006/relationships/notesSlide" Target="/ppt/notesSlides/notesSlide7.xml" Id="Re254dc94c43944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70e5eeccc4524" /><Relationship Type="http://schemas.openxmlformats.org/officeDocument/2006/relationships/notesSlide" Target="/ppt/notesSlides/notesSlide8.xml" Id="Rd5b78a9a560a40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F1997-2D23-4AC6-95CF-8189423C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12f694a114ac8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AD64B-6922-4FAE-81D2-3F06E83C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4936"/>
              </a:gs>
              <a:gs pos="100000">
                <a:srgbClr val="1749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9C4A9-DAE6-414E-B50B-FC228C5B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AE35"/>
                </a:solidFill>
              </a:defRPr>
            </a:pPr>
            <a:r>
              <a:rPr sz="1350" b="1">
                <a:solidFill>
                  <a:srgbClr val="E6AE35"/>
                </a:solidFill>
              </a:rPr>
              <a:t>MODULE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3BB3F-12A4-439C-86A4-7272CE88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333875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Evaluate and Communicate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3C27B-56E9-4407-BC2F-71464521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09575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DF5EF"/>
                </a:solidFill>
              </a:defRPr>
            </a:pPr>
            <a:r>
              <a:rPr sz="1800" b="0">
                <a:solidFill>
                  <a:srgbClr val="EDF5EF"/>
                </a:solidFill>
              </a:rPr>
              <a:t>Judge the result against criteria and explain the next improvement.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06E73-92EA-4920-B035-C783C13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524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ED0"/>
                </a:solidFill>
              </a:defRPr>
            </a:pPr>
            <a:r>
              <a:rPr sz="1050" b="0">
                <a:solidFill>
                  <a:srgbClr val="C7DED0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47707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26864-FDFC-4763-8801-7D2554E7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B8296-1EDA-4982-9550-70F3EEE5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10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EA20B-0D33-4AA3-A1C7-1A7B2D5E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52033-0A55-4563-BF0D-2B95F53E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Where are we going?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94B41-0103-4D7A-8770-6F5B1EA5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D63"/>
                </a:solidFill>
              </a:defRPr>
            </a:pPr>
            <a:r>
              <a:rPr sz="1650" b="0">
                <a:solidFill>
                  <a:srgbClr val="5D6D63"/>
                </a:solidFill>
              </a:rPr>
              <a:t>Three ideas build one practical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0010D-CF73-4BA8-AD55-BD6F2434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50D04-F98B-4E83-A4BB-6BE2BB60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0EB66-124D-4922-B771-F6B612CB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425A2-DFC4-469F-AE66-3063BD93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536D9-468B-48C0-92CC-04CBF576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Testing against criteria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B9213-6FE9-42D3-98F4-882C746A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B854B-3164-4D72-BD2C-A54C0397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0F0A3-60E9-4A5B-A110-44A3E287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Evidence, sources and bibliography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9202D-DD4F-4AF3-BC6C-D28C70B6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072C8-2B30-48ED-B889-B6BB9DB5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F6319-4B0B-4689-B6AB-F3435758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Reflection, improvement and communication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8F4C5-0C5E-49D0-B352-5B6FF979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09F32-29ED-4796-AF1F-4E3518B5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RETRIEVAL WARM-UP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D7D5E-7DDD-4889-A418-F3C0B77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572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do you already know—and which idea have you seen in a kitchen, food choice or design task?</a:t>
            </a:r>
          </a:p>
        </p:txBody>
      </p:sp>
    </p:spTree>
    <p:extLst>
      <p:ext uri="{BB962C8B-B14F-4D97-AF65-F5344CB8AC3E}">
        <p14:creationId xmlns:p14="http://schemas.microsoft.com/office/powerpoint/2010/main" val="1580005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7DA34-42F2-494A-A19C-C2A68F0C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0AB7F-CD20-48E7-BBE1-EC49730D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10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4F996-65D1-4A2A-9F55-D1BDE2F6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B5821-A457-4334-99BF-B8688F27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93E"/>
                </a:solidFill>
              </a:defRPr>
            </a:pPr>
            <a:r>
              <a:rPr sz="1200" b="1">
                <a:solidFill>
                  <a:srgbClr val="C9493E"/>
                </a:solidFill>
              </a:rPr>
              <a:t>10.1 · TESTING AGAINST CRITERIA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375E0-5E1A-4FA3-9572-CF9F26D9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Testing against criteria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0C972-3D89-4424-90A9-4F1A7FBD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Teach students to evaluate a food outcome by comparing relevant evidence with stated criteria and making a reasoned judgement about success, partial success and…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3CC73-F48C-487B-AA42-A4D0BB34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17369-703C-4901-A075-8B783C9C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Evaluation compares evidence with stated criteria rather than simply describing the food.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4B8C3-C43B-45A7-8681-4F6DD321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1554E-232F-4641-ABD9-51FDB429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Relevant evidence can come from observations, measurements, authorised user feedback and production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B3E6E-B132-49CC-9789-60707108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A9AF9-4318-4717-9300-5325BF73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A6680-16FB-4A8E-9E40-E282C74E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After your next Food for Purpose or Party Task production, place your three practice criteria beside your observations, measurements, authorised user feedback and production records.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71F71-D3FF-4ECA-B2C7-94DA2287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033B6-2955-492D-95D7-025DE3D6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0037F-CEF2-480D-A7E9-32BB620F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F09F0-5BB1-43B0-A751-8349CE89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C4228-7C21-42CB-8BC8-25AA8511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526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Match evidence to each criterion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0C2AC-CBE4-44C2-9105-61EC2400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FB7F19-E5CB-486C-849C-F1F65F56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D490E-EA2D-46D6-8113-0ED96B23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Make a reasoned judgement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345DA-322E-477C-885B-C0877A7B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2BABC-6570-4E35-8293-FE79B987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2CF42-046C-41E5-8F07-82BB2587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Recognise trade-offs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8426A1-83CF-46DD-817B-36CDEE3F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991D48-86D6-4577-B0E2-0FD9E4F7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Evaluation means describing what the finished food looks and tastes like.</a:t>
            </a:r>
          </a:p>
        </p:txBody>
      </p:sp>
    </p:spTree>
    <p:extLst>
      <p:ext uri="{BB962C8B-B14F-4D97-AF65-F5344CB8AC3E}">
        <p14:creationId xmlns:p14="http://schemas.microsoft.com/office/powerpoint/2010/main" val="134568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17224-E73F-4BF8-8CEA-4E8C1EB5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7FDAA-88DA-45E5-B6C1-C9FF3A88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10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94BB3-B89F-4461-8FC9-76A211E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E1018-5653-4B6E-A98C-E3870292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10.2 · EVIDENCE, SOURCES AND BIBLIOGRAPHY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2ADF7-0A56-4F09-BBA1-BFA508ED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Evidence, sources and bibliography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B5C32-2976-4350-977F-81723C5B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Teach students to select relevant evidence, use credible sources responsibly, acknowledge borrowed ideas and keep clear source records for a simple bibliography.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37C48-B2C2-4020-B3B2-CE9502DB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6DAC1-1991-4F53-9C29-98815325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Primary evidence is collected directly by you, while secondary evidence comes from existing sources.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F2A83-C53D-4597-81FC-C443D59B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D882F-F81E-40DD-93F4-7D7C7ECE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Sources should be credible enough to trust and relevant to the design or production point being explained.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268FC-EFA3-4823-B776-44E7C964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F79DD-F5E8-47A6-B3B4-0C1BE3D7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AE35"/>
                </a:solidFill>
              </a:defRPr>
            </a:pPr>
            <a:r>
              <a:rPr sz="1125" b="1">
                <a:solidFill>
                  <a:srgbClr val="E6AE35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A93D7-6705-41BD-B2A3-27D3123D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During your Food for Purpose or Party Task, keep a simple source record beside your research notes.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8B1F8-E788-4EF0-976E-74383BFF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3A213-F79E-4036-A07E-51F0CCE4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95195-CB73-486B-8F84-16287518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Choose useful evidence and sources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87E8E-D738-4375-AC0C-EE7FAA08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17B27-5A2C-4065-A061-FCAC05D2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2D300-5067-4D7B-82BC-E0103E9C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Paraphrase, quote briefly and give credit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C8A20-4BCB-4F61-BF06-44B8F63D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B59DA-5096-404D-B3FE-C319392D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66E1A-F663-46AD-AA29-CF85F28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Record details as you research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F03B6-4903-4818-853D-BACAD62A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1181A-BC3E-4E08-9AB6-839C81F0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If information is on a website, it is automatically reliable and suitable to…</a:t>
            </a:r>
          </a:p>
        </p:txBody>
      </p:sp>
    </p:spTree>
    <p:extLst>
      <p:ext uri="{BB962C8B-B14F-4D97-AF65-F5344CB8AC3E}">
        <p14:creationId xmlns:p14="http://schemas.microsoft.com/office/powerpoint/2010/main" val="675535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626F2-270E-4E27-B810-0051F309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C2FEF-852E-4781-92CE-51CE219F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10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72D57-E8F7-497E-9D75-98BB447A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34118-2131-4C89-94C9-8C6B4332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395E"/>
                </a:solidFill>
              </a:defRPr>
            </a:pPr>
            <a:r>
              <a:rPr sz="1200" b="1">
                <a:solidFill>
                  <a:srgbClr val="8D395E"/>
                </a:solidFill>
              </a:rPr>
              <a:t>10.3 · REFLECTION, IMPROVEMENT AND COMMUNICATION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26FA8-9A9B-4838-9849-7B1D2472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936"/>
                </a:solidFill>
              </a:defRPr>
            </a:pPr>
            <a:r>
              <a:rPr sz="2400" b="1">
                <a:solidFill>
                  <a:srgbClr val="174936"/>
                </a:solidFill>
              </a:rPr>
              <a:t>Reflection, improvement and communication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BE6F7-0877-47A7-B63B-E005BDFC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53125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D63"/>
                </a:solidFill>
              </a:defRPr>
            </a:pPr>
            <a:r>
              <a:rPr sz="1425" b="1">
                <a:solidFill>
                  <a:srgbClr val="5D6D63"/>
                </a:solidFill>
              </a:rPr>
              <a:t>Teach students to reflect on practical food work using evidence, make justified judgements, identify specific improvements and communicate clearly for an intended audience.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2C821-9133-4B41-8F01-02547B3D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907CC-840B-49E5-8A86-D5DB8FA9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Strong reflection moves from what happened to evidence, explanation, judgement and a specific next step.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44771-516C-4863-ADB1-610E5B01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A31BC-8D80-4084-811B-57AA5D52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Evidence makes a reflection more convincing because it supports claims about what worked or needs improvement.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039FC-A139-4FD3-87E0-C442D434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43CF5-8911-4683-B09A-BBDA2227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395E"/>
                </a:solidFill>
              </a:defRPr>
            </a:pPr>
            <a:r>
              <a:rPr sz="1125" b="1">
                <a:solidFill>
                  <a:srgbClr val="8D395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D920A-A34B-4726-A2BF-2F085268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After your next Food for Purpose or Party Task practical, choose one aspect that worked and one that could improve.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F958B-1BEF-4836-88CB-A9526C32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0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6BDD2-F8E2-4E0B-A8C6-AA5EFFDC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F2D7F-EA2A-4DA1-8FFE-8AD4F9A4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2410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8D39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26B5A-C1A0-45AD-A44F-664C585A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Reflect with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228B1-699A-41B8-BE74-431C1C0F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C850D-754E-4445-8911-5EC4233B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Turn reflection into a specific improvement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076734-CCCC-48F9-A10F-18B9D06A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45224-3E46-412F-8EBD-FA878BD2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Communicate for your audience and use…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79B36-4C52-45DA-B124-D6EE32DD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AA08CA-9E46-4921-82A9-81219069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Reflection means writing a timeline of everything that happened during the practical lesson.</a:t>
            </a:r>
          </a:p>
        </p:txBody>
      </p:sp>
    </p:spTree>
    <p:extLst>
      <p:ext uri="{BB962C8B-B14F-4D97-AF65-F5344CB8AC3E}">
        <p14:creationId xmlns:p14="http://schemas.microsoft.com/office/powerpoint/2010/main" val="256428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4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48BC1-49ED-4145-A478-75CC9C65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75980-2071-4381-B5E7-F44F5CF1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10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F1F39-76AF-432D-99CF-DBA3255C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A4F14-CCE5-4DAE-B550-1B5A5831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4DAEE-22AF-43DC-8E75-7FEB397E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572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7DD"/>
                </a:solidFill>
              </a:defRPr>
            </a:pPr>
            <a:r>
              <a:rPr sz="1575" b="0">
                <a:solidFill>
                  <a:srgbClr val="D8E7DD"/>
                </a:solidFill>
              </a:rPr>
              <a:t>Answer silently first. Then compare reasoning—not just answers.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BF8E7-C9F2-4DA3-95CC-18F65054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9A1E5-09DF-48EA-B503-1C747FE0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“Evaluation means describing what the finished food looks and tastes like.”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D1C03-2F11-47C7-B474-363EFF2A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00CB9-CF73-4B15-8DE8-65155049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“If information is on a website, it is automatically reliable and suitable to use.”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3CE08-9E22-4B6A-956E-AA774E38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9A17C-DB29-4FAF-8ACB-78D45CEA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“Reflection means writing a timeline of everything that happened during the practical lesson.”</a:t>
            </a:r>
          </a:p>
        </p:txBody>
      </p:sp>
    </p:spTree>
    <p:extLst>
      <p:ext uri="{BB962C8B-B14F-4D97-AF65-F5344CB8AC3E}">
        <p14:creationId xmlns:p14="http://schemas.microsoft.com/office/powerpoint/2010/main" val="19891298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416BD-79DF-4C3F-88DE-8C5AFEB6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4A242-63CE-4128-B1C9-DF8C056C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10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CAA92-5853-4652-A9FF-CCE72454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AB663-5667-482D-BD0D-0F6F1B82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Read → Select → Explain →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89A5-C175-4962-9E1C-6B9B2323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9A684-88E6-471D-B211-90120FA4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809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THE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63BE6-7E26-4AB9-880E-B88234F0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Identify one practical result, the evidence that supports your view of it, why that evidence matters and the specific action you would take next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419EA-126C-44C7-807A-069DF469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A253C-E28D-4918-984E-F758DF76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 ·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98832-835F-4447-BCFB-E4D46EE0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Underline the task word and the exact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89F0E-0E36-4D92-A10B-A260D5C8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6D209-423C-4C76-8DF9-4BCA454E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2 · 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6954E-66C1-461B-A45C-61381E4B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Choose the theory and evidence that answer this question.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85FE5-7D09-43A5-B47A-D9BD707F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1E05A-8D3D-4139-AE1E-AE16CFE2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3 · 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73E47-07BE-4D4B-9D4A-0E96E4B1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Connect the idea with because, so or therefore.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0F146-1B72-41A6-B255-998B32A5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3EE17-BA91-4611-B0C3-EC3124D1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 ·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F678F-C902-4F3F-8304-9A5616AB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Confirm every part is answered and every claim is specific.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9F89D-1998-414F-BCB2-9DD60168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525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493E"/>
                </a:solidFill>
              </a:defRPr>
            </a:pPr>
            <a:r>
              <a:rPr sz="1425" b="1">
                <a:solidFill>
                  <a:srgbClr val="C9493E"/>
                </a:solidFill>
              </a:rPr>
              <a:t>Save the finished response as formative learning evidence on the module page.</a:t>
            </a:r>
          </a:p>
        </p:txBody>
      </p:sp>
    </p:spTree>
    <p:extLst>
      <p:ext uri="{BB962C8B-B14F-4D97-AF65-F5344CB8AC3E}">
        <p14:creationId xmlns:p14="http://schemas.microsoft.com/office/powerpoint/2010/main" val="1895201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949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FD795-B2C9-484D-AAF0-68D00D7C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E4E71-16A4-4685-93B7-9C22AA29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10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E9562-07A5-419F-96E5-DDA003F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C4A97-6E45-4809-B485-A189A775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810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54E82-C555-4622-ABED-049B906E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1. One idea I can now explain is…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BD520-9F6E-473C-B65B-4D783AB4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2. One practical or design decision this changes is…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FFB2B-E853-4CA4-9122-705949CB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3. One question I still need answered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2EF84-BF19-4E5F-B0BA-B7611BD8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509B4-3B37-48C1-A801-1D32A006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0325"/>
            <a:ext cx="9525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SAVE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YOUR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F3725-FB74-4F66-864C-443374F0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525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Next: use your evidence to complete the Party Task reflection.</a:t>
            </a:r>
          </a:p>
        </p:txBody>
      </p:sp>
    </p:spTree>
    <p:extLst>
      <p:ext uri="{BB962C8B-B14F-4D97-AF65-F5344CB8AC3E}">
        <p14:creationId xmlns:p14="http://schemas.microsoft.com/office/powerpoint/2010/main" val="970694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2026-08-25T03:54:08.9370000Z</dcterms:created>
  <dcterms:modified xsi:type="dcterms:W3CDTF">2026-08-25T03:54:08.9370000Z</dcterms:modified>
</coreProperties>
</file>