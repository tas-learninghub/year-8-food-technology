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8548ea7af34ed0" /><Relationship Type="http://schemas.openxmlformats.org/officeDocument/2006/relationships/extended-properties" Target="/docProps/app.xml" Id="R174d53b83e494ecb" /><Relationship Type="http://schemas.openxmlformats.org/officeDocument/2006/relationships/officeDocument" Target="/ppt/presentation.xml" Id="Rdfd00c58f3fa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025e4037bf48c9"/>
  </p:sldMasterIdLst>
  <p:notesMasterIdLst>
    <p:notesMasterId xmlns:r="http://schemas.openxmlformats.org/officeDocument/2006/relationships" r:id="R206d575f4c9d4aa1"/>
  </p:notesMasterIdLst>
  <p:sldIdLst>
    <p:sldId xmlns:r="http://schemas.openxmlformats.org/officeDocument/2006/relationships" id="256" r:id="R97bf689995614638"/>
    <p:sldId xmlns:r="http://schemas.openxmlformats.org/officeDocument/2006/relationships" id="257" r:id="Rd08091d96f204fde"/>
    <p:sldId xmlns:r="http://schemas.openxmlformats.org/officeDocument/2006/relationships" id="258" r:id="R2e67d4d549fb4761"/>
    <p:sldId xmlns:r="http://schemas.openxmlformats.org/officeDocument/2006/relationships" id="259" r:id="Ra3cfe3dd108041fc"/>
    <p:sldId xmlns:r="http://schemas.openxmlformats.org/officeDocument/2006/relationships" id="260" r:id="R87a527e7b012480e"/>
    <p:sldId xmlns:r="http://schemas.openxmlformats.org/officeDocument/2006/relationships" id="261" r:id="R4d3034aabb514321"/>
    <p:sldId xmlns:r="http://schemas.openxmlformats.org/officeDocument/2006/relationships" id="262" r:id="R30247de03d4c472e"/>
    <p:sldId xmlns:r="http://schemas.openxmlformats.org/officeDocument/2006/relationships" id="263" r:id="Rd2108b50a1e244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b0c2651d54059" /><Relationship Type="http://schemas.openxmlformats.org/officeDocument/2006/relationships/slideMaster" Target="/ppt/slideMasters/slideMaster1.xml" Id="R17025e4037bf48c9" /><Relationship Type="http://schemas.openxmlformats.org/officeDocument/2006/relationships/notesMaster" Target="/ppt/notesMasters/notesMaster1.xml" Id="R206d575f4c9d4aa1" /><Relationship Type="http://schemas.openxmlformats.org/officeDocument/2006/relationships/presProps" Target="/ppt/presProps.xml" Id="Rfe10ea3b2a974c14" /><Relationship Type="http://schemas.openxmlformats.org/officeDocument/2006/relationships/tableStyles" Target="/ppt/tableStyles.xml" Id="Rbff660a75d3b4654" /><Relationship Type="http://schemas.openxmlformats.org/officeDocument/2006/relationships/slide" Target="/ppt/slides/slide1.xml" Id="R97bf689995614638" /><Relationship Type="http://schemas.openxmlformats.org/officeDocument/2006/relationships/slide" Target="/ppt/slides/slide2.xml" Id="Rd08091d96f204fde" /><Relationship Type="http://schemas.openxmlformats.org/officeDocument/2006/relationships/slide" Target="/ppt/slides/slide3.xml" Id="R2e67d4d549fb4761" /><Relationship Type="http://schemas.openxmlformats.org/officeDocument/2006/relationships/slide" Target="/ppt/slides/slide4.xml" Id="Ra3cfe3dd108041fc" /><Relationship Type="http://schemas.openxmlformats.org/officeDocument/2006/relationships/slide" Target="/ppt/slides/slide5.xml" Id="R87a527e7b012480e" /><Relationship Type="http://schemas.openxmlformats.org/officeDocument/2006/relationships/slide" Target="/ppt/slides/slide6.xml" Id="R4d3034aabb514321" /><Relationship Type="http://schemas.openxmlformats.org/officeDocument/2006/relationships/slide" Target="/ppt/slides/slide7.xml" Id="R30247de03d4c472e" /><Relationship Type="http://schemas.openxmlformats.org/officeDocument/2006/relationships/slide" Target="/ppt/slides/slide8.xml" Id="Rd2108b50a1e244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5501dfe5ca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7087bea0b444c2" /><Relationship Type="http://schemas.openxmlformats.org/officeDocument/2006/relationships/notesMaster" Target="/ppt/notesMasters/notesMaster1.xml" Id="R42841eefad2844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6483f6664340a8" /><Relationship Type="http://schemas.openxmlformats.org/officeDocument/2006/relationships/notesMaster" Target="/ppt/notesMasters/notesMaster1.xml" Id="R364ff599fbc84c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d220a899343bf" /><Relationship Type="http://schemas.openxmlformats.org/officeDocument/2006/relationships/notesMaster" Target="/ppt/notesMasters/notesMaster1.xml" Id="Rcc2c6295a7ab49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0bc0eb72b24607" /><Relationship Type="http://schemas.openxmlformats.org/officeDocument/2006/relationships/notesMaster" Target="/ppt/notesMasters/notesMaster1.xml" Id="Re7262924f577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3c07d765043dc" /><Relationship Type="http://schemas.openxmlformats.org/officeDocument/2006/relationships/notesMaster" Target="/ppt/notesMasters/notesMaster1.xml" Id="Rfafbd6e160554c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a8b7a75a0c4dc1" /><Relationship Type="http://schemas.openxmlformats.org/officeDocument/2006/relationships/notesMaster" Target="/ppt/notesMasters/notesMaster1.xml" Id="Rfb73bc7f8ffa49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d5e83ab4b84852" /><Relationship Type="http://schemas.openxmlformats.org/officeDocument/2006/relationships/notesMaster" Target="/ppt/notesMasters/notesMaster1.xml" Id="Rba51e378605449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275395460c49e2" /><Relationship Type="http://schemas.openxmlformats.org/officeDocument/2006/relationships/notesMaster" Target="/ppt/notesMasters/notesMaster1.xml" Id="Rb15a9dbb555d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Control contamination, temperature and allergen risks.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assessment-workbook
- official-food-safety-guidance
- official-allergen-guidance
- assets/photos/module-03-safe-refrigeration.png · SHA-256 7beac2cf762bc63f624e0a1dffe372f9edc18a8ae314d822df2e78c2ebad131d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Cross-contamination pathways; Temperature control and storage; Allergens and safe food choices.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assessment-workbook
- official-food-safety-guidance
- official-allergen-guidance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Follow the pathway; Notice the links between tasks; Break the chain of contamination.</a:t>
            </a:r>
          </a:p>
          <a:p xmlns:a="http://schemas.openxmlformats.org/drawingml/2006/main">
            <a:r>
              <a:t>Use the worked example: From raw chicken to salad. Cross-contamination can travel through several connected objects, so trace what has been touched and break the pathway before moving to the next food task.</a:t>
            </a:r>
          </a:p>
          <a:p xmlns:a="http://schemas.openxmlformats.org/drawingml/2006/main">
            <a:r>
              <a:t>Likely misconception: Cross-contamination only happens when two foods touch each other. Correction: It can also happen indirectly through hands, boards, knives, cloths, handles, storage areas and other objects.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assessment-workbook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Control time and temperature; Store food safely; Use the two-hour/four-hour rule.</a:t>
            </a:r>
          </a:p>
          <a:p xmlns:a="http://schemas.openxmlformats.org/drawingml/2006/main">
            <a:r>
              <a:t>Use the worked example: Should the party food be served or stored?. A safe decision needs evidence about both time and temperature; appearance alone cannot tell you how long food has been out of control.</a:t>
            </a:r>
          </a:p>
          <a:p xmlns:a="http://schemas.openxmlformats.org/drawingml/2006/main">
            <a:r>
              <a:t>Likely misconception: Putting food back in the fridge resets its time on the bench to zero. Correction: Time in the temperature danger zone is cumulative, so earlier periods must still be included in the total.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official-food-safety-guidance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Understand allergy and intolerance; Prevent allergen cross-contact; Check labels and communicate concerns.</a:t>
            </a:r>
          </a:p>
          <a:p xmlns:a="http://schemas.openxmlformats.org/drawingml/2006/main">
            <a:r>
              <a:t>Use the worked example: Planning a safe party choice. A safe food choice comes from confirmed information, careful label checking and controlled preparation, not from assumptions.</a:t>
            </a:r>
          </a:p>
          <a:p xmlns:a="http://schemas.openxmlformats.org/drawingml/2006/main">
            <a:r>
              <a:t>Likely misconception: If I remove the ingredient someone cannot have, the rest of the food must be safe. Correction: Removing one visible ingredient does not prove the food is safe because other ingredients or cross-contact may still matter.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official-allergen-guidance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Cross-contamination pathways: accept an answer only when it explains why. It can also happen indirectly through hands, boards, knives, cloths, handles, storage areas and other objects.</a:t>
            </a:r>
          </a:p>
          <a:p xmlns:a="http://schemas.openxmlformats.org/drawingml/2006/main">
            <a:r>
              <a:t>Question on Temperature control and storage: accept an answer only when it explains why. Time in the temperature danger zone is cumulative, so earlier periods must still be included in the total.</a:t>
            </a:r>
          </a:p>
          <a:p xmlns:a="http://schemas.openxmlformats.org/drawingml/2006/main">
            <a:r>
              <a:t>Question on Allergens and safe food choices: accept an answer only when it explains why. Removing one visible ingredient does not prove the food is safe because other ingredients or cross-contact may still matter.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assessment-workbook
- official-food-safety-guidance
- official-allergen-guidance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Cross-contamination pathways; Temperature control and storage; Allergens and safe food choices.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assessment-workbook
- official-food-safety-guidance
- official-allergen-guidance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Nutrients and Food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assessment-workbook
- official-food-safety-guidance
- official-allergen-guidance
- https://www.foodauthority.nsw.gov.au/consumer/food-at-home/cleaning-and-hygiene
- https://www.foodstandards.gov.au/business/charities/temperature-control
- https://www.foodstandards.gov.au/business/food-safety/2-hour-4-hour-rule
- https://www.foodstandards.gov.au/consumer/labelling/allergen-labelling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aa237111146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946309818a4083" /><Relationship Type="http://schemas.openxmlformats.org/officeDocument/2006/relationships/slideLayout" Target="/ppt/slideLayouts/slideLayout1.xml" Id="R7df401d70e24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f401d70e24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535fd999741c6" /><Relationship Type="http://schemas.openxmlformats.org/officeDocument/2006/relationships/image" Target="/ppt/media/image.png" Id="R73d192caaab84702" /><Relationship Type="http://schemas.openxmlformats.org/officeDocument/2006/relationships/notesSlide" Target="/ppt/notesSlides/notesSlide1.xml" Id="R1d6305c39763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6ef9e76354dc6" /><Relationship Type="http://schemas.openxmlformats.org/officeDocument/2006/relationships/notesSlide" Target="/ppt/notesSlides/notesSlide2.xml" Id="Ra3ba47df066f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13aa98f6c447e" /><Relationship Type="http://schemas.openxmlformats.org/officeDocument/2006/relationships/notesSlide" Target="/ppt/notesSlides/notesSlide3.xml" Id="R4b2a3625d2f544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0a1b31534711" /><Relationship Type="http://schemas.openxmlformats.org/officeDocument/2006/relationships/notesSlide" Target="/ppt/notesSlides/notesSlide4.xml" Id="R8ff24bf035ce46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3addbf4904229" /><Relationship Type="http://schemas.openxmlformats.org/officeDocument/2006/relationships/notesSlide" Target="/ppt/notesSlides/notesSlide5.xml" Id="Ra82b9653561943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1be9aa4914ff6" /><Relationship Type="http://schemas.openxmlformats.org/officeDocument/2006/relationships/notesSlide" Target="/ppt/notesSlides/notesSlide6.xml" Id="R0023d113be264e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4b0e0e185478d" /><Relationship Type="http://schemas.openxmlformats.org/officeDocument/2006/relationships/notesSlide" Target="/ppt/notesSlides/notesSlide7.xml" Id="R3144adeaf2c640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17e82a9654809" /><Relationship Type="http://schemas.openxmlformats.org/officeDocument/2006/relationships/notesSlide" Target="/ppt/notesSlides/notesSlide8.xml" Id="R5d80d7c95ccf45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DAA67-1AEB-4DB8-A66D-2868F6E7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192caaab84702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0EBD5-8A1A-4A83-A7E6-F174033F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BF251-750D-4E8C-89CB-3EF423E5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0A7DC-4AC0-49E2-94C7-8AF9A73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Food Safety in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EC9FC-513E-47F6-814D-1347A7D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Control contamination, temperature and allergen risks.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33F71-C9FC-46B0-88CB-A4DC57B3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04585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11CEC-BFB6-4F39-8F82-7ED32B3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E954C-1181-4892-81E6-5B5C03F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9831-1342-4960-AD80-BCE7C19D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F9F25-7C86-4826-98A6-4C97F341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ED9DF-4BEC-48BC-8678-D379DA6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3E46D-2409-4D53-8ACD-605F63A7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8196B-DA31-4345-A623-9DC4E81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064EE-2405-475A-890C-9000D458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198C7-5479-425D-B957-6DC9B99B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1C4BB-2B7A-4ECC-B661-9B115A92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Cross-contamination pathways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CA0E6-D69F-42AD-8A78-C320722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3717E-6085-4554-B564-7673D19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1D829-1F0A-4B9E-803E-15D0E6B0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Temperature control and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007AB-BE6D-4C69-B534-00536B1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5239A-9ED8-4859-85DD-B78C5CA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DC7A5-7514-426D-B134-ABF6916A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Allergens and safe food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50274-5D64-452F-8430-C2F3E94A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E5EB0-E3F1-499D-84A7-7054609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47320-0CDF-44F8-82B7-BD20D8F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726695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83C55-8C2F-48BE-B532-BCC1D4D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AE840-F7A0-482C-9A15-C41D196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91D6D-73EE-4083-A623-275AD0F0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FC15A-6156-40B8-B4B8-9B654E8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3.1 · CROSS-CONTAMINATION PATHWAYS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5E695-E96A-4B44-A1C1-EF204CD8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Cross-contamination pathways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D64B1-19C3-4102-8BEC-0D67B3B3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students’ ability to recognise cross-contamination pathways and use practical barriers to interrupt them during food preparation.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0FC30-0570-4D01-8037-62083603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46DB8-481C-4761-8087-93B545FA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Cross-contamination is the movement of harmful microorganisms or allergens from one food, person, surface or object to another.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EC4AB-3D36-4FE2-8868-A3E5631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AEE73-780F-4CD6-9C44-3902B248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Pathways may be direct, such as food-to-food contact, or indirect through hands, boards, knives, cloths, handles or storage.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5254B-001A-42B3-8F83-360B76EB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6F93-7D77-4C6B-B095-ACC6893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BB6C1-F8DC-47D4-9A0B-C70E8075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/ Party Task, plan the order of preparation so raw and ready-to-eat foods stay separated.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13254-6915-448C-B4EA-84ABACC1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0A353-C8F6-4CD9-AF3C-2ADB8293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6071D-EF75-4CF2-8907-1D837287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E7E97-C524-4811-BEE2-B24EE28F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363CE-086B-4B78-98B1-8AA48A9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Follow the pathway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7DE2D-7996-4AED-9FB9-1AC34A4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C13A4-5C2B-49D3-9131-F9272299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FAA7B-B9AB-4704-8ADE-AB20D0A7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Notice the links between 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F4A4B-D326-4690-B65E-670C5A6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5A9D3-F3DF-4326-BDD6-C930E90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F966F-E3EA-4172-B2A2-6B892926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Break the chain of contamination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7AD52-3A85-44A5-A173-C9A4FD8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3BC0F-25B4-411D-9F79-A343B3E8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Cross-contamination only happens when two foods touch each other.</a:t>
            </a:r>
          </a:p>
        </p:txBody>
      </p:sp>
    </p:spTree>
    <p:extLst>
      <p:ext uri="{BB962C8B-B14F-4D97-AF65-F5344CB8AC3E}">
        <p14:creationId xmlns:p14="http://schemas.microsoft.com/office/powerpoint/2010/main" val="697575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8B98B-D6D0-45A0-BC09-B6DD20B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6116B-81D0-4E22-965F-635AD99E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104B8-0939-461F-A80F-C513463A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C08AB-5902-4113-9914-6EDDB1E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3.2 · TEMPERATURE CONTROL AND 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F16FE-9703-49E3-A82B-983A7270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Temperature control and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95EF8-DFC1-463C-BDCF-DDE01A1C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students’ ability to use time, temperature and storage information to make safe decisions about prepared food.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E210A-101C-498E-B518-2F2F6478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04FE2-B83A-4020-9BCA-1FABF571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Potentially hazardous food should generally be kept at 5°C or colder or 60°C or hotter, with time in the temperature danger zone…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6BEEA-AD48-4A9E-9039-E33996C1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2A418-AB43-4B08-B942-826DAF7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The 5°C to 60°C range is the temperature danger zone, where harmful microorganisms can grow.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54880-9653-4703-870A-BA33D854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3848C-999E-4447-92E3-FA1FC3FA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06F57-35A9-4254-8F0A-BD0868B4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/ Party Task, plan so cold foods stay cold, hot foods stay hot and time in the 5°C to 60°C danger…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4E9A4-E4E8-4D2C-84C5-9F9B77A3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FF27A-535B-4B8E-934B-2A5FE7B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59888-831A-403B-93DD-9ED81C29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Control time and temperature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2073E-C98E-48C0-B727-6190700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A96EF-DCA1-4BD3-AB6D-78B4C46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1D316-8B73-4DCB-A494-F1B4CF0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Store food safely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6C1B-987D-4C73-AD26-A82E6A8B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8067D-4247-407F-84BA-4B71AAA8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018EC-29A5-4861-A69C-D3E28DAC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Use the two-hour/four-hour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1AED9-419A-480A-B057-EC940350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E7285-F0D8-44B1-941F-43F2B38F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Putting food back in the fridge resets its time on the bench to…</a:t>
            </a:r>
          </a:p>
        </p:txBody>
      </p:sp>
    </p:spTree>
    <p:extLst>
      <p:ext uri="{BB962C8B-B14F-4D97-AF65-F5344CB8AC3E}">
        <p14:creationId xmlns:p14="http://schemas.microsoft.com/office/powerpoint/2010/main" val="1319392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4D43E-88D8-43D2-BB32-95E852F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97DFA-4F61-40ED-A8DD-D44A97D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D5CC3-D803-4387-9C0D-8A88184B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259DC-127C-485D-824A-D762EA3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3.3 · ALLERGENS AND SAFE FOOD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37901-8946-42F6-9D97-1328217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Allergens and safe food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3827A-155E-4A85-B737-7865EB1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students’ ability to recognise allergen risks, check food information carefully and make safe choices under teacher and school direction.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95C59-BECD-4743-96D3-ED2D028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37A72-641C-4E42-81A6-76B318A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Food allergy and food intolerance are different reactions and should not be diagnosed or interpreted by students.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8C88-2A45-49A7-9F4E-16E3B583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F2381-1F50-4FB3-8AA0-E0038935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Allergen cross-contact can occur through food, hands, utensils, surfaces and other objects.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09AA8-6A18-4F0F-B6A9-A502B1B5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CB646-337F-40D9-8BCA-6560AE4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FDA5E-0A5B-4376-BDE5-2D9E1025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the Food for Purpose / Party Task, confirm dietary information through the teacher before choosing or preparing a special menu item.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7290F-6518-4758-B7D8-5CBB46F4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5F9A4-30A0-4802-AA88-E7901F6B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936C6-FE5B-48BE-AE22-FC6C6682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2B0BB-3018-49E3-B1FC-1BF01DD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Understand allergy and intolerance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BB86A-F476-444E-AA4F-C0C50CB8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7C239-EFED-4C97-AA5F-DED062F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Prevent allergen cross-contact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E6C34-B0EE-4B1C-8019-39563335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1B0E4-F1CC-4B59-B35E-7C1A06D4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Check labels and communicate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4FA75-779B-4879-85F5-02D7B37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A10EE-B990-402A-94C5-A343F8F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I remove the ingredient someone cannot have, the rest of the food…</a:t>
            </a:r>
          </a:p>
        </p:txBody>
      </p:sp>
    </p:spTree>
    <p:extLst>
      <p:ext uri="{BB962C8B-B14F-4D97-AF65-F5344CB8AC3E}">
        <p14:creationId xmlns:p14="http://schemas.microsoft.com/office/powerpoint/2010/main" val="736298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4F862-563A-4E2F-AC4E-B762FFD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3886D-917B-44A3-B8B7-96B159F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7F4F2-11D1-4C21-841F-80293108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0475-398C-4EF5-AB8C-9FB2DACD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4FBC9-7F9A-4A82-B1D5-5166F029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1A5A0-EC2A-40BD-A7F3-8FADB2B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F82D-61D7-4294-A814-BE9D5307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“Cross-contamination only happens when two foods touch each other.”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5F8BB-0A2C-4FEF-942B-4BE4514D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45DD0-C1C3-4AA2-B32D-52CD83D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“Putting food back in the fridge resets its time on the bench to zero.”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CA3FF-26EA-402C-AC7D-06596F82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68F4D-8D59-4DFE-83A3-656037A1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I remove the ingredient someone cannot have, the rest of the food must be safe.”</a:t>
            </a:r>
          </a:p>
        </p:txBody>
      </p:sp>
    </p:spTree>
    <p:extLst>
      <p:ext uri="{BB962C8B-B14F-4D97-AF65-F5344CB8AC3E}">
        <p14:creationId xmlns:p14="http://schemas.microsoft.com/office/powerpoint/2010/main" val="1958994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C2478-C45C-47C7-BC6D-52F913A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940BF-A7F6-4504-B7A1-578910D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9620D-D74D-4077-83E5-40193B2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12813-EE69-460F-B363-FF90AE0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27D71-7486-41C6-A461-2ABE778E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E8EED-032D-4E63-9A62-8452105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6A861-F22D-44DC-BEED-D7E1423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Students can distinguish allergy from intolerance in non-medical terms, explain allergen cross-contact and justify why labels, controlled preparation and teacher communication are essential.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0731B-DF20-4A90-A827-D75DADBE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013AA-ADBA-4F00-8FC8-B8E615C6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55AA6-38DE-4DB0-8671-CB257A9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7CEB5-0F4F-46E6-8C5D-D3C2F3F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93D60-EBFF-4032-AE04-05903B7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1D71E-5D9A-4750-931E-3BCCD4B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7227F-A24D-49F1-AA4A-6E89FE84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7F68F-2DCD-4DC1-9C8A-957BD5B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E15F5-A75E-4DD1-9CCD-D45E999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B0BED-1653-4014-A14F-4CA4B5A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D2B48-6AA9-45A5-9950-2C6169F8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31BFB-33C0-4A9A-8A73-6935665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CD435-9497-4CC9-8889-135D5EA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11033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A5289-F8A9-4759-8335-E8D3C48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0E32-D2CF-4F8D-988C-EC8D1547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03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64D8F-3F75-449F-8930-A747663D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4283D-5CCF-47AC-B940-2B25A2D7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B4697-0BE5-4E5D-A303-D9019710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77DDA-EAED-459F-A5CF-3252750B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281F8-7DEF-496E-B15F-352F8D4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80653-3BDA-4B6B-8AD4-8FF0152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810CC-5A8D-44B6-AB2C-E84CB7E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FF774-552B-4817-996F-3C545B1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4 · Nutrients and Food Choices</a:t>
            </a:r>
          </a:p>
        </p:txBody>
      </p:sp>
    </p:spTree>
    <p:extLst>
      <p:ext uri="{BB962C8B-B14F-4D97-AF65-F5344CB8AC3E}">
        <p14:creationId xmlns:p14="http://schemas.microsoft.com/office/powerpoint/2010/main" val="134394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2026-08-25T03:53:57.3530000Z</dcterms:created>
  <dcterms:modified xsi:type="dcterms:W3CDTF">2026-08-25T03:53:57.3530000Z</dcterms:modified>
</coreProperties>
</file>