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00dac90d2e4680" /><Relationship Type="http://schemas.openxmlformats.org/officeDocument/2006/relationships/extended-properties" Target="/docProps/app.xml" Id="R65311e27300d4dea" /><Relationship Type="http://schemas.openxmlformats.org/officeDocument/2006/relationships/officeDocument" Target="/ppt/presentation.xml" Id="R1f7f811d2a344c80" /></Relationships>
</file>

<file path=ppt/presentation.xml><?xml version="1.0" encoding="utf-8"?>
<p:presentation xmlns:p="http://schemas.openxmlformats.org/presentationml/2006/main">
  <p:sldMasterIdLst>
    <p:sldMasterId xmlns:r="http://schemas.openxmlformats.org/officeDocument/2006/relationships" id="2147483648" r:id="R6def655eda2946d5"/>
  </p:sldMasterIdLst>
  <p:notesMasterIdLst>
    <p:notesMasterId xmlns:r="http://schemas.openxmlformats.org/officeDocument/2006/relationships" r:id="R18d9b806134c4f3a"/>
  </p:notesMasterIdLst>
  <p:sldIdLst>
    <p:sldId xmlns:r="http://schemas.openxmlformats.org/officeDocument/2006/relationships" id="256" r:id="Rcb59a76bca074d84"/>
    <p:sldId xmlns:r="http://schemas.openxmlformats.org/officeDocument/2006/relationships" id="257" r:id="Rbd4863e7565a4768"/>
    <p:sldId xmlns:r="http://schemas.openxmlformats.org/officeDocument/2006/relationships" id="258" r:id="R207776fa459d4861"/>
    <p:sldId xmlns:r="http://schemas.openxmlformats.org/officeDocument/2006/relationships" id="259" r:id="R13de3ca8ea7845d7"/>
    <p:sldId xmlns:r="http://schemas.openxmlformats.org/officeDocument/2006/relationships" id="260" r:id="Rca1521201af94d04"/>
    <p:sldId xmlns:r="http://schemas.openxmlformats.org/officeDocument/2006/relationships" id="261" r:id="Rd67cb766f29c4b38"/>
    <p:sldId xmlns:r="http://schemas.openxmlformats.org/officeDocument/2006/relationships" id="262" r:id="Rd33459e76f7b4607"/>
    <p:sldId xmlns:r="http://schemas.openxmlformats.org/officeDocument/2006/relationships" id="263" r:id="R1d74a2f774c947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14d7d66edf42f0" /><Relationship Type="http://schemas.openxmlformats.org/officeDocument/2006/relationships/slideMaster" Target="/ppt/slideMasters/slideMaster1.xml" Id="R6def655eda2946d5" /><Relationship Type="http://schemas.openxmlformats.org/officeDocument/2006/relationships/notesMaster" Target="/ppt/notesMasters/notesMaster1.xml" Id="R18d9b806134c4f3a" /><Relationship Type="http://schemas.openxmlformats.org/officeDocument/2006/relationships/presProps" Target="/ppt/presProps.xml" Id="Reaf22eee0b7a40ba" /><Relationship Type="http://schemas.openxmlformats.org/officeDocument/2006/relationships/tableStyles" Target="/ppt/tableStyles.xml" Id="R2a4f23bfa220475c" /><Relationship Type="http://schemas.openxmlformats.org/officeDocument/2006/relationships/slide" Target="/ppt/slides/slide1.xml" Id="Rcb59a76bca074d84" /><Relationship Type="http://schemas.openxmlformats.org/officeDocument/2006/relationships/slide" Target="/ppt/slides/slide2.xml" Id="Rbd4863e7565a4768" /><Relationship Type="http://schemas.openxmlformats.org/officeDocument/2006/relationships/slide" Target="/ppt/slides/slide3.xml" Id="R207776fa459d4861" /><Relationship Type="http://schemas.openxmlformats.org/officeDocument/2006/relationships/slide" Target="/ppt/slides/slide4.xml" Id="R13de3ca8ea7845d7" /><Relationship Type="http://schemas.openxmlformats.org/officeDocument/2006/relationships/slide" Target="/ppt/slides/slide5.xml" Id="Rca1521201af94d04" /><Relationship Type="http://schemas.openxmlformats.org/officeDocument/2006/relationships/slide" Target="/ppt/slides/slide6.xml" Id="Rd67cb766f29c4b38" /><Relationship Type="http://schemas.openxmlformats.org/officeDocument/2006/relationships/slide" Target="/ppt/slides/slide7.xml" Id="Rd33459e76f7b4607" /><Relationship Type="http://schemas.openxmlformats.org/officeDocument/2006/relationships/slide" Target="/ppt/slides/slide8.xml" Id="R1d74a2f774c947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a57e7f8a8d4a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55ee15c4dd4cc4" /><Relationship Type="http://schemas.openxmlformats.org/officeDocument/2006/relationships/notesMaster" Target="/ppt/notesMasters/notesMaster1.xml" Id="R6f7340f9778946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4dbf78d7284104" /><Relationship Type="http://schemas.openxmlformats.org/officeDocument/2006/relationships/notesMaster" Target="/ppt/notesMasters/notesMaster1.xml" Id="R0c4b5b50b90e43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8614af5c9047e2" /><Relationship Type="http://schemas.openxmlformats.org/officeDocument/2006/relationships/notesMaster" Target="/ppt/notesMasters/notesMaster1.xml" Id="R556c155bea3b40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5515047c054a60" /><Relationship Type="http://schemas.openxmlformats.org/officeDocument/2006/relationships/notesMaster" Target="/ppt/notesMasters/notesMaster1.xml" Id="Rec8beff58df545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519f0a64d4473e" /><Relationship Type="http://schemas.openxmlformats.org/officeDocument/2006/relationships/notesMaster" Target="/ppt/notesMasters/notesMaster1.xml" Id="R20c6d1cb046c4c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d6219a9ed84754" /><Relationship Type="http://schemas.openxmlformats.org/officeDocument/2006/relationships/notesMaster" Target="/ppt/notesMasters/notesMaster1.xml" Id="R1aa24c14578f45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ff305ec9634a9f" /><Relationship Type="http://schemas.openxmlformats.org/officeDocument/2006/relationships/notesMaster" Target="/ppt/notesMasters/notesMaster1.xml" Id="Rb0dc4530bfd149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221f4156d74440" /><Relationship Type="http://schemas.openxmlformats.org/officeDocument/2006/relationships/notesMaster" Target="/ppt/notesMasters/notesMaster1.xml" Id="Rafd3b10966f348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naming the learning purpose: Coordinate recipe, workflow and presentation evidence.</a:t>
            </a:r>
          </a:p>
          <a:p xmlns:a="http://schemas.openxmlformats.org/drawingml/2006/main">
            <a:r>
              <a:t>Ask students to inspect the image and identify one detail connected to the module.</a:t>
            </a:r>
          </a:p>
          <a:p xmlns:a="http://schemas.openxmlformats.org/drawingml/2006/main">
            <a:r>
              <a:t>Do not present any unconfirmed local practical or assessment detail as settled.</a:t>
            </a:r>
          </a:p>
          <a:p xmlns:a="http://schemas.openxmlformats.org/drawingml/2006/main">
            <a:r>
              <a:t/>
            </a:r>
          </a:p>
          <a:p xmlns:a="http://schemas.openxmlformats.org/drawingml/2006/main">
            <a:r>
              <a:t>[Sources]
- _project/source-map-v1.0.md
- data/theory-data.js
- recipe-booklet
- party-recipes
- assessment-workbook
- course-program
- assets/photos/module-09-production-workflow.png · SHA-256 12c1b4fb5e29802d6820be14b57a318c850902444a71279a32bf942ec019cc87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warm-up as a short think-pair-share.</a:t>
            </a:r>
          </a:p>
          <a:p xmlns:a="http://schemas.openxmlformats.org/drawingml/2006/main">
            <a:r>
              <a:t>Preview the sequence: Recipe and equipment selection; Workflow and collaboration; Presentation, styling and photography.</a:t>
            </a:r>
          </a:p>
          <a:p xmlns:a="http://schemas.openxmlformats.org/drawingml/2006/main">
            <a:r>
              <a:t>Listen for the first misconception listed in each section and note which idea needs more explanation.</a:t>
            </a:r>
          </a:p>
          <a:p xmlns:a="http://schemas.openxmlformats.org/drawingml/2006/main">
            <a:r>
              <a:t/>
            </a:r>
          </a:p>
          <a:p xmlns:a="http://schemas.openxmlformats.org/drawingml/2006/main">
            <a:r>
              <a:t>[Sources]
- _project/source-map-v1.0.md
- data/theory-data.js
- recipe-booklet
- party-recipes
- assessment-workbook
- course-program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visible ideas in order: Use selection lenses; Turn the method into an equipment list; Justify the recipe choice.</a:t>
            </a:r>
          </a:p>
          <a:p xmlns:a="http://schemas.openxmlformats.org/drawingml/2006/main">
            <a:r>
              <a:t>Use the worked example: Comparing two party recipe options. A sound recipe choice is supported by several practical criteria, and the equipment list should be traceable to the written method.</a:t>
            </a:r>
          </a:p>
          <a:p xmlns:a="http://schemas.openxmlformats.org/drawingml/2006/main">
            <a:r>
              <a:t>Likely misconception: The best party recipe is simply the one that looks most impressive. Correction: Presentation matters, but the choice should also suit users, time, skill, ingredients, cost, dietary safety and serving context.</a:t>
            </a:r>
          </a:p>
          <a:p xmlns:a="http://schemas.openxmlformats.org/drawingml/2006/main">
            <a:r>
              <a:t>Transition: ask how this idea changes a method, choice or piece of evidence.</a:t>
            </a:r>
          </a:p>
          <a:p xmlns:a="http://schemas.openxmlformats.org/drawingml/2006/main">
            <a:r>
              <a:t/>
            </a:r>
          </a:p>
          <a:p xmlns:a="http://schemas.openxmlformats.org/drawingml/2006/main">
            <a:r>
              <a:t>[Sources]
- _project/source-map-v1.0.md
- data/theory-data.js
- recipe-booklet
- party-recipes
- assessment-workbook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visible ideas in order: Map the whole workflow; Recognise dependencies and adjust; Share roles and communicate clearly.</a:t>
            </a:r>
          </a:p>
          <a:p xmlns:a="http://schemas.openxmlformats.org/drawingml/2006/main">
            <a:r>
              <a:t>Use the worked example: Backwards planning for a practice session. Backwards planning keeps the final goal visible and helps a pair organise tasks, dependencies, communication and clean-up as one connected workflow.</a:t>
            </a:r>
          </a:p>
          <a:p xmlns:a="http://schemas.openxmlformats.org/drawingml/2006/main">
            <a:r>
              <a:t>Likely misconception: A good workflow is simply the recipe method copied into a timetable. Correction: A workflow also includes estimated durations, dependencies, checkpoints, role allocation and cleaning actions.</a:t>
            </a:r>
          </a:p>
          <a:p xmlns:a="http://schemas.openxmlformats.org/drawingml/2006/main">
            <a:r>
              <a:t>Transition: ask how this idea changes a method, choice or piece of evidence.</a:t>
            </a:r>
          </a:p>
          <a:p xmlns:a="http://schemas.openxmlformats.org/drawingml/2006/main">
            <a:r>
              <a:t/>
            </a:r>
          </a:p>
          <a:p xmlns:a="http://schemas.openxmlformats.org/drawingml/2006/main">
            <a:r>
              <a:t>[Sources]
- _project/source-map-v1.0.md
- data/theory-data.js
- assessment-workbook
- recipe-booklet
- course-program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visible ideas in order: Build a purposeful plate; Finish and present food safely; Take a clear and truthful photograph.</a:t>
            </a:r>
          </a:p>
          <a:p xmlns:a="http://schemas.openxmlformats.org/drawingml/2006/main">
            <a:r>
              <a:t>Use the worked example: Planning the plate and final photograph. Good presentation combines purposeful food styling, safe handling and truthful visual documentation of the product that was actually made.</a:t>
            </a:r>
          </a:p>
          <a:p xmlns:a="http://schemas.openxmlformats.org/drawingml/2006/main">
            <a:r>
              <a:t>Likely misconception: A plate looks better when every empty space is filled with food or decoration. Correction: Purposeful spacing can make the portion clearer and more organised, and extra garnish should only be added when it is edible and relevant.</a:t>
            </a:r>
          </a:p>
          <a:p xmlns:a="http://schemas.openxmlformats.org/drawingml/2006/main">
            <a:r>
              <a:t>Transition: ask how this idea changes a method, choice or piece of evidence.</a:t>
            </a:r>
          </a:p>
          <a:p xmlns:a="http://schemas.openxmlformats.org/drawingml/2006/main">
            <a:r>
              <a:t/>
            </a:r>
          </a:p>
          <a:p xmlns:a="http://schemas.openxmlformats.org/drawingml/2006/main">
            <a:r>
              <a:t>[Sources]
- _project/source-map-v1.0.md
- data/theory-data.js
- assessment-workbook
- recipe-booklet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discussion.</a:t>
            </a:r>
          </a:p>
          <a:p xmlns:a="http://schemas.openxmlformats.org/drawingml/2006/main">
            <a:r>
              <a:t>Question on Recipe and equipment selection: accept an answer only when it explains why. Presentation matters, but the choice should also suit users, time, skill, ingredients, cost, dietary safety and serving context.</a:t>
            </a:r>
          </a:p>
          <a:p xmlns:a="http://schemas.openxmlformats.org/drawingml/2006/main">
            <a:r>
              <a:t>Question on Workflow and collaboration: accept an answer only when it explains why. A workflow also includes estimated durations, dependencies, checkpoints, role allocation and cleaning actions.</a:t>
            </a:r>
          </a:p>
          <a:p xmlns:a="http://schemas.openxmlformats.org/drawingml/2006/main">
            <a:r>
              <a:t>Question on Presentation, styling and photography: accept an answer only when it explains why. Purposeful spacing can make the portion clearer and more organised, and extra garnish should only be added when it is edible and relevant.</a:t>
            </a:r>
          </a:p>
          <a:p xmlns:a="http://schemas.openxmlformats.org/drawingml/2006/main">
            <a:r>
              <a:t>Use this as formative checking; it is not a formal mark.</a:t>
            </a:r>
          </a:p>
          <a:p xmlns:a="http://schemas.openxmlformats.org/drawingml/2006/main">
            <a:r>
              <a:t/>
            </a:r>
          </a:p>
          <a:p xmlns:a="http://schemas.openxmlformats.org/drawingml/2006/main">
            <a:r>
              <a:t>[Sources]
- _project/source-map-v1.0.md
- data/theory-data.js
- recipe-booklet
- party-recipes
- assessment-workbook
- course-program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full prompt aloud once, then give students time to unpack it.</a:t>
            </a:r>
          </a:p>
          <a:p xmlns:a="http://schemas.openxmlformats.org/drawingml/2006/main">
            <a:r>
              <a:t>A strong response should draw on: Recipe and equipment selection; Workflow and collaboration; Presentation, styling and photography.</a:t>
            </a:r>
          </a:p>
          <a:p xmlns:a="http://schemas.openxmlformats.org/drawingml/2006/main">
            <a:r>
              <a:t>Model a connection using because, so or therefore without supplying a complete answer.</a:t>
            </a:r>
          </a:p>
          <a:p xmlns:a="http://schemas.openxmlformats.org/drawingml/2006/main">
            <a:r>
              <a:t>Remind students that local saving is formative evidence, not proof of submission.</a:t>
            </a:r>
          </a:p>
          <a:p xmlns:a="http://schemas.openxmlformats.org/drawingml/2006/main">
            <a:r>
              <a:t/>
            </a:r>
          </a:p>
          <a:p xmlns:a="http://schemas.openxmlformats.org/drawingml/2006/main">
            <a:r>
              <a:t>[Sources]
- _project/source-map-v1.0.md
- data/theory-data.js
- recipe-booklet
- party-recipes
- assessment-workbook
- course-program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prompts as an exit ticket or brief verbal check.</a:t>
            </a:r>
          </a:p>
          <a:p xmlns:a="http://schemas.openxmlformats.org/drawingml/2006/main">
            <a:r>
              <a:t>Ask students to save their longer response before closing the module page.</a:t>
            </a:r>
          </a:p>
          <a:p xmlns:a="http://schemas.openxmlformats.org/drawingml/2006/main">
            <a:r>
              <a:t>Preview the next module: Evaluate and Communicate.</a:t>
            </a:r>
          </a:p>
          <a:p xmlns:a="http://schemas.openxmlformats.org/drawingml/2006/main">
            <a:r>
              <a:t/>
            </a:r>
          </a:p>
          <a:p xmlns:a="http://schemas.openxmlformats.org/drawingml/2006/main">
            <a:r>
              <a:t>[Sources]
- _project/source-map-v1.0.md
- data/theory-data.js
- recipe-booklet
- party-recipes
- assessment-workbook
- course-program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5792d6c71a4a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538c19134f4325" /><Relationship Type="http://schemas.openxmlformats.org/officeDocument/2006/relationships/slideLayout" Target="/ppt/slideLayouts/slideLayout1.xml" Id="R3b60c510dc8d4c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60c510dc8d4c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983d487f3842bb" /><Relationship Type="http://schemas.openxmlformats.org/officeDocument/2006/relationships/image" Target="/ppt/media/image.png" Id="R29a8d8fdc3a34e7f" /><Relationship Type="http://schemas.openxmlformats.org/officeDocument/2006/relationships/notesSlide" Target="/ppt/notesSlides/notesSlide1.xml" Id="R7714457240514a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05670520ac425e" /><Relationship Type="http://schemas.openxmlformats.org/officeDocument/2006/relationships/notesSlide" Target="/ppt/notesSlides/notesSlide2.xml" Id="Re5718f0ff3a947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dc17cf4a3e44f7" /><Relationship Type="http://schemas.openxmlformats.org/officeDocument/2006/relationships/notesSlide" Target="/ppt/notesSlides/notesSlide3.xml" Id="Rfdfc1cab681b4e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ed5cfb0a1245e3" /><Relationship Type="http://schemas.openxmlformats.org/officeDocument/2006/relationships/notesSlide" Target="/ppt/notesSlides/notesSlide4.xml" Id="R7ecbd23c839b45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b523bf48b34c5d" /><Relationship Type="http://schemas.openxmlformats.org/officeDocument/2006/relationships/notesSlide" Target="/ppt/notesSlides/notesSlide5.xml" Id="Rd2f999acc0c24a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09596523b748d2" /><Relationship Type="http://schemas.openxmlformats.org/officeDocument/2006/relationships/notesSlide" Target="/ppt/notesSlides/notesSlide6.xml" Id="Rfa8c63b13e814e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92e29a6317440b" /><Relationship Type="http://schemas.openxmlformats.org/officeDocument/2006/relationships/notesSlide" Target="/ppt/notesSlides/notesSlide7.xml" Id="Rd735e0efbc5a4e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0e37e6501b4075" /><Relationship Type="http://schemas.openxmlformats.org/officeDocument/2006/relationships/notesSlide" Target="/ppt/notesSlides/notesSlide8.xml" Id="R4deac7a4babf496a" /></Relationships>
</file>

<file path=ppt/slides/slide1.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345AE-0661-40B9-8CB4-02B45C0CC983}"/>
              </a:ext>
            </a:extLst>
          </p:cNvPr>
          <p:cNvSpPr>
            <a:spLocks xmlns:a="http://schemas.openxmlformats.org/drawingml/2006/main" noGrp="1"/>
          </p:cNvSpPr>
          <p:nvPr/>
        </p:nvSpPr>
        <p:spPr>
          <a:xfrm xmlns:a="http://schemas.openxmlformats.org/drawingml/2006/main">
            <a:off x="0" y="0"/>
            <a:ext cx="5619750" cy="6858000"/>
          </a:xfrm>
          <a:prstGeom xmlns:a="http://schemas.openxmlformats.org/drawingml/2006/main" prst="rect">
            <a:avLst/>
          </a:prstGeom>
          <a:solidFill xmlns:a="http://schemas.openxmlformats.org/drawingml/2006/main">
            <a:srgbClr val="174936"/>
          </a:solidFill>
          <a:ln xmlns:a="http://schemas.openxmlformats.org/drawingml/2006/main" w="0">
            <a:no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9a8d8fdc3a34e7f"/>
          <a:srcRect xmlns:a="http://schemas.openxmlformats.org/drawingml/2006/main" l="23033" t="0" r="23033" b="0"/>
          <a:stretch xmlns:a="http://schemas.openxmlformats.org/drawingml/2006/main">
            <a:fillRect l="0" t="0" r="0" b="0"/>
          </a:stretch>
        </p:blipFill>
        <p:spPr>
          <a:xfrm xmlns:a="http://schemas.openxmlformats.org/drawingml/2006/main">
            <a:off x="5619750" y="0"/>
            <a:ext cx="6572250" cy="6858000"/>
          </a:xfrm>
          <a:prstGeom xmlns:a="http://schemas.openxmlformats.org/drawingml/2006/main" prst="roundRect">
            <a:avLst>
              <a:gd name="adj" fmla="val 2319"/>
            </a:avLst>
          </a:prstGeom>
        </p:spPr>
      </p:pic>
      <p:sp>
        <p:nvSpPr>
          <p:cNvPr id="3" name="">
            <a:extLst xmlns:a="http://schemas.openxmlformats.org/drawingml/2006/main">
              <a:ext uri="{FF2B5EF4-FFF2-40B4-BE49-F238E27FC236}">
                <a16:creationId xmlns:a16="http://schemas.microsoft.com/office/drawing/2014/main" id="{1ED21C79-3028-49B5-8512-34A21DEDA2F5}"/>
              </a:ext>
            </a:extLst>
          </p:cNvPr>
          <p:cNvSpPr>
            <a:spLocks xmlns:a="http://schemas.openxmlformats.org/drawingml/2006/main" noGrp="1"/>
          </p:cNvSpPr>
          <p:nvPr/>
        </p:nvSpPr>
        <p:spPr>
          <a:xfrm xmlns:a="http://schemas.openxmlformats.org/drawingml/2006/main">
            <a:off x="5619750" y="0"/>
            <a:ext cx="1714500" cy="6858000"/>
          </a:xfrm>
          <a:prstGeom xmlns:a="http://schemas.openxmlformats.org/drawingml/2006/main" prst="rect">
            <a:avLst/>
          </a:prstGeom>
          <a:gradFill xmlns:a="http://schemas.openxmlformats.org/drawingml/2006/main">
            <a:gsLst>
              <a:gs pos="0">
                <a:srgbClr val="174936"/>
              </a:gs>
              <a:gs pos="100000">
                <a:srgbClr val="174936">
                  <a:alpha val="0"/>
                </a:srgbClr>
              </a:gs>
            </a:gsLst>
            <a:lin ang="0"/>
          </a:gra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FEE4CB-34D0-4DED-91CE-7C6646D70471}"/>
              </a:ext>
            </a:extLst>
          </p:cNvPr>
          <p:cNvSpPr>
            <a:spLocks xmlns:a="http://schemas.openxmlformats.org/drawingml/2006/main" noGrp="1"/>
          </p:cNvSpPr>
          <p:nvPr/>
        </p:nvSpPr>
        <p:spPr>
          <a:xfrm xmlns:a="http://schemas.openxmlformats.org/drawingml/2006/main">
            <a:off x="685800" y="819150"/>
            <a:ext cx="2857500" cy="285750"/>
          </a:xfrm>
          <a:prstGeom xmlns:a="http://schemas.openxmlformats.org/drawingml/2006/main" prst="roundRect">
            <a:avLst>
              <a:gd name="adj" fmla="val 4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E6AE35"/>
                </a:solidFill>
              </a:defRPr>
            </a:pPr>
            <a:r>
              <a:rPr sz="1350" b="1">
                <a:solidFill>
                  <a:srgbClr val="E6AE35"/>
                </a:solidFill>
              </a:rPr>
              <a:t>MODULE 09</a:t>
            </a:r>
          </a:p>
        </p:txBody>
      </p:sp>
      <p:sp>
        <p:nvSpPr>
          <p:cNvPr id="5" name="">
            <a:extLst xmlns:a="http://schemas.openxmlformats.org/drawingml/2006/main">
              <a:ext uri="{FF2B5EF4-FFF2-40B4-BE49-F238E27FC236}">
                <a16:creationId xmlns:a16="http://schemas.microsoft.com/office/drawing/2014/main" id="{8FD56057-A5C9-46B0-94F0-D465A8CB7D2B}"/>
              </a:ext>
            </a:extLst>
          </p:cNvPr>
          <p:cNvSpPr>
            <a:spLocks xmlns:a="http://schemas.openxmlformats.org/drawingml/2006/main" noGrp="1"/>
          </p:cNvSpPr>
          <p:nvPr/>
        </p:nvSpPr>
        <p:spPr>
          <a:xfrm xmlns:a="http://schemas.openxmlformats.org/drawingml/2006/main">
            <a:off x="685800" y="1619250"/>
            <a:ext cx="4333875" cy="1657350"/>
          </a:xfrm>
          <a:prstGeom xmlns:a="http://schemas.openxmlformats.org/drawingml/2006/main" prst="roundRect">
            <a:avLst>
              <a:gd name="adj" fmla="val 6897"/>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4050" b="1">
                <a:solidFill>
                  <a:srgbClr val="FFFFFF"/>
                </a:solidFill>
              </a:defRPr>
            </a:pPr>
            <a:r>
              <a:rPr sz="4050" b="1">
                <a:solidFill>
                  <a:srgbClr val="FFFFFF"/>
                </a:solidFill>
              </a:rPr>
              <a:t>Plan, Produce and Present</a:t>
            </a:r>
          </a:p>
        </p:txBody>
      </p:sp>
      <p:sp>
        <p:nvSpPr>
          <p:cNvPr id="6" name="">
            <a:extLst xmlns:a="http://schemas.openxmlformats.org/drawingml/2006/main">
              <a:ext uri="{FF2B5EF4-FFF2-40B4-BE49-F238E27FC236}">
                <a16:creationId xmlns:a16="http://schemas.microsoft.com/office/drawing/2014/main" id="{6AF6A477-6CCB-4E58-9531-34E28B16B4D1}"/>
              </a:ext>
            </a:extLst>
          </p:cNvPr>
          <p:cNvSpPr>
            <a:spLocks xmlns:a="http://schemas.openxmlformats.org/drawingml/2006/main" noGrp="1"/>
          </p:cNvSpPr>
          <p:nvPr/>
        </p:nvSpPr>
        <p:spPr>
          <a:xfrm xmlns:a="http://schemas.openxmlformats.org/drawingml/2006/main">
            <a:off x="685800" y="3600450"/>
            <a:ext cx="4095750" cy="990600"/>
          </a:xfrm>
          <a:prstGeom xmlns:a="http://schemas.openxmlformats.org/drawingml/2006/main" prst="roundRect">
            <a:avLst>
              <a:gd name="adj" fmla="val 11538"/>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EDF5EF"/>
                </a:solidFill>
              </a:defRPr>
            </a:pPr>
            <a:r>
              <a:rPr sz="1800" b="0">
                <a:solidFill>
                  <a:srgbClr val="EDF5EF"/>
                </a:solidFill>
              </a:rPr>
              <a:t>Coordinate recipe, workflow and presentation evidence.</a:t>
            </a:r>
          </a:p>
        </p:txBody>
      </p:sp>
      <p:sp>
        <p:nvSpPr>
          <p:cNvPr id="7" name="">
            <a:extLst xmlns:a="http://schemas.openxmlformats.org/drawingml/2006/main">
              <a:ext uri="{FF2B5EF4-FFF2-40B4-BE49-F238E27FC236}">
                <a16:creationId xmlns:a16="http://schemas.microsoft.com/office/drawing/2014/main" id="{CF807F40-9DFC-46DE-96A6-4FC1768D7004}"/>
              </a:ext>
            </a:extLst>
          </p:cNvPr>
          <p:cNvSpPr>
            <a:spLocks xmlns:a="http://schemas.openxmlformats.org/drawingml/2006/main" noGrp="1"/>
          </p:cNvSpPr>
          <p:nvPr/>
        </p:nvSpPr>
        <p:spPr>
          <a:xfrm xmlns:a="http://schemas.openxmlformats.org/drawingml/2006/main">
            <a:off x="685800" y="6191250"/>
            <a:ext cx="35242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0">
                <a:solidFill>
                  <a:srgbClr val="C7DED0"/>
                </a:solidFill>
              </a:defRPr>
            </a:pPr>
            <a:r>
              <a:rPr sz="1050" b="0">
                <a:solidFill>
                  <a:srgbClr val="C7DED0"/>
                </a:solidFill>
              </a:rPr>
              <a:t>Teacher-led classroom presentation</a:t>
            </a:r>
          </a:p>
        </p:txBody>
      </p:sp>
    </p:spTree>
    <p:extLst>
      <p:ext uri="{BB962C8B-B14F-4D97-AF65-F5344CB8AC3E}">
        <p14:creationId xmlns:p14="http://schemas.microsoft.com/office/powerpoint/2010/main" val="1570229070"/>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D796E06-A643-44C8-AA7B-1B75434A434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6A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5E33E26-4335-4DDD-BFF7-C905F9BEC628}"/>
              </a:ext>
            </a:extLst>
          </p:cNvPr>
          <p:cNvSpPr>
            <a:spLocks xmlns:a="http://schemas.openxmlformats.org/drawingml/2006/main" noGrp="1"/>
          </p:cNvSpPr>
          <p:nvPr/>
        </p:nvSpPr>
        <p:spPr>
          <a:xfrm xmlns:a="http://schemas.openxmlformats.org/drawingml/2006/main">
            <a:off x="685800" y="6438900"/>
            <a:ext cx="5715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D6D63"/>
                </a:solidFill>
              </a:defRPr>
            </a:pPr>
            <a:r>
              <a:rPr sz="1050" b="1">
                <a:solidFill>
                  <a:srgbClr val="5D6D63"/>
                </a:solidFill>
              </a:rPr>
              <a:t>MODULE 09 · YEAR 8 FOOD TECHNOLOGY</a:t>
            </a:r>
          </a:p>
        </p:txBody>
      </p:sp>
      <p:sp>
        <p:nvSpPr>
          <p:cNvPr id="3" name="">
            <a:extLst xmlns:a="http://schemas.openxmlformats.org/drawingml/2006/main">
              <a:ext uri="{FF2B5EF4-FFF2-40B4-BE49-F238E27FC236}">
                <a16:creationId xmlns:a16="http://schemas.microsoft.com/office/drawing/2014/main" id="{AD765204-B1A3-4754-BD7F-5E78E62026A1}"/>
              </a:ext>
            </a:extLst>
          </p:cNvPr>
          <p:cNvSpPr>
            <a:spLocks xmlns:a="http://schemas.openxmlformats.org/drawingml/2006/main" noGrp="1"/>
          </p:cNvSpPr>
          <p:nvPr/>
        </p:nvSpPr>
        <p:spPr>
          <a:xfrm xmlns:a="http://schemas.openxmlformats.org/drawingml/2006/main">
            <a:off x="10953750" y="6438900"/>
            <a:ext cx="5524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9493E"/>
                </a:solidFill>
              </a:defRPr>
            </a:pPr>
            <a:r>
              <a:rPr sz="1050" b="1">
                <a:solidFill>
                  <a:srgbClr val="C9493E"/>
                </a:solidFill>
              </a:rPr>
              <a:t>02</a:t>
            </a:r>
          </a:p>
        </p:txBody>
      </p:sp>
      <p:sp>
        <p:nvSpPr>
          <p:cNvPr id="4" name="">
            <a:extLst xmlns:a="http://schemas.openxmlformats.org/drawingml/2006/main">
              <a:ext uri="{FF2B5EF4-FFF2-40B4-BE49-F238E27FC236}">
                <a16:creationId xmlns:a16="http://schemas.microsoft.com/office/drawing/2014/main" id="{32DE701A-8CB9-414C-8D2D-80AE2CB6ED28}"/>
              </a:ext>
            </a:extLst>
          </p:cNvPr>
          <p:cNvSpPr>
            <a:spLocks xmlns:a="http://schemas.openxmlformats.org/drawingml/2006/main" noGrp="1"/>
          </p:cNvSpPr>
          <p:nvPr/>
        </p:nvSpPr>
        <p:spPr>
          <a:xfrm xmlns:a="http://schemas.openxmlformats.org/drawingml/2006/main">
            <a:off x="685800" y="704850"/>
            <a:ext cx="7239000" cy="609600"/>
          </a:xfrm>
          <a:prstGeom xmlns:a="http://schemas.openxmlformats.org/drawingml/2006/main" prst="roundRect">
            <a:avLst>
              <a:gd name="adj" fmla="val 1875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4936"/>
                </a:solidFill>
              </a:defRPr>
            </a:pPr>
            <a:r>
              <a:rPr sz="3150" b="1">
                <a:solidFill>
                  <a:srgbClr val="174936"/>
                </a:solidFill>
              </a:rPr>
              <a:t>Where are we going?</a:t>
            </a:r>
          </a:p>
        </p:txBody>
      </p:sp>
      <p:sp>
        <p:nvSpPr>
          <p:cNvPr id="5" name="">
            <a:extLst xmlns:a="http://schemas.openxmlformats.org/drawingml/2006/main">
              <a:ext uri="{FF2B5EF4-FFF2-40B4-BE49-F238E27FC236}">
                <a16:creationId xmlns:a16="http://schemas.microsoft.com/office/drawing/2014/main" id="{193178FA-ED22-4C76-A536-9E4D06D57F47}"/>
              </a:ext>
            </a:extLst>
          </p:cNvPr>
          <p:cNvSpPr>
            <a:spLocks xmlns:a="http://schemas.openxmlformats.org/drawingml/2006/main" noGrp="1"/>
          </p:cNvSpPr>
          <p:nvPr/>
        </p:nvSpPr>
        <p:spPr>
          <a:xfrm xmlns:a="http://schemas.openxmlformats.org/drawingml/2006/main">
            <a:off x="685800" y="1333500"/>
            <a:ext cx="7239000" cy="342900"/>
          </a:xfrm>
          <a:prstGeom xmlns:a="http://schemas.openxmlformats.org/drawingml/2006/main" prst="roundRect">
            <a:avLst>
              <a:gd name="adj" fmla="val 33333"/>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D6D63"/>
                </a:solidFill>
              </a:defRPr>
            </a:pPr>
            <a:r>
              <a:rPr sz="1650" b="0">
                <a:solidFill>
                  <a:srgbClr val="5D6D63"/>
                </a:solidFill>
              </a:rPr>
              <a:t>Three ideas build one practical or design decision.</a:t>
            </a:r>
          </a:p>
        </p:txBody>
      </p:sp>
      <p:sp>
        <p:nvSpPr>
          <p:cNvPr id="6" name="">
            <a:extLst xmlns:a="http://schemas.openxmlformats.org/drawingml/2006/main">
              <a:ext uri="{FF2B5EF4-FFF2-40B4-BE49-F238E27FC236}">
                <a16:creationId xmlns:a16="http://schemas.microsoft.com/office/drawing/2014/main" id="{D7947354-2FB2-42C5-9E02-1079451D6BBC}"/>
              </a:ext>
            </a:extLst>
          </p:cNvPr>
          <p:cNvSpPr>
            <a:spLocks xmlns:a="http://schemas.openxmlformats.org/drawingml/2006/main" noGrp="1"/>
          </p:cNvSpPr>
          <p:nvPr/>
        </p:nvSpPr>
        <p:spPr>
          <a:xfrm xmlns:a="http://schemas.openxmlformats.org/drawingml/2006/main">
            <a:off x="3848100" y="2819400"/>
            <a:ext cx="381000" cy="571500"/>
          </a:xfrm>
          <a:prstGeom xmlns:a="http://schemas.openxmlformats.org/drawingml/2006/main" prst="roundRect">
            <a:avLst>
              <a:gd name="adj" fmla="val 30000"/>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3900" b="1">
                <a:solidFill>
                  <a:srgbClr val="23664B"/>
                </a:solidFill>
              </a:defRPr>
            </a:pPr>
            <a:r>
              <a:rPr sz="3900" b="1">
                <a:solidFill>
                  <a:srgbClr val="23664B"/>
                </a:solidFill>
              </a:rPr>
              <a:t>›</a:t>
            </a:r>
          </a:p>
        </p:txBody>
      </p:sp>
      <p:sp>
        <p:nvSpPr>
          <p:cNvPr id="7" name="">
            <a:extLst xmlns:a="http://schemas.openxmlformats.org/drawingml/2006/main">
              <a:ext uri="{FF2B5EF4-FFF2-40B4-BE49-F238E27FC236}">
                <a16:creationId xmlns:a16="http://schemas.microsoft.com/office/drawing/2014/main" id="{463F7AF2-FEAC-43AA-B1D8-6AC7D4E1D4D4}"/>
              </a:ext>
            </a:extLst>
          </p:cNvPr>
          <p:cNvSpPr>
            <a:spLocks xmlns:a="http://schemas.openxmlformats.org/drawingml/2006/main" noGrp="1"/>
          </p:cNvSpPr>
          <p:nvPr/>
        </p:nvSpPr>
        <p:spPr>
          <a:xfrm xmlns:a="http://schemas.openxmlformats.org/drawingml/2006/main">
            <a:off x="7248525" y="2819400"/>
            <a:ext cx="381000" cy="571500"/>
          </a:xfrm>
          <a:prstGeom xmlns:a="http://schemas.openxmlformats.org/drawingml/2006/main" prst="roundRect">
            <a:avLst>
              <a:gd name="adj" fmla="val 30000"/>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3900" b="1">
                <a:solidFill>
                  <a:srgbClr val="23664B"/>
                </a:solidFill>
              </a:defRPr>
            </a:pPr>
            <a:r>
              <a:rPr sz="3900" b="1">
                <a:solidFill>
                  <a:srgbClr val="23664B"/>
                </a:solidFill>
              </a:rPr>
              <a:t>›</a:t>
            </a:r>
          </a:p>
        </p:txBody>
      </p:sp>
      <p:sp>
        <p:nvSpPr>
          <p:cNvPr id="8" name="">
            <a:extLst xmlns:a="http://schemas.openxmlformats.org/drawingml/2006/main">
              <a:ext uri="{FF2B5EF4-FFF2-40B4-BE49-F238E27FC236}">
                <a16:creationId xmlns:a16="http://schemas.microsoft.com/office/drawing/2014/main" id="{0158ACDE-3B4C-43D4-A600-7F3481DBBEDA}"/>
              </a:ext>
            </a:extLst>
          </p:cNvPr>
          <p:cNvSpPr>
            <a:spLocks xmlns:a="http://schemas.openxmlformats.org/drawingml/2006/main" noGrp="1"/>
          </p:cNvSpPr>
          <p:nvPr/>
        </p:nvSpPr>
        <p:spPr>
          <a:xfrm xmlns:a="http://schemas.openxmlformats.org/drawingml/2006/main">
            <a:off x="809625" y="2381250"/>
            <a:ext cx="295275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9050">
            <a:solidFill>
              <a:srgbClr val="23664B"/>
            </a:solidFill>
            <a:prstDash val="solid"/>
          </a:ln>
        </p:spPr>
      </p:sp>
      <p:sp>
        <p:nvSpPr>
          <p:cNvPr id="9" name="">
            <a:extLst xmlns:a="http://schemas.openxmlformats.org/drawingml/2006/main">
              <a:ext uri="{FF2B5EF4-FFF2-40B4-BE49-F238E27FC236}">
                <a16:creationId xmlns:a16="http://schemas.microsoft.com/office/drawing/2014/main" id="{16EB382B-3576-4BB2-996B-097588E5DABE}"/>
              </a:ext>
            </a:extLst>
          </p:cNvPr>
          <p:cNvSpPr>
            <a:spLocks xmlns:a="http://schemas.openxmlformats.org/drawingml/2006/main" noGrp="1"/>
          </p:cNvSpPr>
          <p:nvPr/>
        </p:nvSpPr>
        <p:spPr>
          <a:xfrm xmlns:a="http://schemas.openxmlformats.org/drawingml/2006/main">
            <a:off x="1000125" y="2590800"/>
            <a:ext cx="457200" cy="457200"/>
          </a:xfrm>
          <a:prstGeom xmlns:a="http://schemas.openxmlformats.org/drawingml/2006/main" prst="roundRect">
            <a:avLst>
              <a:gd name="adj" fmla="val 50000"/>
            </a:avLst>
          </a:prstGeom>
          <a:solidFill xmlns:a="http://schemas.openxmlformats.org/drawingml/2006/main">
            <a:srgbClr val="23664B"/>
          </a:solidFill>
          <a:ln xmlns:a="http://schemas.openxmlformats.org/drawingml/2006/main" w="9525">
            <a:solidFill>
              <a:srgbClr val="23664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650" b="1">
                <a:solidFill>
                  <a:srgbClr val="FFFFFF"/>
                </a:solidFill>
              </a:defRPr>
            </a:pPr>
            <a:r>
              <a:rPr sz="1650" b="1">
                <a:solidFill>
                  <a:srgbClr val="FFFFFF"/>
                </a:solidFill>
              </a:rPr>
              <a:t>1</a:t>
            </a:r>
          </a:p>
        </p:txBody>
      </p:sp>
      <p:sp>
        <p:nvSpPr>
          <p:cNvPr id="10" name="">
            <a:extLst xmlns:a="http://schemas.openxmlformats.org/drawingml/2006/main">
              <a:ext uri="{FF2B5EF4-FFF2-40B4-BE49-F238E27FC236}">
                <a16:creationId xmlns:a16="http://schemas.microsoft.com/office/drawing/2014/main" id="{8AE15D67-49B7-410E-B58C-ACC5C1B7DECD}"/>
              </a:ext>
            </a:extLst>
          </p:cNvPr>
          <p:cNvSpPr>
            <a:spLocks xmlns:a="http://schemas.openxmlformats.org/drawingml/2006/main" noGrp="1"/>
          </p:cNvSpPr>
          <p:nvPr/>
        </p:nvSpPr>
        <p:spPr>
          <a:xfrm xmlns:a="http://schemas.openxmlformats.org/drawingml/2006/main">
            <a:off x="1552575" y="2647950"/>
            <a:ext cx="2000250" cy="1000125"/>
          </a:xfrm>
          <a:prstGeom xmlns:a="http://schemas.openxmlformats.org/drawingml/2006/main" prst="roundRect">
            <a:avLst>
              <a:gd name="adj" fmla="val 11429"/>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defRPr sz="1800" b="1">
                <a:solidFill>
                  <a:srgbClr val="243229"/>
                </a:solidFill>
              </a:defRPr>
            </a:pPr>
            <a:r>
              <a:rPr sz="1800" b="1">
                <a:solidFill>
                  <a:srgbClr val="243229"/>
                </a:solidFill>
              </a:rPr>
              <a:t>Recipe and equipment selection</a:t>
            </a:r>
          </a:p>
        </p:txBody>
      </p:sp>
      <p:sp>
        <p:nvSpPr>
          <p:cNvPr id="11" name="">
            <a:extLst xmlns:a="http://schemas.openxmlformats.org/drawingml/2006/main">
              <a:ext uri="{FF2B5EF4-FFF2-40B4-BE49-F238E27FC236}">
                <a16:creationId xmlns:a16="http://schemas.microsoft.com/office/drawing/2014/main" id="{85637486-FE07-4A7A-B16B-3BAA4F8EEC93}"/>
              </a:ext>
            </a:extLst>
          </p:cNvPr>
          <p:cNvSpPr>
            <a:spLocks xmlns:a="http://schemas.openxmlformats.org/drawingml/2006/main" noGrp="1"/>
          </p:cNvSpPr>
          <p:nvPr/>
        </p:nvSpPr>
        <p:spPr>
          <a:xfrm xmlns:a="http://schemas.openxmlformats.org/drawingml/2006/main">
            <a:off x="4210050" y="2381250"/>
            <a:ext cx="2952750" cy="1619250"/>
          </a:xfrm>
          <a:prstGeom xmlns:a="http://schemas.openxmlformats.org/drawingml/2006/main" prst="roundRect">
            <a:avLst>
              <a:gd name="adj" fmla="val 9412"/>
            </a:avLst>
          </a:prstGeom>
          <a:solidFill xmlns:a="http://schemas.openxmlformats.org/drawingml/2006/main">
            <a:srgbClr val="DCEEE2"/>
          </a:solidFill>
          <a:ln xmlns:a="http://schemas.openxmlformats.org/drawingml/2006/main" w="19050">
            <a:solidFill>
              <a:srgbClr val="23664B"/>
            </a:solidFill>
            <a:prstDash val="solid"/>
          </a:ln>
        </p:spPr>
      </p:sp>
      <p:sp>
        <p:nvSpPr>
          <p:cNvPr id="12" name="">
            <a:extLst xmlns:a="http://schemas.openxmlformats.org/drawingml/2006/main">
              <a:ext uri="{FF2B5EF4-FFF2-40B4-BE49-F238E27FC236}">
                <a16:creationId xmlns:a16="http://schemas.microsoft.com/office/drawing/2014/main" id="{910F576D-CAE2-4FC8-BEF7-6608F34E6540}"/>
              </a:ext>
            </a:extLst>
          </p:cNvPr>
          <p:cNvSpPr>
            <a:spLocks xmlns:a="http://schemas.openxmlformats.org/drawingml/2006/main" noGrp="1"/>
          </p:cNvSpPr>
          <p:nvPr/>
        </p:nvSpPr>
        <p:spPr>
          <a:xfrm xmlns:a="http://schemas.openxmlformats.org/drawingml/2006/main">
            <a:off x="4400550" y="2590800"/>
            <a:ext cx="457200" cy="457200"/>
          </a:xfrm>
          <a:prstGeom xmlns:a="http://schemas.openxmlformats.org/drawingml/2006/main" prst="roundRect">
            <a:avLst>
              <a:gd name="adj" fmla="val 50000"/>
            </a:avLst>
          </a:prstGeom>
          <a:solidFill xmlns:a="http://schemas.openxmlformats.org/drawingml/2006/main">
            <a:srgbClr val="23664B"/>
          </a:solidFill>
          <a:ln xmlns:a="http://schemas.openxmlformats.org/drawingml/2006/main" w="9525">
            <a:solidFill>
              <a:srgbClr val="23664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650" b="1">
                <a:solidFill>
                  <a:srgbClr val="FFFFFF"/>
                </a:solidFill>
              </a:defRPr>
            </a:pPr>
            <a:r>
              <a:rPr sz="1650" b="1">
                <a:solidFill>
                  <a:srgbClr val="FFFFFF"/>
                </a:solidFill>
              </a:rPr>
              <a:t>2</a:t>
            </a:r>
          </a:p>
        </p:txBody>
      </p:sp>
      <p:sp>
        <p:nvSpPr>
          <p:cNvPr id="13" name="">
            <a:extLst xmlns:a="http://schemas.openxmlformats.org/drawingml/2006/main">
              <a:ext uri="{FF2B5EF4-FFF2-40B4-BE49-F238E27FC236}">
                <a16:creationId xmlns:a16="http://schemas.microsoft.com/office/drawing/2014/main" id="{9D1135AF-297F-40CF-A663-41908545A1AF}"/>
              </a:ext>
            </a:extLst>
          </p:cNvPr>
          <p:cNvSpPr>
            <a:spLocks xmlns:a="http://schemas.openxmlformats.org/drawingml/2006/main" noGrp="1"/>
          </p:cNvSpPr>
          <p:nvPr/>
        </p:nvSpPr>
        <p:spPr>
          <a:xfrm xmlns:a="http://schemas.openxmlformats.org/drawingml/2006/main">
            <a:off x="4953000" y="2647950"/>
            <a:ext cx="2000250" cy="1000125"/>
          </a:xfrm>
          <a:prstGeom xmlns:a="http://schemas.openxmlformats.org/drawingml/2006/main" prst="roundRect">
            <a:avLst>
              <a:gd name="adj" fmla="val 11429"/>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defRPr sz="1800" b="1">
                <a:solidFill>
                  <a:srgbClr val="243229"/>
                </a:solidFill>
              </a:defRPr>
            </a:pPr>
            <a:r>
              <a:rPr sz="1800" b="1">
                <a:solidFill>
                  <a:srgbClr val="243229"/>
                </a:solidFill>
              </a:rPr>
              <a:t>Workflow and collaboration</a:t>
            </a:r>
          </a:p>
        </p:txBody>
      </p:sp>
      <p:sp>
        <p:nvSpPr>
          <p:cNvPr id="14" name="">
            <a:extLst xmlns:a="http://schemas.openxmlformats.org/drawingml/2006/main">
              <a:ext uri="{FF2B5EF4-FFF2-40B4-BE49-F238E27FC236}">
                <a16:creationId xmlns:a16="http://schemas.microsoft.com/office/drawing/2014/main" id="{B4EE0034-745A-4642-9B97-F2CF846D5C33}"/>
              </a:ext>
            </a:extLst>
          </p:cNvPr>
          <p:cNvSpPr>
            <a:spLocks xmlns:a="http://schemas.openxmlformats.org/drawingml/2006/main" noGrp="1"/>
          </p:cNvSpPr>
          <p:nvPr/>
        </p:nvSpPr>
        <p:spPr>
          <a:xfrm xmlns:a="http://schemas.openxmlformats.org/drawingml/2006/main">
            <a:off x="7610475" y="2381250"/>
            <a:ext cx="2952750" cy="1619250"/>
          </a:xfrm>
          <a:prstGeom xmlns:a="http://schemas.openxmlformats.org/drawingml/2006/main" prst="roundRect">
            <a:avLst>
              <a:gd name="adj" fmla="val 9412"/>
            </a:avLst>
          </a:prstGeom>
          <a:solidFill xmlns:a="http://schemas.openxmlformats.org/drawingml/2006/main">
            <a:srgbClr val="FFFFFF"/>
          </a:solidFill>
          <a:ln xmlns:a="http://schemas.openxmlformats.org/drawingml/2006/main" w="19050">
            <a:solidFill>
              <a:srgbClr val="23664B"/>
            </a:solidFill>
            <a:prstDash val="solid"/>
          </a:ln>
        </p:spPr>
      </p:sp>
      <p:sp>
        <p:nvSpPr>
          <p:cNvPr id="15" name="">
            <a:extLst xmlns:a="http://schemas.openxmlformats.org/drawingml/2006/main">
              <a:ext uri="{FF2B5EF4-FFF2-40B4-BE49-F238E27FC236}">
                <a16:creationId xmlns:a16="http://schemas.microsoft.com/office/drawing/2014/main" id="{DBACF744-11AC-45D5-9575-3DADB6D1F374}"/>
              </a:ext>
            </a:extLst>
          </p:cNvPr>
          <p:cNvSpPr>
            <a:spLocks xmlns:a="http://schemas.openxmlformats.org/drawingml/2006/main" noGrp="1"/>
          </p:cNvSpPr>
          <p:nvPr/>
        </p:nvSpPr>
        <p:spPr>
          <a:xfrm xmlns:a="http://schemas.openxmlformats.org/drawingml/2006/main">
            <a:off x="7800975" y="2590800"/>
            <a:ext cx="457200" cy="457200"/>
          </a:xfrm>
          <a:prstGeom xmlns:a="http://schemas.openxmlformats.org/drawingml/2006/main" prst="roundRect">
            <a:avLst>
              <a:gd name="adj" fmla="val 50000"/>
            </a:avLst>
          </a:prstGeom>
          <a:solidFill xmlns:a="http://schemas.openxmlformats.org/drawingml/2006/main">
            <a:srgbClr val="23664B"/>
          </a:solidFill>
          <a:ln xmlns:a="http://schemas.openxmlformats.org/drawingml/2006/main" w="9525">
            <a:solidFill>
              <a:srgbClr val="23664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650" b="1">
                <a:solidFill>
                  <a:srgbClr val="FFFFFF"/>
                </a:solidFill>
              </a:defRPr>
            </a:pPr>
            <a:r>
              <a:rPr sz="1650" b="1">
                <a:solidFill>
                  <a:srgbClr val="FFFFFF"/>
                </a:solidFill>
              </a:rPr>
              <a:t>3</a:t>
            </a:r>
          </a:p>
        </p:txBody>
      </p:sp>
      <p:sp>
        <p:nvSpPr>
          <p:cNvPr id="16" name="">
            <a:extLst xmlns:a="http://schemas.openxmlformats.org/drawingml/2006/main">
              <a:ext uri="{FF2B5EF4-FFF2-40B4-BE49-F238E27FC236}">
                <a16:creationId xmlns:a16="http://schemas.microsoft.com/office/drawing/2014/main" id="{31E1FB18-8675-43A3-9485-E6B4B3425190}"/>
              </a:ext>
            </a:extLst>
          </p:cNvPr>
          <p:cNvSpPr>
            <a:spLocks xmlns:a="http://schemas.openxmlformats.org/drawingml/2006/main" noGrp="1"/>
          </p:cNvSpPr>
          <p:nvPr/>
        </p:nvSpPr>
        <p:spPr>
          <a:xfrm xmlns:a="http://schemas.openxmlformats.org/drawingml/2006/main">
            <a:off x="8353425" y="2647950"/>
            <a:ext cx="2000250" cy="1000125"/>
          </a:xfrm>
          <a:prstGeom xmlns:a="http://schemas.openxmlformats.org/drawingml/2006/main" prst="roundRect">
            <a:avLst>
              <a:gd name="adj" fmla="val 11429"/>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defRPr sz="1800" b="1">
                <a:solidFill>
                  <a:srgbClr val="243229"/>
                </a:solidFill>
              </a:defRPr>
            </a:pPr>
            <a:r>
              <a:rPr sz="1800" b="1">
                <a:solidFill>
                  <a:srgbClr val="243229"/>
                </a:solidFill>
              </a:rPr>
              <a:t>Presentation, styling and photography</a:t>
            </a:r>
          </a:p>
        </p:txBody>
      </p:sp>
      <p:sp>
        <p:nvSpPr>
          <p:cNvPr id="17" name="">
            <a:extLst xmlns:a="http://schemas.openxmlformats.org/drawingml/2006/main">
              <a:ext uri="{FF2B5EF4-FFF2-40B4-BE49-F238E27FC236}">
                <a16:creationId xmlns:a16="http://schemas.microsoft.com/office/drawing/2014/main" id="{9F7F1CF9-32A6-4EB5-8626-02BED5C0A2C0}"/>
              </a:ext>
            </a:extLst>
          </p:cNvPr>
          <p:cNvSpPr>
            <a:spLocks xmlns:a="http://schemas.openxmlformats.org/drawingml/2006/main" noGrp="1"/>
          </p:cNvSpPr>
          <p:nvPr/>
        </p:nvSpPr>
        <p:spPr>
          <a:xfrm xmlns:a="http://schemas.openxmlformats.org/drawingml/2006/main">
            <a:off x="1428750" y="4686300"/>
            <a:ext cx="9334500" cy="1104900"/>
          </a:xfrm>
          <a:prstGeom xmlns:a="http://schemas.openxmlformats.org/drawingml/2006/main" prst="roundRect">
            <a:avLst>
              <a:gd name="adj" fmla="val 13793"/>
            </a:avLst>
          </a:prstGeom>
          <a:solidFill xmlns:a="http://schemas.openxmlformats.org/drawingml/2006/main">
            <a:srgbClr val="174936"/>
          </a:solidFill>
          <a:ln xmlns:a="http://schemas.openxmlformats.org/drawingml/2006/main" w="19050">
            <a:solidFill>
              <a:srgbClr val="174936"/>
            </a:solidFill>
            <a:prstDash val="solid"/>
          </a:ln>
        </p:spPr>
      </p:sp>
      <p:sp>
        <p:nvSpPr>
          <p:cNvPr id="18" name="">
            <a:extLst xmlns:a="http://schemas.openxmlformats.org/drawingml/2006/main">
              <a:ext uri="{FF2B5EF4-FFF2-40B4-BE49-F238E27FC236}">
                <a16:creationId xmlns:a16="http://schemas.microsoft.com/office/drawing/2014/main" id="{F657A981-051A-466A-8BE5-BE62D5CDA844}"/>
              </a:ext>
            </a:extLst>
          </p:cNvPr>
          <p:cNvSpPr>
            <a:spLocks xmlns:a="http://schemas.openxmlformats.org/drawingml/2006/main" noGrp="1"/>
          </p:cNvSpPr>
          <p:nvPr/>
        </p:nvSpPr>
        <p:spPr>
          <a:xfrm xmlns:a="http://schemas.openxmlformats.org/drawingml/2006/main">
            <a:off x="1733550" y="4895850"/>
            <a:ext cx="2190750" cy="266700"/>
          </a:xfrm>
          <a:prstGeom xmlns:a="http://schemas.openxmlformats.org/drawingml/2006/main" prst="roundRect">
            <a:avLst>
              <a:gd name="adj" fmla="val 4285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E6AE35"/>
                </a:solidFill>
              </a:defRPr>
            </a:pPr>
            <a:r>
              <a:rPr sz="1200" b="1">
                <a:solidFill>
                  <a:srgbClr val="E6AE35"/>
                </a:solidFill>
              </a:rPr>
              <a:t>RETRIEVAL WARM-UP</a:t>
            </a:r>
          </a:p>
        </p:txBody>
      </p:sp>
      <p:sp>
        <p:nvSpPr>
          <p:cNvPr id="19" name="">
            <a:extLst xmlns:a="http://schemas.openxmlformats.org/drawingml/2006/main">
              <a:ext uri="{FF2B5EF4-FFF2-40B4-BE49-F238E27FC236}">
                <a16:creationId xmlns:a16="http://schemas.microsoft.com/office/drawing/2014/main" id="{EB8696EE-B547-4311-B732-51A0D24006CB}"/>
              </a:ext>
            </a:extLst>
          </p:cNvPr>
          <p:cNvSpPr>
            <a:spLocks xmlns:a="http://schemas.openxmlformats.org/drawingml/2006/main" noGrp="1"/>
          </p:cNvSpPr>
          <p:nvPr/>
        </p:nvSpPr>
        <p:spPr>
          <a:xfrm xmlns:a="http://schemas.openxmlformats.org/drawingml/2006/main">
            <a:off x="1733550" y="5219700"/>
            <a:ext cx="85725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FFFFFF"/>
                </a:solidFill>
              </a:defRPr>
            </a:pPr>
            <a:r>
              <a:rPr sz="1725" b="1">
                <a:solidFill>
                  <a:srgbClr val="FFFFFF"/>
                </a:solidFill>
              </a:rPr>
              <a:t>What do you already know—and which idea have you seen in a kitchen, food choice or design task?</a:t>
            </a:r>
          </a:p>
        </p:txBody>
      </p:sp>
    </p:spTree>
    <p:extLst>
      <p:ext uri="{BB962C8B-B14F-4D97-AF65-F5344CB8AC3E}">
        <p14:creationId xmlns:p14="http://schemas.microsoft.com/office/powerpoint/2010/main" val="1694258213"/>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A3087F3-F91D-4526-9856-9154028EBD3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93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3C8028-5FDD-42D9-98F3-55AE69250F81}"/>
              </a:ext>
            </a:extLst>
          </p:cNvPr>
          <p:cNvSpPr>
            <a:spLocks xmlns:a="http://schemas.openxmlformats.org/drawingml/2006/main" noGrp="1"/>
          </p:cNvSpPr>
          <p:nvPr/>
        </p:nvSpPr>
        <p:spPr>
          <a:xfrm xmlns:a="http://schemas.openxmlformats.org/drawingml/2006/main">
            <a:off x="685800" y="6438900"/>
            <a:ext cx="5715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D6D63"/>
                </a:solidFill>
              </a:defRPr>
            </a:pPr>
            <a:r>
              <a:rPr sz="1050" b="1">
                <a:solidFill>
                  <a:srgbClr val="5D6D63"/>
                </a:solidFill>
              </a:rPr>
              <a:t>MODULE 09 · YEAR 8 FOOD TECHNOLOGY</a:t>
            </a:r>
          </a:p>
        </p:txBody>
      </p:sp>
      <p:sp>
        <p:nvSpPr>
          <p:cNvPr id="3" name="">
            <a:extLst xmlns:a="http://schemas.openxmlformats.org/drawingml/2006/main">
              <a:ext uri="{FF2B5EF4-FFF2-40B4-BE49-F238E27FC236}">
                <a16:creationId xmlns:a16="http://schemas.microsoft.com/office/drawing/2014/main" id="{4C9228AE-9CCE-4FEE-AC69-108D4E4E62D3}"/>
              </a:ext>
            </a:extLst>
          </p:cNvPr>
          <p:cNvSpPr>
            <a:spLocks xmlns:a="http://schemas.openxmlformats.org/drawingml/2006/main" noGrp="1"/>
          </p:cNvSpPr>
          <p:nvPr/>
        </p:nvSpPr>
        <p:spPr>
          <a:xfrm xmlns:a="http://schemas.openxmlformats.org/drawingml/2006/main">
            <a:off x="10953750" y="6438900"/>
            <a:ext cx="5524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9493E"/>
                </a:solidFill>
              </a:defRPr>
            </a:pPr>
            <a:r>
              <a:rPr sz="1050" b="1">
                <a:solidFill>
                  <a:srgbClr val="C9493E"/>
                </a:solidFill>
              </a:rPr>
              <a:t>03</a:t>
            </a:r>
          </a:p>
        </p:txBody>
      </p:sp>
      <p:sp>
        <p:nvSpPr>
          <p:cNvPr id="4" name="">
            <a:extLst xmlns:a="http://schemas.openxmlformats.org/drawingml/2006/main">
              <a:ext uri="{FF2B5EF4-FFF2-40B4-BE49-F238E27FC236}">
                <a16:creationId xmlns:a16="http://schemas.microsoft.com/office/drawing/2014/main" id="{C5E6110F-8EF5-4327-8F60-9081BF43265B}"/>
              </a:ext>
            </a:extLst>
          </p:cNvPr>
          <p:cNvSpPr>
            <a:spLocks xmlns:a="http://schemas.openxmlformats.org/drawingml/2006/main" noGrp="1"/>
          </p:cNvSpPr>
          <p:nvPr/>
        </p:nvSpPr>
        <p:spPr>
          <a:xfrm xmlns:a="http://schemas.openxmlformats.org/drawingml/2006/main">
            <a:off x="685800" y="495300"/>
            <a:ext cx="8572500" cy="285750"/>
          </a:xfrm>
          <a:prstGeom xmlns:a="http://schemas.openxmlformats.org/drawingml/2006/main" prst="roundRect">
            <a:avLst>
              <a:gd name="adj" fmla="val 4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C9493E"/>
                </a:solidFill>
              </a:defRPr>
            </a:pPr>
            <a:r>
              <a:rPr sz="1200" b="1">
                <a:solidFill>
                  <a:srgbClr val="C9493E"/>
                </a:solidFill>
              </a:rPr>
              <a:t>9.1 · RECIPE AND EQUIPMENT SELECTION</a:t>
            </a:r>
          </a:p>
        </p:txBody>
      </p:sp>
      <p:sp>
        <p:nvSpPr>
          <p:cNvPr id="5" name="">
            <a:extLst xmlns:a="http://schemas.openxmlformats.org/drawingml/2006/main">
              <a:ext uri="{FF2B5EF4-FFF2-40B4-BE49-F238E27FC236}">
                <a16:creationId xmlns:a16="http://schemas.microsoft.com/office/drawing/2014/main" id="{BA4ECE53-2631-4A29-83CF-F77BBD5578FC}"/>
              </a:ext>
            </a:extLst>
          </p:cNvPr>
          <p:cNvSpPr>
            <a:spLocks xmlns:a="http://schemas.openxmlformats.org/drawingml/2006/main" noGrp="1"/>
          </p:cNvSpPr>
          <p:nvPr/>
        </p:nvSpPr>
        <p:spPr>
          <a:xfrm xmlns:a="http://schemas.openxmlformats.org/drawingml/2006/main">
            <a:off x="685800" y="981075"/>
            <a:ext cx="6238875" cy="619125"/>
          </a:xfrm>
          <a:prstGeom xmlns:a="http://schemas.openxmlformats.org/drawingml/2006/main" prst="roundRect">
            <a:avLst>
              <a:gd name="adj" fmla="val 18462"/>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74936"/>
                </a:solidFill>
              </a:defRPr>
            </a:pPr>
            <a:r>
              <a:rPr sz="3000" b="1">
                <a:solidFill>
                  <a:srgbClr val="174936"/>
                </a:solidFill>
              </a:rPr>
              <a:t>Recipe and equipment selection</a:t>
            </a:r>
          </a:p>
        </p:txBody>
      </p:sp>
      <p:sp>
        <p:nvSpPr>
          <p:cNvPr id="6" name="">
            <a:extLst xmlns:a="http://schemas.openxmlformats.org/drawingml/2006/main">
              <a:ext uri="{FF2B5EF4-FFF2-40B4-BE49-F238E27FC236}">
                <a16:creationId xmlns:a16="http://schemas.microsoft.com/office/drawing/2014/main" id="{4715EF3B-6795-43D1-BB70-0A6A000AD658}"/>
              </a:ext>
            </a:extLst>
          </p:cNvPr>
          <p:cNvSpPr>
            <a:spLocks xmlns:a="http://schemas.openxmlformats.org/drawingml/2006/main" noGrp="1"/>
          </p:cNvSpPr>
          <p:nvPr/>
        </p:nvSpPr>
        <p:spPr>
          <a:xfrm xmlns:a="http://schemas.openxmlformats.org/drawingml/2006/main">
            <a:off x="685800" y="1657350"/>
            <a:ext cx="5953125"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5D6D63"/>
                </a:solidFill>
              </a:defRPr>
            </a:pPr>
            <a:r>
              <a:rPr sz="1575" b="1">
                <a:solidFill>
                  <a:srgbClr val="5D6D63"/>
                </a:solidFill>
              </a:rPr>
              <a:t>Guide students to select a suitable party recipe using clear practical criteria and to derive an accurate equipment list from the recipe method.</a:t>
            </a:r>
          </a:p>
        </p:txBody>
      </p:sp>
      <p:sp>
        <p:nvSpPr>
          <p:cNvPr id="7" name="">
            <a:extLst xmlns:a="http://schemas.openxmlformats.org/drawingml/2006/main">
              <a:ext uri="{FF2B5EF4-FFF2-40B4-BE49-F238E27FC236}">
                <a16:creationId xmlns:a16="http://schemas.microsoft.com/office/drawing/2014/main" id="{552297BE-D785-4D90-A186-C547223B3847}"/>
              </a:ext>
            </a:extLst>
          </p:cNvPr>
          <p:cNvSpPr>
            <a:spLocks xmlns:a="http://schemas.openxmlformats.org/drawingml/2006/main" noGrp="1"/>
          </p:cNvSpPr>
          <p:nvPr/>
        </p:nvSpPr>
        <p:spPr>
          <a:xfrm xmlns:a="http://schemas.openxmlformats.org/drawingml/2006/main">
            <a:off x="742950" y="2590800"/>
            <a:ext cx="209550" cy="209550"/>
          </a:xfrm>
          <a:prstGeom xmlns:a="http://schemas.openxmlformats.org/drawingml/2006/main" prst="ellipse">
            <a:avLst/>
          </a:prstGeom>
          <a:solidFill xmlns:a="http://schemas.openxmlformats.org/drawingml/2006/main">
            <a:srgbClr val="C9493E"/>
          </a:solidFill>
          <a:ln xmlns:a="http://schemas.openxmlformats.org/drawingml/2006/main" w="19050">
            <a:solidFill>
              <a:srgbClr val="C9493E"/>
            </a:solidFill>
            <a:prstDash val="solid"/>
          </a:ln>
        </p:spPr>
      </p:sp>
      <p:sp>
        <p:nvSpPr>
          <p:cNvPr id="8" name="">
            <a:extLst xmlns:a="http://schemas.openxmlformats.org/drawingml/2006/main">
              <a:ext uri="{FF2B5EF4-FFF2-40B4-BE49-F238E27FC236}">
                <a16:creationId xmlns:a16="http://schemas.microsoft.com/office/drawing/2014/main" id="{60537D23-626A-4C7B-BE23-B43C52E1707A}"/>
              </a:ext>
            </a:extLst>
          </p:cNvPr>
          <p:cNvSpPr>
            <a:spLocks xmlns:a="http://schemas.openxmlformats.org/drawingml/2006/main" noGrp="1"/>
          </p:cNvSpPr>
          <p:nvPr/>
        </p:nvSpPr>
        <p:spPr>
          <a:xfrm xmlns:a="http://schemas.openxmlformats.org/drawingml/2006/main">
            <a:off x="1123950" y="2400300"/>
            <a:ext cx="5381625" cy="800100"/>
          </a:xfrm>
          <a:prstGeom xmlns:a="http://schemas.openxmlformats.org/drawingml/2006/main" prst="roundRect">
            <a:avLst>
              <a:gd name="adj" fmla="val 14286"/>
            </a:avLst>
          </a:prstGeom>
          <a:noFill xmlns:a="http://schemas.openxmlformats.org/drawingml/2006/main"/>
          <a:ln xmlns:a="http://schemas.openxmlformats.org/drawingml/2006/main" w="0">
            <a:noFill/>
            <a:prstDash val="solid"/>
          </a:ln>
        </p:spPr>
        <p:txBody>
          <a:bodyPr xmlns:a="http://schemas.openxmlformats.org/drawingml/2006/main" lIns="0" tIns="19050" rIns="0" bIns="19050" anchor="ctr">
            <a:noAutofit/>
          </a:bodyPr>
          <a:lstStyle xmlns:a="http://schemas.openxmlformats.org/drawingml/2006/main"/>
          <a:p xmlns:a="http://schemas.openxmlformats.org/drawingml/2006/main">
            <a:pPr algn="l">
              <a:defRPr sz="1650" b="0">
                <a:solidFill>
                  <a:srgbClr val="243229"/>
                </a:solidFill>
              </a:defRPr>
            </a:pPr>
            <a:r>
              <a:rPr sz="1650" b="0">
                <a:solidFill>
                  <a:srgbClr val="243229"/>
                </a:solidFill>
              </a:rPr>
              <a:t>Select recipes by considering users, serving context, skill, time, ingredients, cost, dietary safety and presentation potential.</a:t>
            </a:r>
          </a:p>
        </p:txBody>
      </p:sp>
      <p:sp>
        <p:nvSpPr>
          <p:cNvPr id="9" name="">
            <a:extLst xmlns:a="http://schemas.openxmlformats.org/drawingml/2006/main">
              <a:ext uri="{FF2B5EF4-FFF2-40B4-BE49-F238E27FC236}">
                <a16:creationId xmlns:a16="http://schemas.microsoft.com/office/drawing/2014/main" id="{5C2C1B15-EB20-481C-A8DA-96CC0A3CAA6F}"/>
              </a:ext>
            </a:extLst>
          </p:cNvPr>
          <p:cNvSpPr>
            <a:spLocks xmlns:a="http://schemas.openxmlformats.org/drawingml/2006/main" noGrp="1"/>
          </p:cNvSpPr>
          <p:nvPr/>
        </p:nvSpPr>
        <p:spPr>
          <a:xfrm xmlns:a="http://schemas.openxmlformats.org/drawingml/2006/main">
            <a:off x="742950" y="3657600"/>
            <a:ext cx="209550" cy="209550"/>
          </a:xfrm>
          <a:prstGeom xmlns:a="http://schemas.openxmlformats.org/drawingml/2006/main" prst="ellipse">
            <a:avLst/>
          </a:prstGeom>
          <a:solidFill xmlns:a="http://schemas.openxmlformats.org/drawingml/2006/main">
            <a:srgbClr val="E6AE35"/>
          </a:solidFill>
          <a:ln xmlns:a="http://schemas.openxmlformats.org/drawingml/2006/main" w="19050">
            <a:solidFill>
              <a:srgbClr val="E6AE35"/>
            </a:solidFill>
            <a:prstDash val="solid"/>
          </a:ln>
        </p:spPr>
      </p:sp>
      <p:sp>
        <p:nvSpPr>
          <p:cNvPr id="10" name="">
            <a:extLst xmlns:a="http://schemas.openxmlformats.org/drawingml/2006/main">
              <a:ext uri="{FF2B5EF4-FFF2-40B4-BE49-F238E27FC236}">
                <a16:creationId xmlns:a16="http://schemas.microsoft.com/office/drawing/2014/main" id="{29F35B20-80D9-48D3-A29C-919F586F58E3}"/>
              </a:ext>
            </a:extLst>
          </p:cNvPr>
          <p:cNvSpPr>
            <a:spLocks xmlns:a="http://schemas.openxmlformats.org/drawingml/2006/main" noGrp="1"/>
          </p:cNvSpPr>
          <p:nvPr/>
        </p:nvSpPr>
        <p:spPr>
          <a:xfrm xmlns:a="http://schemas.openxmlformats.org/drawingml/2006/main">
            <a:off x="1123950" y="3467100"/>
            <a:ext cx="5381625" cy="800100"/>
          </a:xfrm>
          <a:prstGeom xmlns:a="http://schemas.openxmlformats.org/drawingml/2006/main" prst="roundRect">
            <a:avLst>
              <a:gd name="adj" fmla="val 14286"/>
            </a:avLst>
          </a:prstGeom>
          <a:noFill xmlns:a="http://schemas.openxmlformats.org/drawingml/2006/main"/>
          <a:ln xmlns:a="http://schemas.openxmlformats.org/drawingml/2006/main" w="0">
            <a:noFill/>
            <a:prstDash val="solid"/>
          </a:ln>
        </p:spPr>
        <p:txBody>
          <a:bodyPr xmlns:a="http://schemas.openxmlformats.org/drawingml/2006/main" lIns="0" tIns="19050" rIns="0" bIns="19050" anchor="ctr">
            <a:noAutofit/>
          </a:bodyPr>
          <a:lstStyle xmlns:a="http://schemas.openxmlformats.org/drawingml/2006/main"/>
          <a:p xmlns:a="http://schemas.openxmlformats.org/drawingml/2006/main">
            <a:pPr algn="l">
              <a:defRPr sz="1650" b="0">
                <a:solidFill>
                  <a:srgbClr val="243229"/>
                </a:solidFill>
              </a:defRPr>
            </a:pPr>
            <a:r>
              <a:rPr sz="1650" b="0">
                <a:solidFill>
                  <a:srgbClr val="243229"/>
                </a:solidFill>
              </a:rPr>
              <a:t>Check recipe details against the available evidence instead of relying on assumptions.</a:t>
            </a:r>
          </a:p>
        </p:txBody>
      </p:sp>
      <p:sp>
        <p:nvSpPr>
          <p:cNvPr id="11" name="">
            <a:extLst xmlns:a="http://schemas.openxmlformats.org/drawingml/2006/main">
              <a:ext uri="{FF2B5EF4-FFF2-40B4-BE49-F238E27FC236}">
                <a16:creationId xmlns:a16="http://schemas.microsoft.com/office/drawing/2014/main" id="{8DBCF3FC-CF47-4602-8E84-D2BB42295DA3}"/>
              </a:ext>
            </a:extLst>
          </p:cNvPr>
          <p:cNvSpPr>
            <a:spLocks xmlns:a="http://schemas.openxmlformats.org/drawingml/2006/main" noGrp="1"/>
          </p:cNvSpPr>
          <p:nvPr/>
        </p:nvSpPr>
        <p:spPr>
          <a:xfrm xmlns:a="http://schemas.openxmlformats.org/drawingml/2006/main">
            <a:off x="685800" y="4724400"/>
            <a:ext cx="5953125" cy="1352550"/>
          </a:xfrm>
          <a:prstGeom xmlns:a="http://schemas.openxmlformats.org/drawingml/2006/main" prst="roundRect">
            <a:avLst>
              <a:gd name="adj" fmla="val 11268"/>
            </a:avLst>
          </a:prstGeom>
          <a:solidFill xmlns:a="http://schemas.openxmlformats.org/drawingml/2006/main">
            <a:srgbClr val="DCEEE2"/>
          </a:solidFill>
          <a:ln xmlns:a="http://schemas.openxmlformats.org/drawingml/2006/main" w="19050">
            <a:solidFill>
              <a:srgbClr val="D1DDD3"/>
            </a:solidFill>
            <a:prstDash val="solid"/>
          </a:ln>
        </p:spPr>
      </p:sp>
      <p:sp>
        <p:nvSpPr>
          <p:cNvPr id="12" name="">
            <a:extLst xmlns:a="http://schemas.openxmlformats.org/drawingml/2006/main">
              <a:ext uri="{FF2B5EF4-FFF2-40B4-BE49-F238E27FC236}">
                <a16:creationId xmlns:a16="http://schemas.microsoft.com/office/drawing/2014/main" id="{4A643BF6-7026-4194-9843-70EC4472C178}"/>
              </a:ext>
            </a:extLst>
          </p:cNvPr>
          <p:cNvSpPr>
            <a:spLocks xmlns:a="http://schemas.openxmlformats.org/drawingml/2006/main" noGrp="1"/>
          </p:cNvSpPr>
          <p:nvPr/>
        </p:nvSpPr>
        <p:spPr>
          <a:xfrm xmlns:a="http://schemas.openxmlformats.org/drawingml/2006/main">
            <a:off x="933450" y="4943475"/>
            <a:ext cx="16192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C9493E"/>
                </a:solidFill>
              </a:defRPr>
            </a:pPr>
            <a:r>
              <a:rPr sz="1125" b="1">
                <a:solidFill>
                  <a:srgbClr val="C9493E"/>
                </a:solidFill>
              </a:rPr>
              <a:t>USE THE IDEA</a:t>
            </a:r>
          </a:p>
        </p:txBody>
      </p:sp>
      <p:sp>
        <p:nvSpPr>
          <p:cNvPr id="13" name="">
            <a:extLst xmlns:a="http://schemas.openxmlformats.org/drawingml/2006/main">
              <a:ext uri="{FF2B5EF4-FFF2-40B4-BE49-F238E27FC236}">
                <a16:creationId xmlns:a16="http://schemas.microsoft.com/office/drawing/2014/main" id="{C9C1FF92-0DA7-4C56-AE53-6FFE1B1FAA09}"/>
              </a:ext>
            </a:extLst>
          </p:cNvPr>
          <p:cNvSpPr>
            <a:spLocks xmlns:a="http://schemas.openxmlformats.org/drawingml/2006/main" noGrp="1"/>
          </p:cNvSpPr>
          <p:nvPr/>
        </p:nvSpPr>
        <p:spPr>
          <a:xfrm xmlns:a="http://schemas.openxmlformats.org/drawingml/2006/main">
            <a:off x="933450" y="5238750"/>
            <a:ext cx="5391150" cy="685800"/>
          </a:xfrm>
          <a:prstGeom xmlns:a="http://schemas.openxmlformats.org/drawingml/2006/main" prst="roundRect">
            <a:avLst>
              <a:gd name="adj" fmla="val 1666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4936"/>
                </a:solidFill>
              </a:defRPr>
            </a:pPr>
            <a:r>
              <a:rPr sz="1350" b="1">
                <a:solidFill>
                  <a:srgbClr val="174936"/>
                </a:solidFill>
              </a:rPr>
              <a:t>Select one evidenced party recipe option and annotate its ingredients and method.</a:t>
            </a:r>
          </a:p>
        </p:txBody>
      </p:sp>
      <p:sp>
        <p:nvSpPr>
          <p:cNvPr id="14" name="">
            <a:extLst xmlns:a="http://schemas.openxmlformats.org/drawingml/2006/main">
              <a:ext uri="{FF2B5EF4-FFF2-40B4-BE49-F238E27FC236}">
                <a16:creationId xmlns:a16="http://schemas.microsoft.com/office/drawing/2014/main" id="{8C5C0DA2-CB11-491D-9F00-3AF6437E5333}"/>
              </a:ext>
            </a:extLst>
          </p:cNvPr>
          <p:cNvSpPr>
            <a:spLocks xmlns:a="http://schemas.openxmlformats.org/drawingml/2006/main" noGrp="1"/>
          </p:cNvSpPr>
          <p:nvPr/>
        </p:nvSpPr>
        <p:spPr>
          <a:xfrm xmlns:a="http://schemas.openxmlformats.org/drawingml/2006/main">
            <a:off x="8972550" y="3000375"/>
            <a:ext cx="552450" cy="400050"/>
          </a:xfrm>
          <a:prstGeom xmlns:a="http://schemas.openxmlformats.org/drawingml/2006/main" prst="roundRect">
            <a:avLst>
              <a:gd name="adj" fmla="val 28571"/>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550" b="1">
                <a:solidFill>
                  <a:srgbClr val="C9493E"/>
                </a:solidFill>
              </a:defRPr>
            </a:pPr>
            <a:r>
              <a:rPr sz="2550" b="1">
                <a:solidFill>
                  <a:srgbClr val="C9493E"/>
                </a:solidFill>
              </a:rPr>
              <a:t>↓</a:t>
            </a:r>
          </a:p>
        </p:txBody>
      </p:sp>
      <p:sp>
        <p:nvSpPr>
          <p:cNvPr id="15" name="">
            <a:extLst xmlns:a="http://schemas.openxmlformats.org/drawingml/2006/main">
              <a:ext uri="{FF2B5EF4-FFF2-40B4-BE49-F238E27FC236}">
                <a16:creationId xmlns:a16="http://schemas.microsoft.com/office/drawing/2014/main" id="{3484891A-2A08-4B77-92BA-258AAF80F50A}"/>
              </a:ext>
            </a:extLst>
          </p:cNvPr>
          <p:cNvSpPr>
            <a:spLocks xmlns:a="http://schemas.openxmlformats.org/drawingml/2006/main" noGrp="1"/>
          </p:cNvSpPr>
          <p:nvPr/>
        </p:nvSpPr>
        <p:spPr>
          <a:xfrm xmlns:a="http://schemas.openxmlformats.org/drawingml/2006/main">
            <a:off x="8972550" y="4010025"/>
            <a:ext cx="552450" cy="400050"/>
          </a:xfrm>
          <a:prstGeom xmlns:a="http://schemas.openxmlformats.org/drawingml/2006/main" prst="roundRect">
            <a:avLst>
              <a:gd name="adj" fmla="val 28571"/>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550" b="1">
                <a:solidFill>
                  <a:srgbClr val="C9493E"/>
                </a:solidFill>
              </a:defRPr>
            </a:pPr>
            <a:r>
              <a:rPr sz="2550" b="1">
                <a:solidFill>
                  <a:srgbClr val="C9493E"/>
                </a:solidFill>
              </a:rPr>
              <a:t>↓</a:t>
            </a:r>
          </a:p>
        </p:txBody>
      </p:sp>
      <p:sp>
        <p:nvSpPr>
          <p:cNvPr id="16" name="">
            <a:extLst xmlns:a="http://schemas.openxmlformats.org/drawingml/2006/main">
              <a:ext uri="{FF2B5EF4-FFF2-40B4-BE49-F238E27FC236}">
                <a16:creationId xmlns:a16="http://schemas.microsoft.com/office/drawing/2014/main" id="{3A60D092-186B-4962-8117-54DD5B950FC5}"/>
              </a:ext>
            </a:extLst>
          </p:cNvPr>
          <p:cNvSpPr>
            <a:spLocks xmlns:a="http://schemas.openxmlformats.org/drawingml/2006/main" noGrp="1"/>
          </p:cNvSpPr>
          <p:nvPr/>
        </p:nvSpPr>
        <p:spPr>
          <a:xfrm xmlns:a="http://schemas.openxmlformats.org/drawingml/2006/main">
            <a:off x="7410450" y="2209800"/>
            <a:ext cx="36766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9050">
            <a:solidFill>
              <a:srgbClr val="C9493E"/>
            </a:solidFill>
            <a:prstDash val="solid"/>
          </a:ln>
        </p:spPr>
      </p:sp>
      <p:sp>
        <p:nvSpPr>
          <p:cNvPr id="17" name="">
            <a:extLst xmlns:a="http://schemas.openxmlformats.org/drawingml/2006/main">
              <a:ext uri="{FF2B5EF4-FFF2-40B4-BE49-F238E27FC236}">
                <a16:creationId xmlns:a16="http://schemas.microsoft.com/office/drawing/2014/main" id="{6A371C66-A875-4146-B0C8-E560CBD8011A}"/>
              </a:ext>
            </a:extLst>
          </p:cNvPr>
          <p:cNvSpPr>
            <a:spLocks xmlns:a="http://schemas.openxmlformats.org/drawingml/2006/main" noGrp="1"/>
          </p:cNvSpPr>
          <p:nvPr/>
        </p:nvSpPr>
        <p:spPr>
          <a:xfrm xmlns:a="http://schemas.openxmlformats.org/drawingml/2006/main">
            <a:off x="7562850" y="2381250"/>
            <a:ext cx="400050" cy="400050"/>
          </a:xfrm>
          <a:prstGeom xmlns:a="http://schemas.openxmlformats.org/drawingml/2006/main" prst="roundRect">
            <a:avLst>
              <a:gd name="adj" fmla="val 50000"/>
            </a:avLst>
          </a:prstGeom>
          <a:solidFill xmlns:a="http://schemas.openxmlformats.org/drawingml/2006/main">
            <a:srgbClr val="C9493E"/>
          </a:solidFill>
          <a:ln xmlns:a="http://schemas.openxmlformats.org/drawingml/2006/main" w="9525">
            <a:solidFill>
              <a:srgbClr val="C9493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FFFF"/>
                </a:solidFill>
              </a:defRPr>
            </a:pPr>
            <a:r>
              <a:rPr sz="1500" b="1">
                <a:solidFill>
                  <a:srgbClr val="FFFFFF"/>
                </a:solidFill>
              </a:rPr>
              <a:t>1</a:t>
            </a:r>
          </a:p>
        </p:txBody>
      </p:sp>
      <p:sp>
        <p:nvSpPr>
          <p:cNvPr id="18" name="">
            <a:extLst xmlns:a="http://schemas.openxmlformats.org/drawingml/2006/main">
              <a:ext uri="{FF2B5EF4-FFF2-40B4-BE49-F238E27FC236}">
                <a16:creationId xmlns:a16="http://schemas.microsoft.com/office/drawing/2014/main" id="{C17A0EDB-9F3C-4F7E-939C-20FDEA37E940}"/>
              </a:ext>
            </a:extLst>
          </p:cNvPr>
          <p:cNvSpPr>
            <a:spLocks xmlns:a="http://schemas.openxmlformats.org/drawingml/2006/main" noGrp="1"/>
          </p:cNvSpPr>
          <p:nvPr/>
        </p:nvSpPr>
        <p:spPr>
          <a:xfrm xmlns:a="http://schemas.openxmlformats.org/drawingml/2006/main">
            <a:off x="8077200" y="2352675"/>
            <a:ext cx="3048000" cy="476250"/>
          </a:xfrm>
          <a:prstGeom xmlns:a="http://schemas.openxmlformats.org/drawingml/2006/main" prst="roundRect">
            <a:avLst>
              <a:gd name="adj" fmla="val 24000"/>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defRPr sz="1575" b="1">
                <a:solidFill>
                  <a:srgbClr val="243229"/>
                </a:solidFill>
              </a:defRPr>
            </a:pPr>
            <a:r>
              <a:rPr sz="1575" b="1">
                <a:solidFill>
                  <a:srgbClr val="243229"/>
                </a:solidFill>
              </a:rPr>
              <a:t>Use selection lenses</a:t>
            </a:r>
          </a:p>
        </p:txBody>
      </p:sp>
      <p:sp>
        <p:nvSpPr>
          <p:cNvPr id="19" name="">
            <a:extLst xmlns:a="http://schemas.openxmlformats.org/drawingml/2006/main">
              <a:ext uri="{FF2B5EF4-FFF2-40B4-BE49-F238E27FC236}">
                <a16:creationId xmlns:a16="http://schemas.microsoft.com/office/drawing/2014/main" id="{336FDF94-F028-41F3-BE98-C59AEF20D994}"/>
              </a:ext>
            </a:extLst>
          </p:cNvPr>
          <p:cNvSpPr>
            <a:spLocks xmlns:a="http://schemas.openxmlformats.org/drawingml/2006/main" noGrp="1"/>
          </p:cNvSpPr>
          <p:nvPr/>
        </p:nvSpPr>
        <p:spPr>
          <a:xfrm xmlns:a="http://schemas.openxmlformats.org/drawingml/2006/main">
            <a:off x="7410450" y="3219450"/>
            <a:ext cx="3676650" cy="742950"/>
          </a:xfrm>
          <a:prstGeom xmlns:a="http://schemas.openxmlformats.org/drawingml/2006/main" prst="roundRect">
            <a:avLst>
              <a:gd name="adj" fmla="val 15385"/>
            </a:avLst>
          </a:prstGeom>
          <a:solidFill xmlns:a="http://schemas.openxmlformats.org/drawingml/2006/main">
            <a:srgbClr val="DCEEE2"/>
          </a:solidFill>
          <a:ln xmlns:a="http://schemas.openxmlformats.org/drawingml/2006/main" w="19050">
            <a:solidFill>
              <a:srgbClr val="C9493E"/>
            </a:solidFill>
            <a:prstDash val="solid"/>
          </a:ln>
        </p:spPr>
      </p:sp>
      <p:sp>
        <p:nvSpPr>
          <p:cNvPr id="20" name="">
            <a:extLst xmlns:a="http://schemas.openxmlformats.org/drawingml/2006/main">
              <a:ext uri="{FF2B5EF4-FFF2-40B4-BE49-F238E27FC236}">
                <a16:creationId xmlns:a16="http://schemas.microsoft.com/office/drawing/2014/main" id="{570EDC0C-1049-4961-970C-6D5CEDCACC12}"/>
              </a:ext>
            </a:extLst>
          </p:cNvPr>
          <p:cNvSpPr>
            <a:spLocks xmlns:a="http://schemas.openxmlformats.org/drawingml/2006/main" noGrp="1"/>
          </p:cNvSpPr>
          <p:nvPr/>
        </p:nvSpPr>
        <p:spPr>
          <a:xfrm xmlns:a="http://schemas.openxmlformats.org/drawingml/2006/main">
            <a:off x="7562850" y="3390900"/>
            <a:ext cx="400050" cy="400050"/>
          </a:xfrm>
          <a:prstGeom xmlns:a="http://schemas.openxmlformats.org/drawingml/2006/main" prst="roundRect">
            <a:avLst>
              <a:gd name="adj" fmla="val 50000"/>
            </a:avLst>
          </a:prstGeom>
          <a:solidFill xmlns:a="http://schemas.openxmlformats.org/drawingml/2006/main">
            <a:srgbClr val="C9493E"/>
          </a:solidFill>
          <a:ln xmlns:a="http://schemas.openxmlformats.org/drawingml/2006/main" w="9525">
            <a:solidFill>
              <a:srgbClr val="C9493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FFFF"/>
                </a:solidFill>
              </a:defRPr>
            </a:pPr>
            <a:r>
              <a:rPr sz="1500" b="1">
                <a:solidFill>
                  <a:srgbClr val="FFFFFF"/>
                </a:solidFill>
              </a:rPr>
              <a:t>2</a:t>
            </a:r>
          </a:p>
        </p:txBody>
      </p:sp>
      <p:sp>
        <p:nvSpPr>
          <p:cNvPr id="21" name="">
            <a:extLst xmlns:a="http://schemas.openxmlformats.org/drawingml/2006/main">
              <a:ext uri="{FF2B5EF4-FFF2-40B4-BE49-F238E27FC236}">
                <a16:creationId xmlns:a16="http://schemas.microsoft.com/office/drawing/2014/main" id="{F1C42A20-8AE6-4AF4-9200-3F854B6AC6E8}"/>
              </a:ext>
            </a:extLst>
          </p:cNvPr>
          <p:cNvSpPr>
            <a:spLocks xmlns:a="http://schemas.openxmlformats.org/drawingml/2006/main" noGrp="1"/>
          </p:cNvSpPr>
          <p:nvPr/>
        </p:nvSpPr>
        <p:spPr>
          <a:xfrm xmlns:a="http://schemas.openxmlformats.org/drawingml/2006/main">
            <a:off x="8077200" y="3362325"/>
            <a:ext cx="3048000" cy="476250"/>
          </a:xfrm>
          <a:prstGeom xmlns:a="http://schemas.openxmlformats.org/drawingml/2006/main" prst="roundRect">
            <a:avLst>
              <a:gd name="adj" fmla="val 24000"/>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defRPr sz="1575" b="1">
                <a:solidFill>
                  <a:srgbClr val="243229"/>
                </a:solidFill>
              </a:defRPr>
            </a:pPr>
            <a:r>
              <a:rPr sz="1575" b="1">
                <a:solidFill>
                  <a:srgbClr val="243229"/>
                </a:solidFill>
              </a:rPr>
              <a:t>Turn the method into an equipment…</a:t>
            </a:r>
          </a:p>
        </p:txBody>
      </p:sp>
      <p:sp>
        <p:nvSpPr>
          <p:cNvPr id="22" name="">
            <a:extLst xmlns:a="http://schemas.openxmlformats.org/drawingml/2006/main">
              <a:ext uri="{FF2B5EF4-FFF2-40B4-BE49-F238E27FC236}">
                <a16:creationId xmlns:a16="http://schemas.microsoft.com/office/drawing/2014/main" id="{FD666A50-2A29-48BE-A8B5-07C00B8B6F9D}"/>
              </a:ext>
            </a:extLst>
          </p:cNvPr>
          <p:cNvSpPr>
            <a:spLocks xmlns:a="http://schemas.openxmlformats.org/drawingml/2006/main" noGrp="1"/>
          </p:cNvSpPr>
          <p:nvPr/>
        </p:nvSpPr>
        <p:spPr>
          <a:xfrm xmlns:a="http://schemas.openxmlformats.org/drawingml/2006/main">
            <a:off x="7410450" y="4229100"/>
            <a:ext cx="36766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9050">
            <a:solidFill>
              <a:srgbClr val="C9493E"/>
            </a:solidFill>
            <a:prstDash val="solid"/>
          </a:ln>
        </p:spPr>
      </p:sp>
      <p:sp>
        <p:nvSpPr>
          <p:cNvPr id="23" name="">
            <a:extLst xmlns:a="http://schemas.openxmlformats.org/drawingml/2006/main">
              <a:ext uri="{FF2B5EF4-FFF2-40B4-BE49-F238E27FC236}">
                <a16:creationId xmlns:a16="http://schemas.microsoft.com/office/drawing/2014/main" id="{93E43906-01EB-46B8-B2F7-D90A2CB70C2E}"/>
              </a:ext>
            </a:extLst>
          </p:cNvPr>
          <p:cNvSpPr>
            <a:spLocks xmlns:a="http://schemas.openxmlformats.org/drawingml/2006/main" noGrp="1"/>
          </p:cNvSpPr>
          <p:nvPr/>
        </p:nvSpPr>
        <p:spPr>
          <a:xfrm xmlns:a="http://schemas.openxmlformats.org/drawingml/2006/main">
            <a:off x="7562850" y="4400550"/>
            <a:ext cx="400050" cy="400050"/>
          </a:xfrm>
          <a:prstGeom xmlns:a="http://schemas.openxmlformats.org/drawingml/2006/main" prst="roundRect">
            <a:avLst>
              <a:gd name="adj" fmla="val 50000"/>
            </a:avLst>
          </a:prstGeom>
          <a:solidFill xmlns:a="http://schemas.openxmlformats.org/drawingml/2006/main">
            <a:srgbClr val="C9493E"/>
          </a:solidFill>
          <a:ln xmlns:a="http://schemas.openxmlformats.org/drawingml/2006/main" w="9525">
            <a:solidFill>
              <a:srgbClr val="C9493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FFFF"/>
                </a:solidFill>
              </a:defRPr>
            </a:pPr>
            <a:r>
              <a:rPr sz="1500" b="1">
                <a:solidFill>
                  <a:srgbClr val="FFFFFF"/>
                </a:solidFill>
              </a:rPr>
              <a:t>3</a:t>
            </a:r>
          </a:p>
        </p:txBody>
      </p:sp>
      <p:sp>
        <p:nvSpPr>
          <p:cNvPr id="24" name="">
            <a:extLst xmlns:a="http://schemas.openxmlformats.org/drawingml/2006/main">
              <a:ext uri="{FF2B5EF4-FFF2-40B4-BE49-F238E27FC236}">
                <a16:creationId xmlns:a16="http://schemas.microsoft.com/office/drawing/2014/main" id="{068C4680-805A-4684-81A0-78B90AE4B822}"/>
              </a:ext>
            </a:extLst>
          </p:cNvPr>
          <p:cNvSpPr>
            <a:spLocks xmlns:a="http://schemas.openxmlformats.org/drawingml/2006/main" noGrp="1"/>
          </p:cNvSpPr>
          <p:nvPr/>
        </p:nvSpPr>
        <p:spPr>
          <a:xfrm xmlns:a="http://schemas.openxmlformats.org/drawingml/2006/main">
            <a:off x="8077200" y="4371975"/>
            <a:ext cx="3048000" cy="476250"/>
          </a:xfrm>
          <a:prstGeom xmlns:a="http://schemas.openxmlformats.org/drawingml/2006/main" prst="roundRect">
            <a:avLst>
              <a:gd name="adj" fmla="val 24000"/>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defRPr sz="1575" b="1">
                <a:solidFill>
                  <a:srgbClr val="243229"/>
                </a:solidFill>
              </a:defRPr>
            </a:pPr>
            <a:r>
              <a:rPr sz="1575" b="1">
                <a:solidFill>
                  <a:srgbClr val="243229"/>
                </a:solidFill>
              </a:rPr>
              <a:t>Justify the recipe choice</a:t>
            </a:r>
          </a:p>
        </p:txBody>
      </p:sp>
      <p:sp>
        <p:nvSpPr>
          <p:cNvPr id="25" name="">
            <a:extLst xmlns:a="http://schemas.openxmlformats.org/drawingml/2006/main">
              <a:ext uri="{FF2B5EF4-FFF2-40B4-BE49-F238E27FC236}">
                <a16:creationId xmlns:a16="http://schemas.microsoft.com/office/drawing/2014/main" id="{D2ED3C40-481D-45E4-94B5-8B9C82777A28}"/>
              </a:ext>
            </a:extLst>
          </p:cNvPr>
          <p:cNvSpPr>
            <a:spLocks xmlns:a="http://schemas.openxmlformats.org/drawingml/2006/main" noGrp="1"/>
          </p:cNvSpPr>
          <p:nvPr/>
        </p:nvSpPr>
        <p:spPr>
          <a:xfrm xmlns:a="http://schemas.openxmlformats.org/drawingml/2006/main">
            <a:off x="7191375" y="5486400"/>
            <a:ext cx="4105275"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9050">
            <a:solidFill>
              <a:srgbClr val="D1DDD3"/>
            </a:solidFill>
            <a:prstDash val="solid"/>
          </a:ln>
        </p:spPr>
      </p:sp>
      <p:sp>
        <p:nvSpPr>
          <p:cNvPr id="26" name="">
            <a:extLst xmlns:a="http://schemas.openxmlformats.org/drawingml/2006/main">
              <a:ext uri="{FF2B5EF4-FFF2-40B4-BE49-F238E27FC236}">
                <a16:creationId xmlns:a16="http://schemas.microsoft.com/office/drawing/2014/main" id="{F72B8AFD-9E40-42AF-A2BD-D1D6804D6425}"/>
              </a:ext>
            </a:extLst>
          </p:cNvPr>
          <p:cNvSpPr>
            <a:spLocks xmlns:a="http://schemas.openxmlformats.org/drawingml/2006/main" noGrp="1"/>
          </p:cNvSpPr>
          <p:nvPr/>
        </p:nvSpPr>
        <p:spPr>
          <a:xfrm xmlns:a="http://schemas.openxmlformats.org/drawingml/2006/main">
            <a:off x="7353300" y="5610225"/>
            <a:ext cx="3781425" cy="381000"/>
          </a:xfrm>
          <a:prstGeom xmlns:a="http://schemas.openxmlformats.org/drawingml/2006/main" prst="roundRect">
            <a:avLst>
              <a:gd name="adj" fmla="val 30000"/>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4936"/>
                </a:solidFill>
              </a:defRPr>
            </a:pPr>
            <a:r>
              <a:rPr sz="1200" b="1">
                <a:solidFill>
                  <a:srgbClr val="174936"/>
                </a:solidFill>
              </a:rPr>
              <a:t>CHECK THE CLAIM: The best party recipe is simply the one that looks most impressive.</a:t>
            </a:r>
          </a:p>
        </p:txBody>
      </p:sp>
    </p:spTree>
    <p:extLst>
      <p:ext uri="{BB962C8B-B14F-4D97-AF65-F5344CB8AC3E}">
        <p14:creationId xmlns:p14="http://schemas.microsoft.com/office/powerpoint/2010/main" val="33464177"/>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A2C4024-5A18-405D-9358-A326B4F6E13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6A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236848-509F-452E-8520-BC1DFB656F66}"/>
              </a:ext>
            </a:extLst>
          </p:cNvPr>
          <p:cNvSpPr>
            <a:spLocks xmlns:a="http://schemas.openxmlformats.org/drawingml/2006/main" noGrp="1"/>
          </p:cNvSpPr>
          <p:nvPr/>
        </p:nvSpPr>
        <p:spPr>
          <a:xfrm xmlns:a="http://schemas.openxmlformats.org/drawingml/2006/main">
            <a:off x="685800" y="6438900"/>
            <a:ext cx="5715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D6D63"/>
                </a:solidFill>
              </a:defRPr>
            </a:pPr>
            <a:r>
              <a:rPr sz="1050" b="1">
                <a:solidFill>
                  <a:srgbClr val="5D6D63"/>
                </a:solidFill>
              </a:rPr>
              <a:t>MODULE 09 · YEAR 8 FOOD TECHNOLOGY</a:t>
            </a:r>
          </a:p>
        </p:txBody>
      </p:sp>
      <p:sp>
        <p:nvSpPr>
          <p:cNvPr id="3" name="">
            <a:extLst xmlns:a="http://schemas.openxmlformats.org/drawingml/2006/main">
              <a:ext uri="{FF2B5EF4-FFF2-40B4-BE49-F238E27FC236}">
                <a16:creationId xmlns:a16="http://schemas.microsoft.com/office/drawing/2014/main" id="{41685333-1AA6-4235-A7CB-701AFDD22723}"/>
              </a:ext>
            </a:extLst>
          </p:cNvPr>
          <p:cNvSpPr>
            <a:spLocks xmlns:a="http://schemas.openxmlformats.org/drawingml/2006/main" noGrp="1"/>
          </p:cNvSpPr>
          <p:nvPr/>
        </p:nvSpPr>
        <p:spPr>
          <a:xfrm xmlns:a="http://schemas.openxmlformats.org/drawingml/2006/main">
            <a:off x="10953750" y="6438900"/>
            <a:ext cx="5524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9493E"/>
                </a:solidFill>
              </a:defRPr>
            </a:pPr>
            <a:r>
              <a:rPr sz="1050" b="1">
                <a:solidFill>
                  <a:srgbClr val="C9493E"/>
                </a:solidFill>
              </a:rPr>
              <a:t>04</a:t>
            </a:r>
          </a:p>
        </p:txBody>
      </p:sp>
      <p:sp>
        <p:nvSpPr>
          <p:cNvPr id="4" name="">
            <a:extLst xmlns:a="http://schemas.openxmlformats.org/drawingml/2006/main">
              <a:ext uri="{FF2B5EF4-FFF2-40B4-BE49-F238E27FC236}">
                <a16:creationId xmlns:a16="http://schemas.microsoft.com/office/drawing/2014/main" id="{85DE5E0A-07CC-4C1C-9F44-74B532DE793B}"/>
              </a:ext>
            </a:extLst>
          </p:cNvPr>
          <p:cNvSpPr>
            <a:spLocks xmlns:a="http://schemas.openxmlformats.org/drawingml/2006/main" noGrp="1"/>
          </p:cNvSpPr>
          <p:nvPr/>
        </p:nvSpPr>
        <p:spPr>
          <a:xfrm xmlns:a="http://schemas.openxmlformats.org/drawingml/2006/main">
            <a:off x="685800" y="495300"/>
            <a:ext cx="8572500" cy="285750"/>
          </a:xfrm>
          <a:prstGeom xmlns:a="http://schemas.openxmlformats.org/drawingml/2006/main" prst="roundRect">
            <a:avLst>
              <a:gd name="adj" fmla="val 4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E6AE35"/>
                </a:solidFill>
              </a:defRPr>
            </a:pPr>
            <a:r>
              <a:rPr sz="1200" b="1">
                <a:solidFill>
                  <a:srgbClr val="E6AE35"/>
                </a:solidFill>
              </a:rPr>
              <a:t>9.2 · WORKFLOW AND COLLABORATION</a:t>
            </a:r>
          </a:p>
        </p:txBody>
      </p:sp>
      <p:sp>
        <p:nvSpPr>
          <p:cNvPr id="5" name="">
            <a:extLst xmlns:a="http://schemas.openxmlformats.org/drawingml/2006/main">
              <a:ext uri="{FF2B5EF4-FFF2-40B4-BE49-F238E27FC236}">
                <a16:creationId xmlns:a16="http://schemas.microsoft.com/office/drawing/2014/main" id="{4190E785-A574-44B6-87E5-59946C2D104B}"/>
              </a:ext>
            </a:extLst>
          </p:cNvPr>
          <p:cNvSpPr>
            <a:spLocks xmlns:a="http://schemas.openxmlformats.org/drawingml/2006/main" noGrp="1"/>
          </p:cNvSpPr>
          <p:nvPr/>
        </p:nvSpPr>
        <p:spPr>
          <a:xfrm xmlns:a="http://schemas.openxmlformats.org/drawingml/2006/main">
            <a:off x="685800" y="981075"/>
            <a:ext cx="6238875" cy="619125"/>
          </a:xfrm>
          <a:prstGeom xmlns:a="http://schemas.openxmlformats.org/drawingml/2006/main" prst="roundRect">
            <a:avLst>
              <a:gd name="adj" fmla="val 18462"/>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74936"/>
                </a:solidFill>
              </a:defRPr>
            </a:pPr>
            <a:r>
              <a:rPr sz="3000" b="1">
                <a:solidFill>
                  <a:srgbClr val="174936"/>
                </a:solidFill>
              </a:rPr>
              <a:t>Workflow and collaboration</a:t>
            </a:r>
          </a:p>
        </p:txBody>
      </p:sp>
      <p:sp>
        <p:nvSpPr>
          <p:cNvPr id="6" name="">
            <a:extLst xmlns:a="http://schemas.openxmlformats.org/drawingml/2006/main">
              <a:ext uri="{FF2B5EF4-FFF2-40B4-BE49-F238E27FC236}">
                <a16:creationId xmlns:a16="http://schemas.microsoft.com/office/drawing/2014/main" id="{371D3533-AFDF-4057-B5D9-DEDCE9D60AAD}"/>
              </a:ext>
            </a:extLst>
          </p:cNvPr>
          <p:cNvSpPr>
            <a:spLocks xmlns:a="http://schemas.openxmlformats.org/drawingml/2006/main" noGrp="1"/>
          </p:cNvSpPr>
          <p:nvPr/>
        </p:nvSpPr>
        <p:spPr>
          <a:xfrm xmlns:a="http://schemas.openxmlformats.org/drawingml/2006/main">
            <a:off x="685800" y="1657350"/>
            <a:ext cx="5953125"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5D6D63"/>
                </a:solidFill>
              </a:defRPr>
            </a:pPr>
            <a:r>
              <a:rPr sz="1575" b="1">
                <a:solidFill>
                  <a:srgbClr val="5D6D63"/>
                </a:solidFill>
              </a:rPr>
              <a:t>Develop students' ability to plan an efficient food-production workflow and collaborate fairly and clearly during practical work.</a:t>
            </a:r>
          </a:p>
        </p:txBody>
      </p:sp>
      <p:sp>
        <p:nvSpPr>
          <p:cNvPr id="7" name="">
            <a:extLst xmlns:a="http://schemas.openxmlformats.org/drawingml/2006/main">
              <a:ext uri="{FF2B5EF4-FFF2-40B4-BE49-F238E27FC236}">
                <a16:creationId xmlns:a16="http://schemas.microsoft.com/office/drawing/2014/main" id="{14BBF3F6-E1AC-465F-A8D4-2480775B4E0D}"/>
              </a:ext>
            </a:extLst>
          </p:cNvPr>
          <p:cNvSpPr>
            <a:spLocks xmlns:a="http://schemas.openxmlformats.org/drawingml/2006/main" noGrp="1"/>
          </p:cNvSpPr>
          <p:nvPr/>
        </p:nvSpPr>
        <p:spPr>
          <a:xfrm xmlns:a="http://schemas.openxmlformats.org/drawingml/2006/main">
            <a:off x="742950" y="2590800"/>
            <a:ext cx="209550" cy="209550"/>
          </a:xfrm>
          <a:prstGeom xmlns:a="http://schemas.openxmlformats.org/drawingml/2006/main" prst="ellipse">
            <a:avLst/>
          </a:prstGeom>
          <a:solidFill xmlns:a="http://schemas.openxmlformats.org/drawingml/2006/main">
            <a:srgbClr val="C9493E"/>
          </a:solidFill>
          <a:ln xmlns:a="http://schemas.openxmlformats.org/drawingml/2006/main" w="19050">
            <a:solidFill>
              <a:srgbClr val="C9493E"/>
            </a:solidFill>
            <a:prstDash val="solid"/>
          </a:ln>
        </p:spPr>
      </p:sp>
      <p:sp>
        <p:nvSpPr>
          <p:cNvPr id="8" name="">
            <a:extLst xmlns:a="http://schemas.openxmlformats.org/drawingml/2006/main">
              <a:ext uri="{FF2B5EF4-FFF2-40B4-BE49-F238E27FC236}">
                <a16:creationId xmlns:a16="http://schemas.microsoft.com/office/drawing/2014/main" id="{64925A33-3AB0-4AF0-AFAA-0C77F8BA0ABF}"/>
              </a:ext>
            </a:extLst>
          </p:cNvPr>
          <p:cNvSpPr>
            <a:spLocks xmlns:a="http://schemas.openxmlformats.org/drawingml/2006/main" noGrp="1"/>
          </p:cNvSpPr>
          <p:nvPr/>
        </p:nvSpPr>
        <p:spPr>
          <a:xfrm xmlns:a="http://schemas.openxmlformats.org/drawingml/2006/main">
            <a:off x="1123950" y="2400300"/>
            <a:ext cx="5381625" cy="800100"/>
          </a:xfrm>
          <a:prstGeom xmlns:a="http://schemas.openxmlformats.org/drawingml/2006/main" prst="roundRect">
            <a:avLst>
              <a:gd name="adj" fmla="val 14286"/>
            </a:avLst>
          </a:prstGeom>
          <a:noFill xmlns:a="http://schemas.openxmlformats.org/drawingml/2006/main"/>
          <a:ln xmlns:a="http://schemas.openxmlformats.org/drawingml/2006/main" w="0">
            <a:noFill/>
            <a:prstDash val="solid"/>
          </a:ln>
        </p:spPr>
        <p:txBody>
          <a:bodyPr xmlns:a="http://schemas.openxmlformats.org/drawingml/2006/main" lIns="0" tIns="19050" rIns="0" bIns="19050" anchor="ctr">
            <a:noAutofit/>
          </a:bodyPr>
          <a:lstStyle xmlns:a="http://schemas.openxmlformats.org/drawingml/2006/main"/>
          <a:p xmlns:a="http://schemas.openxmlformats.org/drawingml/2006/main">
            <a:pPr algn="l">
              <a:defRPr sz="1650" b="0">
                <a:solidFill>
                  <a:srgbClr val="243229"/>
                </a:solidFill>
              </a:defRPr>
            </a:pPr>
            <a:r>
              <a:rPr sz="1650" b="0">
                <a:solidFill>
                  <a:srgbClr val="243229"/>
                </a:solidFill>
              </a:rPr>
              <a:t>A workflow plan records tasks, order, estimated duration, dependencies, checkpoints and clean-as-you-go actions.</a:t>
            </a:r>
          </a:p>
        </p:txBody>
      </p:sp>
      <p:sp>
        <p:nvSpPr>
          <p:cNvPr id="9" name="">
            <a:extLst xmlns:a="http://schemas.openxmlformats.org/drawingml/2006/main">
              <a:ext uri="{FF2B5EF4-FFF2-40B4-BE49-F238E27FC236}">
                <a16:creationId xmlns:a16="http://schemas.microsoft.com/office/drawing/2014/main" id="{6CBBBBF4-2A9E-468A-9BB1-BA9849B5728C}"/>
              </a:ext>
            </a:extLst>
          </p:cNvPr>
          <p:cNvSpPr>
            <a:spLocks xmlns:a="http://schemas.openxmlformats.org/drawingml/2006/main" noGrp="1"/>
          </p:cNvSpPr>
          <p:nvPr/>
        </p:nvSpPr>
        <p:spPr>
          <a:xfrm xmlns:a="http://schemas.openxmlformats.org/drawingml/2006/main">
            <a:off x="742950" y="3657600"/>
            <a:ext cx="209550" cy="209550"/>
          </a:xfrm>
          <a:prstGeom xmlns:a="http://schemas.openxmlformats.org/drawingml/2006/main" prst="ellipse">
            <a:avLst/>
          </a:prstGeom>
          <a:solidFill xmlns:a="http://schemas.openxmlformats.org/drawingml/2006/main">
            <a:srgbClr val="E6AE35"/>
          </a:solidFill>
          <a:ln xmlns:a="http://schemas.openxmlformats.org/drawingml/2006/main" w="19050">
            <a:solidFill>
              <a:srgbClr val="E6AE35"/>
            </a:solidFill>
            <a:prstDash val="solid"/>
          </a:ln>
        </p:spPr>
      </p:sp>
      <p:sp>
        <p:nvSpPr>
          <p:cNvPr id="10" name="">
            <a:extLst xmlns:a="http://schemas.openxmlformats.org/drawingml/2006/main">
              <a:ext uri="{FF2B5EF4-FFF2-40B4-BE49-F238E27FC236}">
                <a16:creationId xmlns:a16="http://schemas.microsoft.com/office/drawing/2014/main" id="{8667D0CC-A22A-4404-BBC1-ADBB0D3AE149}"/>
              </a:ext>
            </a:extLst>
          </p:cNvPr>
          <p:cNvSpPr>
            <a:spLocks xmlns:a="http://schemas.openxmlformats.org/drawingml/2006/main" noGrp="1"/>
          </p:cNvSpPr>
          <p:nvPr/>
        </p:nvSpPr>
        <p:spPr>
          <a:xfrm xmlns:a="http://schemas.openxmlformats.org/drawingml/2006/main">
            <a:off x="1123950" y="3467100"/>
            <a:ext cx="5381625" cy="800100"/>
          </a:xfrm>
          <a:prstGeom xmlns:a="http://schemas.openxmlformats.org/drawingml/2006/main" prst="roundRect">
            <a:avLst>
              <a:gd name="adj" fmla="val 14286"/>
            </a:avLst>
          </a:prstGeom>
          <a:noFill xmlns:a="http://schemas.openxmlformats.org/drawingml/2006/main"/>
          <a:ln xmlns:a="http://schemas.openxmlformats.org/drawingml/2006/main" w="0">
            <a:noFill/>
            <a:prstDash val="solid"/>
          </a:ln>
        </p:spPr>
        <p:txBody>
          <a:bodyPr xmlns:a="http://schemas.openxmlformats.org/drawingml/2006/main" lIns="0" tIns="19050" rIns="0" bIns="19050" anchor="ctr">
            <a:noAutofit/>
          </a:bodyPr>
          <a:lstStyle xmlns:a="http://schemas.openxmlformats.org/drawingml/2006/main"/>
          <a:p xmlns:a="http://schemas.openxmlformats.org/drawingml/2006/main">
            <a:pPr algn="l">
              <a:defRPr sz="1650" b="0">
                <a:solidFill>
                  <a:srgbClr val="243229"/>
                </a:solidFill>
              </a:defRPr>
            </a:pPr>
            <a:r>
              <a:rPr sz="1650" b="0">
                <a:solidFill>
                  <a:srgbClr val="243229"/>
                </a:solidFill>
              </a:rPr>
              <a:t>Dependencies show which tasks rely on earlier steps and help prevent unrealistic sequencing.</a:t>
            </a:r>
          </a:p>
        </p:txBody>
      </p:sp>
      <p:sp>
        <p:nvSpPr>
          <p:cNvPr id="11" name="">
            <a:extLst xmlns:a="http://schemas.openxmlformats.org/drawingml/2006/main">
              <a:ext uri="{FF2B5EF4-FFF2-40B4-BE49-F238E27FC236}">
                <a16:creationId xmlns:a16="http://schemas.microsoft.com/office/drawing/2014/main" id="{EE7E18FF-54E9-44F4-A958-56C18DBDBA1A}"/>
              </a:ext>
            </a:extLst>
          </p:cNvPr>
          <p:cNvSpPr>
            <a:spLocks xmlns:a="http://schemas.openxmlformats.org/drawingml/2006/main" noGrp="1"/>
          </p:cNvSpPr>
          <p:nvPr/>
        </p:nvSpPr>
        <p:spPr>
          <a:xfrm xmlns:a="http://schemas.openxmlformats.org/drawingml/2006/main">
            <a:off x="685800" y="4724400"/>
            <a:ext cx="5953125" cy="1352550"/>
          </a:xfrm>
          <a:prstGeom xmlns:a="http://schemas.openxmlformats.org/drawingml/2006/main" prst="roundRect">
            <a:avLst>
              <a:gd name="adj" fmla="val 11268"/>
            </a:avLst>
          </a:prstGeom>
          <a:solidFill xmlns:a="http://schemas.openxmlformats.org/drawingml/2006/main">
            <a:srgbClr val="DCEEE2"/>
          </a:solidFill>
          <a:ln xmlns:a="http://schemas.openxmlformats.org/drawingml/2006/main" w="19050">
            <a:solidFill>
              <a:srgbClr val="D1DDD3"/>
            </a:solidFill>
            <a:prstDash val="solid"/>
          </a:ln>
        </p:spPr>
      </p:sp>
      <p:sp>
        <p:nvSpPr>
          <p:cNvPr id="12" name="">
            <a:extLst xmlns:a="http://schemas.openxmlformats.org/drawingml/2006/main">
              <a:ext uri="{FF2B5EF4-FFF2-40B4-BE49-F238E27FC236}">
                <a16:creationId xmlns:a16="http://schemas.microsoft.com/office/drawing/2014/main" id="{7602EADF-DDE9-48BF-9A6E-0AE9F362C038}"/>
              </a:ext>
            </a:extLst>
          </p:cNvPr>
          <p:cNvSpPr>
            <a:spLocks xmlns:a="http://schemas.openxmlformats.org/drawingml/2006/main" noGrp="1"/>
          </p:cNvSpPr>
          <p:nvPr/>
        </p:nvSpPr>
        <p:spPr>
          <a:xfrm xmlns:a="http://schemas.openxmlformats.org/drawingml/2006/main">
            <a:off x="933450" y="4943475"/>
            <a:ext cx="16192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E6AE35"/>
                </a:solidFill>
              </a:defRPr>
            </a:pPr>
            <a:r>
              <a:rPr sz="1125" b="1">
                <a:solidFill>
                  <a:srgbClr val="E6AE35"/>
                </a:solidFill>
              </a:rPr>
              <a:t>USE THE IDEA</a:t>
            </a:r>
          </a:p>
        </p:txBody>
      </p:sp>
      <p:sp>
        <p:nvSpPr>
          <p:cNvPr id="13" name="">
            <a:extLst xmlns:a="http://schemas.openxmlformats.org/drawingml/2006/main">
              <a:ext uri="{FF2B5EF4-FFF2-40B4-BE49-F238E27FC236}">
                <a16:creationId xmlns:a16="http://schemas.microsoft.com/office/drawing/2014/main" id="{A4BD7E49-B54D-4309-B337-517D01293431}"/>
              </a:ext>
            </a:extLst>
          </p:cNvPr>
          <p:cNvSpPr>
            <a:spLocks xmlns:a="http://schemas.openxmlformats.org/drawingml/2006/main" noGrp="1"/>
          </p:cNvSpPr>
          <p:nvPr/>
        </p:nvSpPr>
        <p:spPr>
          <a:xfrm xmlns:a="http://schemas.openxmlformats.org/drawingml/2006/main">
            <a:off x="933450" y="5238750"/>
            <a:ext cx="5391150" cy="685800"/>
          </a:xfrm>
          <a:prstGeom xmlns:a="http://schemas.openxmlformats.org/drawingml/2006/main" prst="roundRect">
            <a:avLst>
              <a:gd name="adj" fmla="val 1666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4936"/>
                </a:solidFill>
              </a:defRPr>
            </a:pPr>
            <a:r>
              <a:rPr sz="1350" b="1">
                <a:solidFill>
                  <a:srgbClr val="174936"/>
                </a:solidFill>
              </a:rPr>
              <a:t>Using an evidenced recipe, create a two-person workflow from preparation through presentation and cleaning.</a:t>
            </a:r>
          </a:p>
        </p:txBody>
      </p:sp>
      <p:sp>
        <p:nvSpPr>
          <p:cNvPr id="14" name="">
            <a:extLst xmlns:a="http://schemas.openxmlformats.org/drawingml/2006/main">
              <a:ext uri="{FF2B5EF4-FFF2-40B4-BE49-F238E27FC236}">
                <a16:creationId xmlns:a16="http://schemas.microsoft.com/office/drawing/2014/main" id="{D0300E94-EB1B-4E12-8AE6-5172B5B7349B}"/>
              </a:ext>
            </a:extLst>
          </p:cNvPr>
          <p:cNvSpPr>
            <a:spLocks xmlns:a="http://schemas.openxmlformats.org/drawingml/2006/main" noGrp="1"/>
          </p:cNvSpPr>
          <p:nvPr/>
        </p:nvSpPr>
        <p:spPr>
          <a:xfrm xmlns:a="http://schemas.openxmlformats.org/drawingml/2006/main">
            <a:off x="7105650" y="2381250"/>
            <a:ext cx="1257300" cy="2533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9050">
            <a:solidFill>
              <a:srgbClr val="E6AE35"/>
            </a:solidFill>
            <a:prstDash val="solid"/>
          </a:ln>
        </p:spPr>
      </p:sp>
      <p:sp>
        <p:nvSpPr>
          <p:cNvPr id="15" name="">
            <a:extLst xmlns:a="http://schemas.openxmlformats.org/drawingml/2006/main">
              <a:ext uri="{FF2B5EF4-FFF2-40B4-BE49-F238E27FC236}">
                <a16:creationId xmlns:a16="http://schemas.microsoft.com/office/drawing/2014/main" id="{AA485FDE-B98F-41A6-9259-E3D8536DA335}"/>
              </a:ext>
            </a:extLst>
          </p:cNvPr>
          <p:cNvSpPr>
            <a:spLocks xmlns:a="http://schemas.openxmlformats.org/drawingml/2006/main" noGrp="1"/>
          </p:cNvSpPr>
          <p:nvPr/>
        </p:nvSpPr>
        <p:spPr>
          <a:xfrm xmlns:a="http://schemas.openxmlformats.org/drawingml/2006/main">
            <a:off x="7505700" y="2590800"/>
            <a:ext cx="457200" cy="457200"/>
          </a:xfrm>
          <a:prstGeom xmlns:a="http://schemas.openxmlformats.org/drawingml/2006/main" prst="roundRect">
            <a:avLst>
              <a:gd name="adj" fmla="val 50000"/>
            </a:avLst>
          </a:prstGeom>
          <a:solidFill xmlns:a="http://schemas.openxmlformats.org/drawingml/2006/main">
            <a:srgbClr val="E6AE35"/>
          </a:solidFill>
          <a:ln xmlns:a="http://schemas.openxmlformats.org/drawingml/2006/main" w="9525">
            <a:solidFill>
              <a:srgbClr val="E6AE35"/>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defRPr>
            </a:pPr>
            <a:r>
              <a:rPr sz="1650" b="1">
                <a:solidFill>
                  <a:srgbClr val="FFFFFF"/>
                </a:solidFill>
              </a:rPr>
              <a:t>1</a:t>
            </a:r>
          </a:p>
        </p:txBody>
      </p:sp>
      <p:sp>
        <p:nvSpPr>
          <p:cNvPr id="16" name="">
            <a:extLst xmlns:a="http://schemas.openxmlformats.org/drawingml/2006/main">
              <a:ext uri="{FF2B5EF4-FFF2-40B4-BE49-F238E27FC236}">
                <a16:creationId xmlns:a16="http://schemas.microsoft.com/office/drawing/2014/main" id="{5F3EA3E6-27C2-49F7-8B00-92452D55ADC3}"/>
              </a:ext>
            </a:extLst>
          </p:cNvPr>
          <p:cNvSpPr>
            <a:spLocks xmlns:a="http://schemas.openxmlformats.org/drawingml/2006/main" noGrp="1"/>
          </p:cNvSpPr>
          <p:nvPr/>
        </p:nvSpPr>
        <p:spPr>
          <a:xfrm xmlns:a="http://schemas.openxmlformats.org/drawingml/2006/main">
            <a:off x="7153275" y="3238500"/>
            <a:ext cx="1162050" cy="1266825"/>
          </a:xfrm>
          <a:prstGeom xmlns:a="http://schemas.openxmlformats.org/drawingml/2006/main" prst="roundRect">
            <a:avLst>
              <a:gd name="adj" fmla="val 9836"/>
            </a:avLst>
          </a:prstGeom>
          <a:noFill xmlns:a="http://schemas.openxmlformats.org/drawingml/2006/main"/>
          <a:ln xmlns:a="http://schemas.openxmlformats.org/drawingml/2006/main" w="0">
            <a:noFill/>
            <a:prstDash val="solid"/>
          </a:ln>
        </p:spPr>
        <p:txBody>
          <a:bodyPr xmlns:a="http://schemas.openxmlformats.org/drawingml/2006/main" lIns="28575" tIns="38100" rIns="28575" bIns="38100" anchor="ctr">
            <a:noAutofit/>
          </a:bodyPr>
          <a:lstStyle xmlns:a="http://schemas.openxmlformats.org/drawingml/2006/main"/>
          <a:p xmlns:a="http://schemas.openxmlformats.org/drawingml/2006/main">
            <a:pPr algn="ctr">
              <a:defRPr sz="1275" b="1">
                <a:solidFill>
                  <a:srgbClr val="243229"/>
                </a:solidFill>
              </a:defRPr>
            </a:pPr>
            <a:r>
              <a:rPr sz="1275" b="1">
                <a:solidFill>
                  <a:srgbClr val="243229"/>
                </a:solidFill>
              </a:rPr>
              <a:t>Map the whole workflow</a:t>
            </a:r>
          </a:p>
        </p:txBody>
      </p:sp>
      <p:sp>
        <p:nvSpPr>
          <p:cNvPr id="17" name="">
            <a:extLst xmlns:a="http://schemas.openxmlformats.org/drawingml/2006/main">
              <a:ext uri="{FF2B5EF4-FFF2-40B4-BE49-F238E27FC236}">
                <a16:creationId xmlns:a16="http://schemas.microsoft.com/office/drawing/2014/main" id="{0DEA6291-FC09-47F2-9790-DC6A4ED4501C}"/>
              </a:ext>
            </a:extLst>
          </p:cNvPr>
          <p:cNvSpPr>
            <a:spLocks xmlns:a="http://schemas.openxmlformats.org/drawingml/2006/main" noGrp="1"/>
          </p:cNvSpPr>
          <p:nvPr/>
        </p:nvSpPr>
        <p:spPr>
          <a:xfrm xmlns:a="http://schemas.openxmlformats.org/drawingml/2006/main">
            <a:off x="8515350" y="2381250"/>
            <a:ext cx="1257300" cy="2533650"/>
          </a:xfrm>
          <a:prstGeom xmlns:a="http://schemas.openxmlformats.org/drawingml/2006/main" prst="roundRect">
            <a:avLst>
              <a:gd name="adj" fmla="val 12121"/>
            </a:avLst>
          </a:prstGeom>
          <a:solidFill xmlns:a="http://schemas.openxmlformats.org/drawingml/2006/main">
            <a:srgbClr val="DCEEE2"/>
          </a:solidFill>
          <a:ln xmlns:a="http://schemas.openxmlformats.org/drawingml/2006/main" w="19050">
            <a:solidFill>
              <a:srgbClr val="E6AE35"/>
            </a:solidFill>
            <a:prstDash val="solid"/>
          </a:ln>
        </p:spPr>
      </p:sp>
      <p:sp>
        <p:nvSpPr>
          <p:cNvPr id="18" name="">
            <a:extLst xmlns:a="http://schemas.openxmlformats.org/drawingml/2006/main">
              <a:ext uri="{FF2B5EF4-FFF2-40B4-BE49-F238E27FC236}">
                <a16:creationId xmlns:a16="http://schemas.microsoft.com/office/drawing/2014/main" id="{E6F9B400-1B93-46E5-9D9B-9C8D5F269777}"/>
              </a:ext>
            </a:extLst>
          </p:cNvPr>
          <p:cNvSpPr>
            <a:spLocks xmlns:a="http://schemas.openxmlformats.org/drawingml/2006/main" noGrp="1"/>
          </p:cNvSpPr>
          <p:nvPr/>
        </p:nvSpPr>
        <p:spPr>
          <a:xfrm xmlns:a="http://schemas.openxmlformats.org/drawingml/2006/main">
            <a:off x="8915400" y="2590800"/>
            <a:ext cx="457200" cy="457200"/>
          </a:xfrm>
          <a:prstGeom xmlns:a="http://schemas.openxmlformats.org/drawingml/2006/main" prst="roundRect">
            <a:avLst>
              <a:gd name="adj" fmla="val 50000"/>
            </a:avLst>
          </a:prstGeom>
          <a:solidFill xmlns:a="http://schemas.openxmlformats.org/drawingml/2006/main">
            <a:srgbClr val="E6AE35"/>
          </a:solidFill>
          <a:ln xmlns:a="http://schemas.openxmlformats.org/drawingml/2006/main" w="9525">
            <a:solidFill>
              <a:srgbClr val="E6AE35"/>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defRPr>
            </a:pPr>
            <a:r>
              <a:rPr sz="1650" b="1">
                <a:solidFill>
                  <a:srgbClr val="FFFFFF"/>
                </a:solidFill>
              </a:rPr>
              <a:t>2</a:t>
            </a:r>
          </a:p>
        </p:txBody>
      </p:sp>
      <p:sp>
        <p:nvSpPr>
          <p:cNvPr id="19" name="">
            <a:extLst xmlns:a="http://schemas.openxmlformats.org/drawingml/2006/main">
              <a:ext uri="{FF2B5EF4-FFF2-40B4-BE49-F238E27FC236}">
                <a16:creationId xmlns:a16="http://schemas.microsoft.com/office/drawing/2014/main" id="{98C2FA72-52A0-4D96-9DD7-0FE60A8A48F3}"/>
              </a:ext>
            </a:extLst>
          </p:cNvPr>
          <p:cNvSpPr>
            <a:spLocks xmlns:a="http://schemas.openxmlformats.org/drawingml/2006/main" noGrp="1"/>
          </p:cNvSpPr>
          <p:nvPr/>
        </p:nvSpPr>
        <p:spPr>
          <a:xfrm xmlns:a="http://schemas.openxmlformats.org/drawingml/2006/main">
            <a:off x="8562975" y="3238500"/>
            <a:ext cx="1162050" cy="1266825"/>
          </a:xfrm>
          <a:prstGeom xmlns:a="http://schemas.openxmlformats.org/drawingml/2006/main" prst="roundRect">
            <a:avLst>
              <a:gd name="adj" fmla="val 9836"/>
            </a:avLst>
          </a:prstGeom>
          <a:noFill xmlns:a="http://schemas.openxmlformats.org/drawingml/2006/main"/>
          <a:ln xmlns:a="http://schemas.openxmlformats.org/drawingml/2006/main" w="0">
            <a:noFill/>
            <a:prstDash val="solid"/>
          </a:ln>
        </p:spPr>
        <p:txBody>
          <a:bodyPr xmlns:a="http://schemas.openxmlformats.org/drawingml/2006/main" lIns="28575" tIns="38100" rIns="28575" bIns="38100" anchor="ctr">
            <a:noAutofit/>
          </a:bodyPr>
          <a:lstStyle xmlns:a="http://schemas.openxmlformats.org/drawingml/2006/main"/>
          <a:p xmlns:a="http://schemas.openxmlformats.org/drawingml/2006/main">
            <a:pPr algn="ctr">
              <a:defRPr sz="1275" b="1">
                <a:solidFill>
                  <a:srgbClr val="243229"/>
                </a:solidFill>
              </a:defRPr>
            </a:pPr>
            <a:r>
              <a:rPr sz="1275" b="1">
                <a:solidFill>
                  <a:srgbClr val="243229"/>
                </a:solidFill>
              </a:rPr>
              <a:t>Recognise dependencies and adjust</a:t>
            </a:r>
          </a:p>
        </p:txBody>
      </p:sp>
      <p:sp>
        <p:nvSpPr>
          <p:cNvPr id="20" name="">
            <a:extLst xmlns:a="http://schemas.openxmlformats.org/drawingml/2006/main">
              <a:ext uri="{FF2B5EF4-FFF2-40B4-BE49-F238E27FC236}">
                <a16:creationId xmlns:a16="http://schemas.microsoft.com/office/drawing/2014/main" id="{5918B313-9C4A-43CE-A890-AAA85E42F689}"/>
              </a:ext>
            </a:extLst>
          </p:cNvPr>
          <p:cNvSpPr>
            <a:spLocks xmlns:a="http://schemas.openxmlformats.org/drawingml/2006/main" noGrp="1"/>
          </p:cNvSpPr>
          <p:nvPr/>
        </p:nvSpPr>
        <p:spPr>
          <a:xfrm xmlns:a="http://schemas.openxmlformats.org/drawingml/2006/main">
            <a:off x="9925050" y="2381250"/>
            <a:ext cx="1257300" cy="2533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9050">
            <a:solidFill>
              <a:srgbClr val="C9493E"/>
            </a:solidFill>
            <a:prstDash val="solid"/>
          </a:ln>
        </p:spPr>
      </p:sp>
      <p:sp>
        <p:nvSpPr>
          <p:cNvPr id="21" name="">
            <a:extLst xmlns:a="http://schemas.openxmlformats.org/drawingml/2006/main">
              <a:ext uri="{FF2B5EF4-FFF2-40B4-BE49-F238E27FC236}">
                <a16:creationId xmlns:a16="http://schemas.microsoft.com/office/drawing/2014/main" id="{CE8C7EF1-9429-47CC-8677-162D7F9FB583}"/>
              </a:ext>
            </a:extLst>
          </p:cNvPr>
          <p:cNvSpPr>
            <a:spLocks xmlns:a="http://schemas.openxmlformats.org/drawingml/2006/main" noGrp="1"/>
          </p:cNvSpPr>
          <p:nvPr/>
        </p:nvSpPr>
        <p:spPr>
          <a:xfrm xmlns:a="http://schemas.openxmlformats.org/drawingml/2006/main">
            <a:off x="10325100" y="2590800"/>
            <a:ext cx="457200" cy="457200"/>
          </a:xfrm>
          <a:prstGeom xmlns:a="http://schemas.openxmlformats.org/drawingml/2006/main" prst="roundRect">
            <a:avLst>
              <a:gd name="adj" fmla="val 50000"/>
            </a:avLst>
          </a:prstGeom>
          <a:solidFill xmlns:a="http://schemas.openxmlformats.org/drawingml/2006/main">
            <a:srgbClr val="C9493E"/>
          </a:solidFill>
          <a:ln xmlns:a="http://schemas.openxmlformats.org/drawingml/2006/main" w="9525">
            <a:solidFill>
              <a:srgbClr val="C9493E"/>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FFFFFF"/>
                </a:solidFill>
              </a:defRPr>
            </a:pPr>
            <a:r>
              <a:rPr sz="1650" b="1">
                <a:solidFill>
                  <a:srgbClr val="FFFFFF"/>
                </a:solidFill>
              </a:rPr>
              <a:t>3</a:t>
            </a:r>
          </a:p>
        </p:txBody>
      </p:sp>
      <p:sp>
        <p:nvSpPr>
          <p:cNvPr id="22" name="">
            <a:extLst xmlns:a="http://schemas.openxmlformats.org/drawingml/2006/main">
              <a:ext uri="{FF2B5EF4-FFF2-40B4-BE49-F238E27FC236}">
                <a16:creationId xmlns:a16="http://schemas.microsoft.com/office/drawing/2014/main" id="{0C84942E-5FA5-4A16-91D6-82840F4B6BCB}"/>
              </a:ext>
            </a:extLst>
          </p:cNvPr>
          <p:cNvSpPr>
            <a:spLocks xmlns:a="http://schemas.openxmlformats.org/drawingml/2006/main" noGrp="1"/>
          </p:cNvSpPr>
          <p:nvPr/>
        </p:nvSpPr>
        <p:spPr>
          <a:xfrm xmlns:a="http://schemas.openxmlformats.org/drawingml/2006/main">
            <a:off x="9972675" y="3238500"/>
            <a:ext cx="1162050" cy="1266825"/>
          </a:xfrm>
          <a:prstGeom xmlns:a="http://schemas.openxmlformats.org/drawingml/2006/main" prst="roundRect">
            <a:avLst>
              <a:gd name="adj" fmla="val 9836"/>
            </a:avLst>
          </a:prstGeom>
          <a:noFill xmlns:a="http://schemas.openxmlformats.org/drawingml/2006/main"/>
          <a:ln xmlns:a="http://schemas.openxmlformats.org/drawingml/2006/main" w="0">
            <a:noFill/>
            <a:prstDash val="solid"/>
          </a:ln>
        </p:spPr>
        <p:txBody>
          <a:bodyPr xmlns:a="http://schemas.openxmlformats.org/drawingml/2006/main" lIns="28575" tIns="38100" rIns="28575" bIns="38100" anchor="ctr">
            <a:noAutofit/>
          </a:bodyPr>
          <a:lstStyle xmlns:a="http://schemas.openxmlformats.org/drawingml/2006/main"/>
          <a:p xmlns:a="http://schemas.openxmlformats.org/drawingml/2006/main">
            <a:pPr algn="ctr">
              <a:defRPr sz="1275" b="1">
                <a:solidFill>
                  <a:srgbClr val="243229"/>
                </a:solidFill>
              </a:defRPr>
            </a:pPr>
            <a:r>
              <a:rPr sz="1275" b="1">
                <a:solidFill>
                  <a:srgbClr val="243229"/>
                </a:solidFill>
              </a:rPr>
              <a:t>Share roles and communicate clearly</a:t>
            </a:r>
          </a:p>
        </p:txBody>
      </p:sp>
      <p:sp>
        <p:nvSpPr>
          <p:cNvPr id="23" name="">
            <a:extLst xmlns:a="http://schemas.openxmlformats.org/drawingml/2006/main">
              <a:ext uri="{FF2B5EF4-FFF2-40B4-BE49-F238E27FC236}">
                <a16:creationId xmlns:a16="http://schemas.microsoft.com/office/drawing/2014/main" id="{58D832A5-BCC5-4614-B697-E8363592293B}"/>
              </a:ext>
            </a:extLst>
          </p:cNvPr>
          <p:cNvSpPr>
            <a:spLocks xmlns:a="http://schemas.openxmlformats.org/drawingml/2006/main" noGrp="1"/>
          </p:cNvSpPr>
          <p:nvPr/>
        </p:nvSpPr>
        <p:spPr>
          <a:xfrm xmlns:a="http://schemas.openxmlformats.org/drawingml/2006/main">
            <a:off x="7191375" y="5486400"/>
            <a:ext cx="4105275"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9050">
            <a:solidFill>
              <a:srgbClr val="D1DDD3"/>
            </a:solidFill>
            <a:prstDash val="solid"/>
          </a:ln>
        </p:spPr>
      </p:sp>
      <p:sp>
        <p:nvSpPr>
          <p:cNvPr id="24" name="">
            <a:extLst xmlns:a="http://schemas.openxmlformats.org/drawingml/2006/main">
              <a:ext uri="{FF2B5EF4-FFF2-40B4-BE49-F238E27FC236}">
                <a16:creationId xmlns:a16="http://schemas.microsoft.com/office/drawing/2014/main" id="{350C8305-1CD8-4238-AD5A-BDBC5944237E}"/>
              </a:ext>
            </a:extLst>
          </p:cNvPr>
          <p:cNvSpPr>
            <a:spLocks xmlns:a="http://schemas.openxmlformats.org/drawingml/2006/main" noGrp="1"/>
          </p:cNvSpPr>
          <p:nvPr/>
        </p:nvSpPr>
        <p:spPr>
          <a:xfrm xmlns:a="http://schemas.openxmlformats.org/drawingml/2006/main">
            <a:off x="7353300" y="5610225"/>
            <a:ext cx="3781425" cy="381000"/>
          </a:xfrm>
          <a:prstGeom xmlns:a="http://schemas.openxmlformats.org/drawingml/2006/main" prst="roundRect">
            <a:avLst>
              <a:gd name="adj" fmla="val 30000"/>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4936"/>
                </a:solidFill>
              </a:defRPr>
            </a:pPr>
            <a:r>
              <a:rPr sz="1200" b="1">
                <a:solidFill>
                  <a:srgbClr val="174936"/>
                </a:solidFill>
              </a:rPr>
              <a:t>CHECK THE CLAIM: A good workflow is simply the recipe method copied into a timetable.</a:t>
            </a:r>
          </a:p>
        </p:txBody>
      </p:sp>
    </p:spTree>
    <p:extLst>
      <p:ext uri="{BB962C8B-B14F-4D97-AF65-F5344CB8AC3E}">
        <p14:creationId xmlns:p14="http://schemas.microsoft.com/office/powerpoint/2010/main" val="773377429"/>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8FF59CE-4E1F-43C2-80CF-C715158F5B6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D395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4CDFA5-FEDD-462D-BF7A-9FC0916A940F}"/>
              </a:ext>
            </a:extLst>
          </p:cNvPr>
          <p:cNvSpPr>
            <a:spLocks xmlns:a="http://schemas.openxmlformats.org/drawingml/2006/main" noGrp="1"/>
          </p:cNvSpPr>
          <p:nvPr/>
        </p:nvSpPr>
        <p:spPr>
          <a:xfrm xmlns:a="http://schemas.openxmlformats.org/drawingml/2006/main">
            <a:off x="685800" y="6438900"/>
            <a:ext cx="5715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D6D63"/>
                </a:solidFill>
              </a:defRPr>
            </a:pPr>
            <a:r>
              <a:rPr sz="1050" b="1">
                <a:solidFill>
                  <a:srgbClr val="5D6D63"/>
                </a:solidFill>
              </a:rPr>
              <a:t>MODULE 09 · YEAR 8 FOOD TECHNOLOGY</a:t>
            </a:r>
          </a:p>
        </p:txBody>
      </p:sp>
      <p:sp>
        <p:nvSpPr>
          <p:cNvPr id="3" name="">
            <a:extLst xmlns:a="http://schemas.openxmlformats.org/drawingml/2006/main">
              <a:ext uri="{FF2B5EF4-FFF2-40B4-BE49-F238E27FC236}">
                <a16:creationId xmlns:a16="http://schemas.microsoft.com/office/drawing/2014/main" id="{1C14DB5D-D801-48A3-9599-95F1AF4DDDC5}"/>
              </a:ext>
            </a:extLst>
          </p:cNvPr>
          <p:cNvSpPr>
            <a:spLocks xmlns:a="http://schemas.openxmlformats.org/drawingml/2006/main" noGrp="1"/>
          </p:cNvSpPr>
          <p:nvPr/>
        </p:nvSpPr>
        <p:spPr>
          <a:xfrm xmlns:a="http://schemas.openxmlformats.org/drawingml/2006/main">
            <a:off x="10953750" y="6438900"/>
            <a:ext cx="5524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9493E"/>
                </a:solidFill>
              </a:defRPr>
            </a:pPr>
            <a:r>
              <a:rPr sz="1050" b="1">
                <a:solidFill>
                  <a:srgbClr val="C9493E"/>
                </a:solidFill>
              </a:rPr>
              <a:t>05</a:t>
            </a:r>
          </a:p>
        </p:txBody>
      </p:sp>
      <p:sp>
        <p:nvSpPr>
          <p:cNvPr id="4" name="">
            <a:extLst xmlns:a="http://schemas.openxmlformats.org/drawingml/2006/main">
              <a:ext uri="{FF2B5EF4-FFF2-40B4-BE49-F238E27FC236}">
                <a16:creationId xmlns:a16="http://schemas.microsoft.com/office/drawing/2014/main" id="{5347FE3D-D4B4-47C8-8C0A-0A6ABF0D58A3}"/>
              </a:ext>
            </a:extLst>
          </p:cNvPr>
          <p:cNvSpPr>
            <a:spLocks xmlns:a="http://schemas.openxmlformats.org/drawingml/2006/main" noGrp="1"/>
          </p:cNvSpPr>
          <p:nvPr/>
        </p:nvSpPr>
        <p:spPr>
          <a:xfrm xmlns:a="http://schemas.openxmlformats.org/drawingml/2006/main">
            <a:off x="685800" y="495300"/>
            <a:ext cx="8572500" cy="285750"/>
          </a:xfrm>
          <a:prstGeom xmlns:a="http://schemas.openxmlformats.org/drawingml/2006/main" prst="roundRect">
            <a:avLst>
              <a:gd name="adj" fmla="val 4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8D395E"/>
                </a:solidFill>
              </a:defRPr>
            </a:pPr>
            <a:r>
              <a:rPr sz="1200" b="1">
                <a:solidFill>
                  <a:srgbClr val="8D395E"/>
                </a:solidFill>
              </a:rPr>
              <a:t>9.3 · PRESENTATION, STYLING AND PHOTOGRAPHY</a:t>
            </a:r>
          </a:p>
        </p:txBody>
      </p:sp>
      <p:sp>
        <p:nvSpPr>
          <p:cNvPr id="5" name="">
            <a:extLst xmlns:a="http://schemas.openxmlformats.org/drawingml/2006/main">
              <a:ext uri="{FF2B5EF4-FFF2-40B4-BE49-F238E27FC236}">
                <a16:creationId xmlns:a16="http://schemas.microsoft.com/office/drawing/2014/main" id="{AFEE5E5A-A544-4F35-BB35-E5FBBE9662EE}"/>
              </a:ext>
            </a:extLst>
          </p:cNvPr>
          <p:cNvSpPr>
            <a:spLocks xmlns:a="http://schemas.openxmlformats.org/drawingml/2006/main" noGrp="1"/>
          </p:cNvSpPr>
          <p:nvPr/>
        </p:nvSpPr>
        <p:spPr>
          <a:xfrm xmlns:a="http://schemas.openxmlformats.org/drawingml/2006/main">
            <a:off x="685800" y="981075"/>
            <a:ext cx="6238875" cy="742950"/>
          </a:xfrm>
          <a:prstGeom xmlns:a="http://schemas.openxmlformats.org/drawingml/2006/main" prst="roundRect">
            <a:avLst>
              <a:gd name="adj" fmla="val 15385"/>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74936"/>
                </a:solidFill>
              </a:defRPr>
            </a:pPr>
            <a:r>
              <a:rPr sz="2400" b="1">
                <a:solidFill>
                  <a:srgbClr val="174936"/>
                </a:solidFill>
              </a:rPr>
              <a:t>Presentation, styling and photography</a:t>
            </a:r>
          </a:p>
        </p:txBody>
      </p:sp>
      <p:sp>
        <p:nvSpPr>
          <p:cNvPr id="6" name="">
            <a:extLst xmlns:a="http://schemas.openxmlformats.org/drawingml/2006/main">
              <a:ext uri="{FF2B5EF4-FFF2-40B4-BE49-F238E27FC236}">
                <a16:creationId xmlns:a16="http://schemas.microsoft.com/office/drawing/2014/main" id="{C4E5126A-4F4A-45C4-B5DF-4B3C9028FD9C}"/>
              </a:ext>
            </a:extLst>
          </p:cNvPr>
          <p:cNvSpPr>
            <a:spLocks xmlns:a="http://schemas.openxmlformats.org/drawingml/2006/main" noGrp="1"/>
          </p:cNvSpPr>
          <p:nvPr/>
        </p:nvSpPr>
        <p:spPr>
          <a:xfrm xmlns:a="http://schemas.openxmlformats.org/drawingml/2006/main">
            <a:off x="685800" y="1790700"/>
            <a:ext cx="5953125" cy="495300"/>
          </a:xfrm>
          <a:prstGeom xmlns:a="http://schemas.openxmlformats.org/drawingml/2006/main" prst="roundRect">
            <a:avLst>
              <a:gd name="adj" fmla="val 2307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5D6D63"/>
                </a:solidFill>
              </a:defRPr>
            </a:pPr>
            <a:r>
              <a:rPr sz="1425" b="1">
                <a:solidFill>
                  <a:srgbClr val="5D6D63"/>
                </a:solidFill>
              </a:rPr>
              <a:t>Develop students' ability to present food purposefully and safely, then record the finished product with a clear and truthful photograph.</a:t>
            </a:r>
          </a:p>
        </p:txBody>
      </p:sp>
      <p:sp>
        <p:nvSpPr>
          <p:cNvPr id="7" name="">
            <a:extLst xmlns:a="http://schemas.openxmlformats.org/drawingml/2006/main">
              <a:ext uri="{FF2B5EF4-FFF2-40B4-BE49-F238E27FC236}">
                <a16:creationId xmlns:a16="http://schemas.microsoft.com/office/drawing/2014/main" id="{C00D5152-3FD3-426D-96C1-20651786E939}"/>
              </a:ext>
            </a:extLst>
          </p:cNvPr>
          <p:cNvSpPr>
            <a:spLocks xmlns:a="http://schemas.openxmlformats.org/drawingml/2006/main" noGrp="1"/>
          </p:cNvSpPr>
          <p:nvPr/>
        </p:nvSpPr>
        <p:spPr>
          <a:xfrm xmlns:a="http://schemas.openxmlformats.org/drawingml/2006/main">
            <a:off x="742950" y="2590800"/>
            <a:ext cx="209550" cy="209550"/>
          </a:xfrm>
          <a:prstGeom xmlns:a="http://schemas.openxmlformats.org/drawingml/2006/main" prst="ellipse">
            <a:avLst/>
          </a:prstGeom>
          <a:solidFill xmlns:a="http://schemas.openxmlformats.org/drawingml/2006/main">
            <a:srgbClr val="C9493E"/>
          </a:solidFill>
          <a:ln xmlns:a="http://schemas.openxmlformats.org/drawingml/2006/main" w="19050">
            <a:solidFill>
              <a:srgbClr val="C9493E"/>
            </a:solidFill>
            <a:prstDash val="solid"/>
          </a:ln>
        </p:spPr>
      </p:sp>
      <p:sp>
        <p:nvSpPr>
          <p:cNvPr id="8" name="">
            <a:extLst xmlns:a="http://schemas.openxmlformats.org/drawingml/2006/main">
              <a:ext uri="{FF2B5EF4-FFF2-40B4-BE49-F238E27FC236}">
                <a16:creationId xmlns:a16="http://schemas.microsoft.com/office/drawing/2014/main" id="{D1522E1D-4FFF-4EC4-8CA7-F6E33E1FDE86}"/>
              </a:ext>
            </a:extLst>
          </p:cNvPr>
          <p:cNvSpPr>
            <a:spLocks xmlns:a="http://schemas.openxmlformats.org/drawingml/2006/main" noGrp="1"/>
          </p:cNvSpPr>
          <p:nvPr/>
        </p:nvSpPr>
        <p:spPr>
          <a:xfrm xmlns:a="http://schemas.openxmlformats.org/drawingml/2006/main">
            <a:off x="1123950" y="2400300"/>
            <a:ext cx="5381625" cy="800100"/>
          </a:xfrm>
          <a:prstGeom xmlns:a="http://schemas.openxmlformats.org/drawingml/2006/main" prst="roundRect">
            <a:avLst>
              <a:gd name="adj" fmla="val 14286"/>
            </a:avLst>
          </a:prstGeom>
          <a:noFill xmlns:a="http://schemas.openxmlformats.org/drawingml/2006/main"/>
          <a:ln xmlns:a="http://schemas.openxmlformats.org/drawingml/2006/main" w="0">
            <a:noFill/>
            <a:prstDash val="solid"/>
          </a:ln>
        </p:spPr>
        <p:txBody>
          <a:bodyPr xmlns:a="http://schemas.openxmlformats.org/drawingml/2006/main" lIns="0" tIns="19050" rIns="0" bIns="19050" anchor="ctr">
            <a:noAutofit/>
          </a:bodyPr>
          <a:lstStyle xmlns:a="http://schemas.openxmlformats.org/drawingml/2006/main"/>
          <a:p xmlns:a="http://schemas.openxmlformats.org/drawingml/2006/main">
            <a:pPr algn="l">
              <a:defRPr sz="1650" b="0">
                <a:solidFill>
                  <a:srgbClr val="243229"/>
                </a:solidFill>
              </a:defRPr>
            </a:pPr>
            <a:r>
              <a:rPr sz="1650" b="0">
                <a:solidFill>
                  <a:srgbClr val="243229"/>
                </a:solidFill>
              </a:rPr>
              <a:t>Purposeful plating uses portion, shape, colour, texture, height and spacing to support the food and intended user.</a:t>
            </a:r>
          </a:p>
        </p:txBody>
      </p:sp>
      <p:sp>
        <p:nvSpPr>
          <p:cNvPr id="9" name="">
            <a:extLst xmlns:a="http://schemas.openxmlformats.org/drawingml/2006/main">
              <a:ext uri="{FF2B5EF4-FFF2-40B4-BE49-F238E27FC236}">
                <a16:creationId xmlns:a16="http://schemas.microsoft.com/office/drawing/2014/main" id="{B17A7503-32BC-404F-83F4-1F075A39BD29}"/>
              </a:ext>
            </a:extLst>
          </p:cNvPr>
          <p:cNvSpPr>
            <a:spLocks xmlns:a="http://schemas.openxmlformats.org/drawingml/2006/main" noGrp="1"/>
          </p:cNvSpPr>
          <p:nvPr/>
        </p:nvSpPr>
        <p:spPr>
          <a:xfrm xmlns:a="http://schemas.openxmlformats.org/drawingml/2006/main">
            <a:off x="742950" y="3657600"/>
            <a:ext cx="209550" cy="209550"/>
          </a:xfrm>
          <a:prstGeom xmlns:a="http://schemas.openxmlformats.org/drawingml/2006/main" prst="ellipse">
            <a:avLst/>
          </a:prstGeom>
          <a:solidFill xmlns:a="http://schemas.openxmlformats.org/drawingml/2006/main">
            <a:srgbClr val="E6AE35"/>
          </a:solidFill>
          <a:ln xmlns:a="http://schemas.openxmlformats.org/drawingml/2006/main" w="19050">
            <a:solidFill>
              <a:srgbClr val="E6AE35"/>
            </a:solidFill>
            <a:prstDash val="solid"/>
          </a:ln>
        </p:spPr>
      </p:sp>
      <p:sp>
        <p:nvSpPr>
          <p:cNvPr id="10" name="">
            <a:extLst xmlns:a="http://schemas.openxmlformats.org/drawingml/2006/main">
              <a:ext uri="{FF2B5EF4-FFF2-40B4-BE49-F238E27FC236}">
                <a16:creationId xmlns:a16="http://schemas.microsoft.com/office/drawing/2014/main" id="{4285F73A-6AEE-47ED-AC0F-3E02597C3E3B}"/>
              </a:ext>
            </a:extLst>
          </p:cNvPr>
          <p:cNvSpPr>
            <a:spLocks xmlns:a="http://schemas.openxmlformats.org/drawingml/2006/main" noGrp="1"/>
          </p:cNvSpPr>
          <p:nvPr/>
        </p:nvSpPr>
        <p:spPr>
          <a:xfrm xmlns:a="http://schemas.openxmlformats.org/drawingml/2006/main">
            <a:off x="1123950" y="3467100"/>
            <a:ext cx="5381625" cy="800100"/>
          </a:xfrm>
          <a:prstGeom xmlns:a="http://schemas.openxmlformats.org/drawingml/2006/main" prst="roundRect">
            <a:avLst>
              <a:gd name="adj" fmla="val 14286"/>
            </a:avLst>
          </a:prstGeom>
          <a:noFill xmlns:a="http://schemas.openxmlformats.org/drawingml/2006/main"/>
          <a:ln xmlns:a="http://schemas.openxmlformats.org/drawingml/2006/main" w="0">
            <a:noFill/>
            <a:prstDash val="solid"/>
          </a:ln>
        </p:spPr>
        <p:txBody>
          <a:bodyPr xmlns:a="http://schemas.openxmlformats.org/drawingml/2006/main" lIns="0" tIns="19050" rIns="0" bIns="19050" anchor="ctr">
            <a:noAutofit/>
          </a:bodyPr>
          <a:lstStyle xmlns:a="http://schemas.openxmlformats.org/drawingml/2006/main"/>
          <a:p xmlns:a="http://schemas.openxmlformats.org/drawingml/2006/main">
            <a:pPr algn="l">
              <a:defRPr sz="1650" b="0">
                <a:solidFill>
                  <a:srgbClr val="243229"/>
                </a:solidFill>
              </a:defRPr>
            </a:pPr>
            <a:r>
              <a:rPr sz="1650" b="0">
                <a:solidFill>
                  <a:srgbClr val="243229"/>
                </a:solidFill>
              </a:rPr>
              <a:t>An edible garnish is suitable only when it is relevant to the food and contributes meaningfully to the presentation.</a:t>
            </a:r>
          </a:p>
        </p:txBody>
      </p:sp>
      <p:sp>
        <p:nvSpPr>
          <p:cNvPr id="11" name="">
            <a:extLst xmlns:a="http://schemas.openxmlformats.org/drawingml/2006/main">
              <a:ext uri="{FF2B5EF4-FFF2-40B4-BE49-F238E27FC236}">
                <a16:creationId xmlns:a16="http://schemas.microsoft.com/office/drawing/2014/main" id="{72BE749C-5D62-41D1-9C96-76EE6F2EA71B}"/>
              </a:ext>
            </a:extLst>
          </p:cNvPr>
          <p:cNvSpPr>
            <a:spLocks xmlns:a="http://schemas.openxmlformats.org/drawingml/2006/main" noGrp="1"/>
          </p:cNvSpPr>
          <p:nvPr/>
        </p:nvSpPr>
        <p:spPr>
          <a:xfrm xmlns:a="http://schemas.openxmlformats.org/drawingml/2006/main">
            <a:off x="685800" y="4724400"/>
            <a:ext cx="5953125" cy="1352550"/>
          </a:xfrm>
          <a:prstGeom xmlns:a="http://schemas.openxmlformats.org/drawingml/2006/main" prst="roundRect">
            <a:avLst>
              <a:gd name="adj" fmla="val 11268"/>
            </a:avLst>
          </a:prstGeom>
          <a:solidFill xmlns:a="http://schemas.openxmlformats.org/drawingml/2006/main">
            <a:srgbClr val="DCEEE2"/>
          </a:solidFill>
          <a:ln xmlns:a="http://schemas.openxmlformats.org/drawingml/2006/main" w="19050">
            <a:solidFill>
              <a:srgbClr val="D1DDD3"/>
            </a:solidFill>
            <a:prstDash val="solid"/>
          </a:ln>
        </p:spPr>
      </p:sp>
      <p:sp>
        <p:nvSpPr>
          <p:cNvPr id="12" name="">
            <a:extLst xmlns:a="http://schemas.openxmlformats.org/drawingml/2006/main">
              <a:ext uri="{FF2B5EF4-FFF2-40B4-BE49-F238E27FC236}">
                <a16:creationId xmlns:a16="http://schemas.microsoft.com/office/drawing/2014/main" id="{9515D365-C6FF-4EB2-ABDC-FA8F6D225ECC}"/>
              </a:ext>
            </a:extLst>
          </p:cNvPr>
          <p:cNvSpPr>
            <a:spLocks xmlns:a="http://schemas.openxmlformats.org/drawingml/2006/main" noGrp="1"/>
          </p:cNvSpPr>
          <p:nvPr/>
        </p:nvSpPr>
        <p:spPr>
          <a:xfrm xmlns:a="http://schemas.openxmlformats.org/drawingml/2006/main">
            <a:off x="933450" y="4943475"/>
            <a:ext cx="16192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8D395E"/>
                </a:solidFill>
              </a:defRPr>
            </a:pPr>
            <a:r>
              <a:rPr sz="1125" b="1">
                <a:solidFill>
                  <a:srgbClr val="8D395E"/>
                </a:solidFill>
              </a:rPr>
              <a:t>USE THE IDEA</a:t>
            </a:r>
          </a:p>
        </p:txBody>
      </p:sp>
      <p:sp>
        <p:nvSpPr>
          <p:cNvPr id="13" name="">
            <a:extLst xmlns:a="http://schemas.openxmlformats.org/drawingml/2006/main">
              <a:ext uri="{FF2B5EF4-FFF2-40B4-BE49-F238E27FC236}">
                <a16:creationId xmlns:a16="http://schemas.microsoft.com/office/drawing/2014/main" id="{F67F2C8D-152E-43DB-BADD-D8D4A65DA07E}"/>
              </a:ext>
            </a:extLst>
          </p:cNvPr>
          <p:cNvSpPr>
            <a:spLocks xmlns:a="http://schemas.openxmlformats.org/drawingml/2006/main" noGrp="1"/>
          </p:cNvSpPr>
          <p:nvPr/>
        </p:nvSpPr>
        <p:spPr>
          <a:xfrm xmlns:a="http://schemas.openxmlformats.org/drawingml/2006/main">
            <a:off x="933450" y="5238750"/>
            <a:ext cx="5391150" cy="685800"/>
          </a:xfrm>
          <a:prstGeom xmlns:a="http://schemas.openxmlformats.org/drawingml/2006/main" prst="roundRect">
            <a:avLst>
              <a:gd name="adj" fmla="val 1666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74936"/>
                </a:solidFill>
              </a:defRPr>
            </a:pPr>
            <a:r>
              <a:rPr sz="1350" b="1">
                <a:solidFill>
                  <a:srgbClr val="174936"/>
                </a:solidFill>
              </a:rPr>
              <a:t>Before plating an evidenced recipe-booklet item, sketch or describe one possible arrangement using portion, shape, colour, texture, height and spacing.</a:t>
            </a:r>
          </a:p>
        </p:txBody>
      </p:sp>
      <p:sp>
        <p:nvSpPr>
          <p:cNvPr id="14" name="">
            <a:extLst xmlns:a="http://schemas.openxmlformats.org/drawingml/2006/main">
              <a:ext uri="{FF2B5EF4-FFF2-40B4-BE49-F238E27FC236}">
                <a16:creationId xmlns:a16="http://schemas.microsoft.com/office/drawing/2014/main" id="{267896D9-9DDB-41B6-8142-C1D1B7A0F113}"/>
              </a:ext>
            </a:extLst>
          </p:cNvPr>
          <p:cNvSpPr>
            <a:spLocks xmlns:a="http://schemas.openxmlformats.org/drawingml/2006/main" noGrp="1"/>
          </p:cNvSpPr>
          <p:nvPr/>
        </p:nvSpPr>
        <p:spPr>
          <a:xfrm xmlns:a="http://schemas.openxmlformats.org/drawingml/2006/main">
            <a:off x="9248775" y="3390900"/>
            <a:ext cx="0" cy="1543050"/>
          </a:xfrm>
          <a:prstGeom xmlns:a="http://schemas.openxmlformats.org/drawingml/2006/main" prst="line">
            <a:avLst/>
          </a:prstGeom>
          <a:noFill xmlns:a="http://schemas.openxmlformats.org/drawingml/2006/main"/>
          <a:ln xmlns:a="http://schemas.openxmlformats.org/drawingml/2006/main" w="47625">
            <a:solidFill>
              <a:srgbClr val="8D395E"/>
            </a:solidFill>
            <a:prstDash val="solid"/>
          </a:ln>
        </p:spPr>
      </p:sp>
      <p:sp>
        <p:nvSpPr>
          <p:cNvPr id="15" name="">
            <a:extLst xmlns:a="http://schemas.openxmlformats.org/drawingml/2006/main">
              <a:ext uri="{FF2B5EF4-FFF2-40B4-BE49-F238E27FC236}">
                <a16:creationId xmlns:a16="http://schemas.microsoft.com/office/drawing/2014/main" id="{E12A8C66-4B57-4831-80BF-E4A8BAD365EE}"/>
              </a:ext>
            </a:extLst>
          </p:cNvPr>
          <p:cNvSpPr>
            <a:spLocks xmlns:a="http://schemas.openxmlformats.org/drawingml/2006/main" noGrp="1"/>
          </p:cNvSpPr>
          <p:nvPr/>
        </p:nvSpPr>
        <p:spPr>
          <a:xfrm xmlns:a="http://schemas.openxmlformats.org/drawingml/2006/main">
            <a:off x="8667750" y="4933950"/>
            <a:ext cx="1162050" cy="0"/>
          </a:xfrm>
          <a:prstGeom xmlns:a="http://schemas.openxmlformats.org/drawingml/2006/main" prst="line">
            <a:avLst/>
          </a:prstGeom>
          <a:noFill xmlns:a="http://schemas.openxmlformats.org/drawingml/2006/main"/>
          <a:ln xmlns:a="http://schemas.openxmlformats.org/drawingml/2006/main" w="47625">
            <a:solidFill>
              <a:srgbClr val="8D395E"/>
            </a:solidFill>
            <a:prstDash val="solid"/>
          </a:ln>
        </p:spPr>
      </p:sp>
      <p:sp>
        <p:nvSpPr>
          <p:cNvPr id="16" name="">
            <a:extLst xmlns:a="http://schemas.openxmlformats.org/drawingml/2006/main">
              <a:ext uri="{FF2B5EF4-FFF2-40B4-BE49-F238E27FC236}">
                <a16:creationId xmlns:a16="http://schemas.microsoft.com/office/drawing/2014/main" id="{BBB0F49E-E611-49F2-90D6-F80BBFF3C8DA}"/>
              </a:ext>
            </a:extLst>
          </p:cNvPr>
          <p:cNvSpPr>
            <a:spLocks xmlns:a="http://schemas.openxmlformats.org/drawingml/2006/main" noGrp="1"/>
          </p:cNvSpPr>
          <p:nvPr/>
        </p:nvSpPr>
        <p:spPr>
          <a:xfrm xmlns:a="http://schemas.openxmlformats.org/drawingml/2006/main">
            <a:off x="8543925" y="2324100"/>
            <a:ext cx="1409700" cy="1066800"/>
          </a:xfrm>
          <a:prstGeom xmlns:a="http://schemas.openxmlformats.org/drawingml/2006/main" prst="ellipse">
            <a:avLst/>
          </a:prstGeom>
          <a:solidFill xmlns:a="http://schemas.openxmlformats.org/drawingml/2006/main">
            <a:srgbClr val="DCEEE2"/>
          </a:solidFill>
          <a:ln xmlns:a="http://schemas.openxmlformats.org/drawingml/2006/main" w="19050">
            <a:solidFill>
              <a:srgbClr val="8D395E"/>
            </a:solidFill>
            <a:prstDash val="solid"/>
          </a:ln>
        </p:spPr>
      </p:sp>
      <p:sp>
        <p:nvSpPr>
          <p:cNvPr id="17" name="">
            <a:extLst xmlns:a="http://schemas.openxmlformats.org/drawingml/2006/main">
              <a:ext uri="{FF2B5EF4-FFF2-40B4-BE49-F238E27FC236}">
                <a16:creationId xmlns:a16="http://schemas.microsoft.com/office/drawing/2014/main" id="{577B3246-52F6-4F17-A849-AEBD034A46DB}"/>
              </a:ext>
            </a:extLst>
          </p:cNvPr>
          <p:cNvSpPr>
            <a:spLocks xmlns:a="http://schemas.openxmlformats.org/drawingml/2006/main" noGrp="1"/>
          </p:cNvSpPr>
          <p:nvPr/>
        </p:nvSpPr>
        <p:spPr>
          <a:xfrm xmlns:a="http://schemas.openxmlformats.org/drawingml/2006/main">
            <a:off x="8658225" y="2476500"/>
            <a:ext cx="1181100" cy="762000"/>
          </a:xfrm>
          <a:prstGeom xmlns:a="http://schemas.openxmlformats.org/drawingml/2006/main" prst="roundRect">
            <a:avLst>
              <a:gd name="adj" fmla="val 15000"/>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Autofit/>
          </a:bodyPr>
          <a:lstStyle xmlns:a="http://schemas.openxmlformats.org/drawingml/2006/main"/>
          <a:p xmlns:a="http://schemas.openxmlformats.org/drawingml/2006/main">
            <a:pPr algn="ctr">
              <a:defRPr sz="1350" b="1">
                <a:solidFill>
                  <a:srgbClr val="243229"/>
                </a:solidFill>
              </a:defRPr>
            </a:pPr>
            <a:r>
              <a:rPr sz="1350" b="1">
                <a:solidFill>
                  <a:srgbClr val="243229"/>
                </a:solidFill>
              </a:rPr>
              <a:t>Build a purposeful plate</a:t>
            </a:r>
          </a:p>
        </p:txBody>
      </p:sp>
      <p:sp>
        <p:nvSpPr>
          <p:cNvPr id="18" name="">
            <a:extLst xmlns:a="http://schemas.openxmlformats.org/drawingml/2006/main">
              <a:ext uri="{FF2B5EF4-FFF2-40B4-BE49-F238E27FC236}">
                <a16:creationId xmlns:a16="http://schemas.microsoft.com/office/drawing/2014/main" id="{0607FD76-9841-4F2D-8649-2B220F0281D9}"/>
              </a:ext>
            </a:extLst>
          </p:cNvPr>
          <p:cNvSpPr>
            <a:spLocks xmlns:a="http://schemas.openxmlformats.org/drawingml/2006/main" noGrp="1"/>
          </p:cNvSpPr>
          <p:nvPr/>
        </p:nvSpPr>
        <p:spPr>
          <a:xfrm xmlns:a="http://schemas.openxmlformats.org/drawingml/2006/main">
            <a:off x="7258050" y="4400550"/>
            <a:ext cx="14097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E6AE35"/>
            </a:solidFill>
            <a:prstDash val="solid"/>
          </a:ln>
        </p:spPr>
      </p:sp>
      <p:sp>
        <p:nvSpPr>
          <p:cNvPr id="19" name="">
            <a:extLst xmlns:a="http://schemas.openxmlformats.org/drawingml/2006/main">
              <a:ext uri="{FF2B5EF4-FFF2-40B4-BE49-F238E27FC236}">
                <a16:creationId xmlns:a16="http://schemas.microsoft.com/office/drawing/2014/main" id="{99D938E6-82B1-48A2-B872-4381EA84CA8F}"/>
              </a:ext>
            </a:extLst>
          </p:cNvPr>
          <p:cNvSpPr>
            <a:spLocks xmlns:a="http://schemas.openxmlformats.org/drawingml/2006/main" noGrp="1"/>
          </p:cNvSpPr>
          <p:nvPr/>
        </p:nvSpPr>
        <p:spPr>
          <a:xfrm xmlns:a="http://schemas.openxmlformats.org/drawingml/2006/main">
            <a:off x="7372350" y="4552950"/>
            <a:ext cx="1181100" cy="762000"/>
          </a:xfrm>
          <a:prstGeom xmlns:a="http://schemas.openxmlformats.org/drawingml/2006/main" prst="roundRect">
            <a:avLst>
              <a:gd name="adj" fmla="val 15000"/>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Autofit/>
          </a:bodyPr>
          <a:lstStyle xmlns:a="http://schemas.openxmlformats.org/drawingml/2006/main"/>
          <a:p xmlns:a="http://schemas.openxmlformats.org/drawingml/2006/main">
            <a:pPr algn="ctr">
              <a:defRPr sz="1350" b="1">
                <a:solidFill>
                  <a:srgbClr val="243229"/>
                </a:solidFill>
              </a:defRPr>
            </a:pPr>
            <a:r>
              <a:rPr sz="1350" b="1">
                <a:solidFill>
                  <a:srgbClr val="243229"/>
                </a:solidFill>
              </a:rPr>
              <a:t>Finish and present food safely</a:t>
            </a:r>
          </a:p>
        </p:txBody>
      </p:sp>
      <p:sp>
        <p:nvSpPr>
          <p:cNvPr id="20" name="">
            <a:extLst xmlns:a="http://schemas.openxmlformats.org/drawingml/2006/main">
              <a:ext uri="{FF2B5EF4-FFF2-40B4-BE49-F238E27FC236}">
                <a16:creationId xmlns:a16="http://schemas.microsoft.com/office/drawing/2014/main" id="{973E9011-FF8D-4C9C-9B88-1DDA622EA80F}"/>
              </a:ext>
            </a:extLst>
          </p:cNvPr>
          <p:cNvSpPr>
            <a:spLocks xmlns:a="http://schemas.openxmlformats.org/drawingml/2006/main" noGrp="1"/>
          </p:cNvSpPr>
          <p:nvPr/>
        </p:nvSpPr>
        <p:spPr>
          <a:xfrm xmlns:a="http://schemas.openxmlformats.org/drawingml/2006/main">
            <a:off x="9829800" y="4400550"/>
            <a:ext cx="14097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9493E"/>
            </a:solidFill>
            <a:prstDash val="solid"/>
          </a:ln>
        </p:spPr>
      </p:sp>
      <p:sp>
        <p:nvSpPr>
          <p:cNvPr id="21" name="">
            <a:extLst xmlns:a="http://schemas.openxmlformats.org/drawingml/2006/main">
              <a:ext uri="{FF2B5EF4-FFF2-40B4-BE49-F238E27FC236}">
                <a16:creationId xmlns:a16="http://schemas.microsoft.com/office/drawing/2014/main" id="{08F0834E-B36E-4F6F-8FB6-F33DF5307D1A}"/>
              </a:ext>
            </a:extLst>
          </p:cNvPr>
          <p:cNvSpPr>
            <a:spLocks xmlns:a="http://schemas.openxmlformats.org/drawingml/2006/main" noGrp="1"/>
          </p:cNvSpPr>
          <p:nvPr/>
        </p:nvSpPr>
        <p:spPr>
          <a:xfrm xmlns:a="http://schemas.openxmlformats.org/drawingml/2006/main">
            <a:off x="9944100" y="4552950"/>
            <a:ext cx="1181100" cy="762000"/>
          </a:xfrm>
          <a:prstGeom xmlns:a="http://schemas.openxmlformats.org/drawingml/2006/main" prst="roundRect">
            <a:avLst>
              <a:gd name="adj" fmla="val 15000"/>
            </a:avLst>
          </a:prstGeom>
          <a:noFill xmlns:a="http://schemas.openxmlformats.org/drawingml/2006/main"/>
          <a:ln xmlns:a="http://schemas.openxmlformats.org/drawingml/2006/main" w="0">
            <a:noFill/>
            <a:prstDash val="solid"/>
          </a:ln>
        </p:spPr>
        <p:txBody>
          <a:bodyPr xmlns:a="http://schemas.openxmlformats.org/drawingml/2006/main" lIns="28575" tIns="19050" rIns="28575" bIns="19050" anchor="ctr">
            <a:noAutofit/>
          </a:bodyPr>
          <a:lstStyle xmlns:a="http://schemas.openxmlformats.org/drawingml/2006/main"/>
          <a:p xmlns:a="http://schemas.openxmlformats.org/drawingml/2006/main">
            <a:pPr algn="ctr">
              <a:defRPr sz="1350" b="1">
                <a:solidFill>
                  <a:srgbClr val="243229"/>
                </a:solidFill>
              </a:defRPr>
            </a:pPr>
            <a:r>
              <a:rPr sz="1350" b="1">
                <a:solidFill>
                  <a:srgbClr val="243229"/>
                </a:solidFill>
              </a:rPr>
              <a:t>Take a clear and truthful photograph</a:t>
            </a:r>
          </a:p>
        </p:txBody>
      </p:sp>
      <p:sp>
        <p:nvSpPr>
          <p:cNvPr id="22" name="">
            <a:extLst xmlns:a="http://schemas.openxmlformats.org/drawingml/2006/main">
              <a:ext uri="{FF2B5EF4-FFF2-40B4-BE49-F238E27FC236}">
                <a16:creationId xmlns:a16="http://schemas.microsoft.com/office/drawing/2014/main" id="{15532EA4-1356-417D-8B66-F4F616782FFB}"/>
              </a:ext>
            </a:extLst>
          </p:cNvPr>
          <p:cNvSpPr>
            <a:spLocks xmlns:a="http://schemas.openxmlformats.org/drawingml/2006/main" noGrp="1"/>
          </p:cNvSpPr>
          <p:nvPr/>
        </p:nvSpPr>
        <p:spPr>
          <a:xfrm xmlns:a="http://schemas.openxmlformats.org/drawingml/2006/main">
            <a:off x="7191375" y="5486400"/>
            <a:ext cx="4105275"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19050">
            <a:solidFill>
              <a:srgbClr val="D1DDD3"/>
            </a:solidFill>
            <a:prstDash val="solid"/>
          </a:ln>
        </p:spPr>
      </p:sp>
      <p:sp>
        <p:nvSpPr>
          <p:cNvPr id="23" name="">
            <a:extLst xmlns:a="http://schemas.openxmlformats.org/drawingml/2006/main">
              <a:ext uri="{FF2B5EF4-FFF2-40B4-BE49-F238E27FC236}">
                <a16:creationId xmlns:a16="http://schemas.microsoft.com/office/drawing/2014/main" id="{B95E1AE5-D074-4FE8-9D83-5E06EB29D4DE}"/>
              </a:ext>
            </a:extLst>
          </p:cNvPr>
          <p:cNvSpPr>
            <a:spLocks xmlns:a="http://schemas.openxmlformats.org/drawingml/2006/main" noGrp="1"/>
          </p:cNvSpPr>
          <p:nvPr/>
        </p:nvSpPr>
        <p:spPr>
          <a:xfrm xmlns:a="http://schemas.openxmlformats.org/drawingml/2006/main">
            <a:off x="7353300" y="5610225"/>
            <a:ext cx="3781425" cy="381000"/>
          </a:xfrm>
          <a:prstGeom xmlns:a="http://schemas.openxmlformats.org/drawingml/2006/main" prst="roundRect">
            <a:avLst>
              <a:gd name="adj" fmla="val 30000"/>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200" b="1">
                <a:solidFill>
                  <a:srgbClr val="174936"/>
                </a:solidFill>
              </a:defRPr>
            </a:pPr>
            <a:r>
              <a:rPr sz="1200" b="1">
                <a:solidFill>
                  <a:srgbClr val="174936"/>
                </a:solidFill>
              </a:rPr>
              <a:t>CHECK THE CLAIM: A plate looks better when every empty space is filled with food or…</a:t>
            </a:r>
          </a:p>
        </p:txBody>
      </p:sp>
    </p:spTree>
    <p:extLst>
      <p:ext uri="{BB962C8B-B14F-4D97-AF65-F5344CB8AC3E}">
        <p14:creationId xmlns:p14="http://schemas.microsoft.com/office/powerpoint/2010/main" val="1952248758"/>
      </p:ext>
    </p:extLst>
  </p:cSld>
</p:sld>
</file>

<file path=ppt/slides/slide6.xml><?xml version="1.0" encoding="utf-8"?>
<p:sld xmlns:p="http://schemas.openxmlformats.org/presentationml/2006/main">
  <p:cSld>
    <p:bg>
      <p:bgPr>
        <a:solidFill xmlns:a="http://schemas.openxmlformats.org/drawingml/2006/main">
          <a:srgbClr val="17493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81880A6-1057-42D3-8689-C4082112342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6A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15BAA4-F7FE-483A-8294-C6E791E01E34}"/>
              </a:ext>
            </a:extLst>
          </p:cNvPr>
          <p:cNvSpPr>
            <a:spLocks xmlns:a="http://schemas.openxmlformats.org/drawingml/2006/main" noGrp="1"/>
          </p:cNvSpPr>
          <p:nvPr/>
        </p:nvSpPr>
        <p:spPr>
          <a:xfrm xmlns:a="http://schemas.openxmlformats.org/drawingml/2006/main">
            <a:off x="685800" y="6438900"/>
            <a:ext cx="5715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D6D63"/>
                </a:solidFill>
              </a:defRPr>
            </a:pPr>
            <a:r>
              <a:rPr sz="1050" b="1">
                <a:solidFill>
                  <a:srgbClr val="5D6D63"/>
                </a:solidFill>
              </a:rPr>
              <a:t>MODULE 09 · YEAR 8 FOOD TECHNOLOGY</a:t>
            </a:r>
          </a:p>
        </p:txBody>
      </p:sp>
      <p:sp>
        <p:nvSpPr>
          <p:cNvPr id="3" name="">
            <a:extLst xmlns:a="http://schemas.openxmlformats.org/drawingml/2006/main">
              <a:ext uri="{FF2B5EF4-FFF2-40B4-BE49-F238E27FC236}">
                <a16:creationId xmlns:a16="http://schemas.microsoft.com/office/drawing/2014/main" id="{82791EFC-F434-4E1A-AF4E-E884D1DB2BD2}"/>
              </a:ext>
            </a:extLst>
          </p:cNvPr>
          <p:cNvSpPr>
            <a:spLocks xmlns:a="http://schemas.openxmlformats.org/drawingml/2006/main" noGrp="1"/>
          </p:cNvSpPr>
          <p:nvPr/>
        </p:nvSpPr>
        <p:spPr>
          <a:xfrm xmlns:a="http://schemas.openxmlformats.org/drawingml/2006/main">
            <a:off x="10953750" y="6438900"/>
            <a:ext cx="5524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9493E"/>
                </a:solidFill>
              </a:defRPr>
            </a:pPr>
            <a:r>
              <a:rPr sz="1050" b="1">
                <a:solidFill>
                  <a:srgbClr val="C9493E"/>
                </a:solidFill>
              </a:rPr>
              <a:t>06</a:t>
            </a:r>
          </a:p>
        </p:txBody>
      </p:sp>
      <p:sp>
        <p:nvSpPr>
          <p:cNvPr id="4" name="">
            <a:extLst xmlns:a="http://schemas.openxmlformats.org/drawingml/2006/main">
              <a:ext uri="{FF2B5EF4-FFF2-40B4-BE49-F238E27FC236}">
                <a16:creationId xmlns:a16="http://schemas.microsoft.com/office/drawing/2014/main" id="{D73FCA79-AB9A-45B0-9420-175820F3B921}"/>
              </a:ext>
            </a:extLst>
          </p:cNvPr>
          <p:cNvSpPr>
            <a:spLocks xmlns:a="http://schemas.openxmlformats.org/drawingml/2006/main" noGrp="1"/>
          </p:cNvSpPr>
          <p:nvPr/>
        </p:nvSpPr>
        <p:spPr>
          <a:xfrm xmlns:a="http://schemas.openxmlformats.org/drawingml/2006/main">
            <a:off x="685800" y="838200"/>
            <a:ext cx="7620000" cy="609600"/>
          </a:xfrm>
          <a:prstGeom xmlns:a="http://schemas.openxmlformats.org/drawingml/2006/main" prst="roundRect">
            <a:avLst>
              <a:gd name="adj" fmla="val 1875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5" name="">
            <a:extLst xmlns:a="http://schemas.openxmlformats.org/drawingml/2006/main">
              <a:ext uri="{FF2B5EF4-FFF2-40B4-BE49-F238E27FC236}">
                <a16:creationId xmlns:a16="http://schemas.microsoft.com/office/drawing/2014/main" id="{24F2694B-A244-40BD-9548-A0CD8FD125FC}"/>
              </a:ext>
            </a:extLst>
          </p:cNvPr>
          <p:cNvSpPr>
            <a:spLocks xmlns:a="http://schemas.openxmlformats.org/drawingml/2006/main" noGrp="1"/>
          </p:cNvSpPr>
          <p:nvPr/>
        </p:nvSpPr>
        <p:spPr>
          <a:xfrm xmlns:a="http://schemas.openxmlformats.org/drawingml/2006/main">
            <a:off x="685800" y="1485900"/>
            <a:ext cx="8572500" cy="323850"/>
          </a:xfrm>
          <a:prstGeom xmlns:a="http://schemas.openxmlformats.org/drawingml/2006/main" prst="roundRect">
            <a:avLst>
              <a:gd name="adj" fmla="val 35294"/>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D8E7DD"/>
                </a:solidFill>
              </a:defRPr>
            </a:pPr>
            <a:r>
              <a:rPr sz="1575" b="0">
                <a:solidFill>
                  <a:srgbClr val="D8E7DD"/>
                </a:solidFill>
              </a:rPr>
              <a:t>Answer silently first. Then compare reasoning—not just answers.</a:t>
            </a:r>
          </a:p>
        </p:txBody>
      </p:sp>
      <p:sp>
        <p:nvSpPr>
          <p:cNvPr id="6" name="">
            <a:extLst xmlns:a="http://schemas.openxmlformats.org/drawingml/2006/main">
              <a:ext uri="{FF2B5EF4-FFF2-40B4-BE49-F238E27FC236}">
                <a16:creationId xmlns:a16="http://schemas.microsoft.com/office/drawing/2014/main" id="{1D207F1E-A594-45C6-B1A3-776BAC2FB935}"/>
              </a:ext>
            </a:extLst>
          </p:cNvPr>
          <p:cNvSpPr>
            <a:spLocks xmlns:a="http://schemas.openxmlformats.org/drawingml/2006/main" noGrp="1"/>
          </p:cNvSpPr>
          <p:nvPr/>
        </p:nvSpPr>
        <p:spPr>
          <a:xfrm xmlns:a="http://schemas.openxmlformats.org/drawingml/2006/main">
            <a:off x="800100" y="2362200"/>
            <a:ext cx="514350" cy="5143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74936"/>
                </a:solidFill>
              </a:defRPr>
            </a:pPr>
            <a:r>
              <a:rPr sz="1725" b="1">
                <a:solidFill>
                  <a:srgbClr val="174936"/>
                </a:solidFill>
              </a:rPr>
              <a:t>1</a:t>
            </a:r>
          </a:p>
        </p:txBody>
      </p:sp>
      <p:sp>
        <p:nvSpPr>
          <p:cNvPr id="7" name="">
            <a:extLst xmlns:a="http://schemas.openxmlformats.org/drawingml/2006/main">
              <a:ext uri="{FF2B5EF4-FFF2-40B4-BE49-F238E27FC236}">
                <a16:creationId xmlns:a16="http://schemas.microsoft.com/office/drawing/2014/main" id="{E36A1810-589E-43CC-8809-65BD3B1BA40F}"/>
              </a:ext>
            </a:extLst>
          </p:cNvPr>
          <p:cNvSpPr>
            <a:spLocks xmlns:a="http://schemas.openxmlformats.org/drawingml/2006/main" noGrp="1"/>
          </p:cNvSpPr>
          <p:nvPr/>
        </p:nvSpPr>
        <p:spPr>
          <a:xfrm xmlns:a="http://schemas.openxmlformats.org/drawingml/2006/main">
            <a:off x="1524000" y="2190750"/>
            <a:ext cx="9791700" cy="838200"/>
          </a:xfrm>
          <a:prstGeom xmlns:a="http://schemas.openxmlformats.org/drawingml/2006/main" prst="roundRect">
            <a:avLst>
              <a:gd name="adj" fmla="val 13636"/>
            </a:avLst>
          </a:prstGeom>
          <a:solidFill xmlns:a="http://schemas.openxmlformats.org/drawingml/2006/main">
            <a:srgbClr val="214F3D"/>
          </a:solidFill>
          <a:ln xmlns:a="http://schemas.openxmlformats.org/drawingml/2006/main" w="9525">
            <a:solidFill>
              <a:srgbClr val="3D7259"/>
            </a:solidFill>
            <a:prstDash val="solid"/>
          </a:ln>
        </p:spPr>
        <p:txBody>
          <a:bodyPr xmlns:a="http://schemas.openxmlformats.org/drawingml/2006/main" lIns="171450" tIns="76200" rIns="171450" bIns="76200" anchor="ctr">
            <a:noAutofit/>
          </a:bodyPr>
          <a:lstStyle xmlns:a="http://schemas.openxmlformats.org/drawingml/2006/main"/>
          <a:p xmlns:a="http://schemas.openxmlformats.org/drawingml/2006/main">
            <a:pPr algn="l">
              <a:defRPr sz="1725" b="1">
                <a:solidFill>
                  <a:srgbClr val="FFFFFF"/>
                </a:solidFill>
              </a:defRPr>
            </a:pPr>
            <a:r>
              <a:rPr sz="1725" b="1">
                <a:solidFill>
                  <a:srgbClr val="FFFFFF"/>
                </a:solidFill>
              </a:rPr>
              <a:t>Correct or improve this claim: “The best party recipe is simply the one that looks most impressive.”</a:t>
            </a:r>
          </a:p>
        </p:txBody>
      </p:sp>
      <p:sp>
        <p:nvSpPr>
          <p:cNvPr id="8" name="">
            <a:extLst xmlns:a="http://schemas.openxmlformats.org/drawingml/2006/main">
              <a:ext uri="{FF2B5EF4-FFF2-40B4-BE49-F238E27FC236}">
                <a16:creationId xmlns:a16="http://schemas.microsoft.com/office/drawing/2014/main" id="{98602376-4E4D-4CC2-9C37-2B68A2B58DBD}"/>
              </a:ext>
            </a:extLst>
          </p:cNvPr>
          <p:cNvSpPr>
            <a:spLocks xmlns:a="http://schemas.openxmlformats.org/drawingml/2006/main" noGrp="1"/>
          </p:cNvSpPr>
          <p:nvPr/>
        </p:nvSpPr>
        <p:spPr>
          <a:xfrm xmlns:a="http://schemas.openxmlformats.org/drawingml/2006/main">
            <a:off x="800100" y="3505200"/>
            <a:ext cx="514350" cy="514350"/>
          </a:xfrm>
          <a:prstGeom xmlns:a="http://schemas.openxmlformats.org/drawingml/2006/main" prst="roundRect">
            <a:avLst>
              <a:gd name="adj" fmla="val 50000"/>
            </a:avLst>
          </a:prstGeom>
          <a:solidFill xmlns:a="http://schemas.openxmlformats.org/drawingml/2006/main">
            <a:srgbClr val="E6AE35"/>
          </a:solidFill>
          <a:ln xmlns:a="http://schemas.openxmlformats.org/drawingml/2006/main" w="9525">
            <a:solidFill>
              <a:srgbClr val="E6AE35"/>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74936"/>
                </a:solidFill>
              </a:defRPr>
            </a:pPr>
            <a:r>
              <a:rPr sz="1725" b="1">
                <a:solidFill>
                  <a:srgbClr val="174936"/>
                </a:solidFill>
              </a:rPr>
              <a:t>2</a:t>
            </a:r>
          </a:p>
        </p:txBody>
      </p:sp>
      <p:sp>
        <p:nvSpPr>
          <p:cNvPr id="9" name="">
            <a:extLst xmlns:a="http://schemas.openxmlformats.org/drawingml/2006/main">
              <a:ext uri="{FF2B5EF4-FFF2-40B4-BE49-F238E27FC236}">
                <a16:creationId xmlns:a16="http://schemas.microsoft.com/office/drawing/2014/main" id="{6FD80573-C48E-4EFE-ADB7-5212F482825B}"/>
              </a:ext>
            </a:extLst>
          </p:cNvPr>
          <p:cNvSpPr>
            <a:spLocks xmlns:a="http://schemas.openxmlformats.org/drawingml/2006/main" noGrp="1"/>
          </p:cNvSpPr>
          <p:nvPr/>
        </p:nvSpPr>
        <p:spPr>
          <a:xfrm xmlns:a="http://schemas.openxmlformats.org/drawingml/2006/main">
            <a:off x="1524000" y="3333750"/>
            <a:ext cx="9791700" cy="838200"/>
          </a:xfrm>
          <a:prstGeom xmlns:a="http://schemas.openxmlformats.org/drawingml/2006/main" prst="roundRect">
            <a:avLst>
              <a:gd name="adj" fmla="val 13636"/>
            </a:avLst>
          </a:prstGeom>
          <a:solidFill xmlns:a="http://schemas.openxmlformats.org/drawingml/2006/main">
            <a:srgbClr val="214F3D"/>
          </a:solidFill>
          <a:ln xmlns:a="http://schemas.openxmlformats.org/drawingml/2006/main" w="9525">
            <a:solidFill>
              <a:srgbClr val="3D7259"/>
            </a:solidFill>
            <a:prstDash val="solid"/>
          </a:ln>
        </p:spPr>
        <p:txBody>
          <a:bodyPr xmlns:a="http://schemas.openxmlformats.org/drawingml/2006/main" lIns="171450" tIns="76200" rIns="171450" bIns="76200" anchor="ctr">
            <a:noAutofit/>
          </a:bodyPr>
          <a:lstStyle xmlns:a="http://schemas.openxmlformats.org/drawingml/2006/main"/>
          <a:p xmlns:a="http://schemas.openxmlformats.org/drawingml/2006/main">
            <a:pPr algn="l">
              <a:defRPr sz="1725" b="1">
                <a:solidFill>
                  <a:srgbClr val="FFFFFF"/>
                </a:solidFill>
              </a:defRPr>
            </a:pPr>
            <a:r>
              <a:rPr sz="1725" b="1">
                <a:solidFill>
                  <a:srgbClr val="FFFFFF"/>
                </a:solidFill>
              </a:rPr>
              <a:t>Correct or improve this claim: “A good workflow is simply the recipe method copied into a timetable.”</a:t>
            </a:r>
          </a:p>
        </p:txBody>
      </p:sp>
      <p:sp>
        <p:nvSpPr>
          <p:cNvPr id="10" name="">
            <a:extLst xmlns:a="http://schemas.openxmlformats.org/drawingml/2006/main">
              <a:ext uri="{FF2B5EF4-FFF2-40B4-BE49-F238E27FC236}">
                <a16:creationId xmlns:a16="http://schemas.microsoft.com/office/drawing/2014/main" id="{EC58DF56-44B7-45C0-8AB8-269A747C06C6}"/>
              </a:ext>
            </a:extLst>
          </p:cNvPr>
          <p:cNvSpPr>
            <a:spLocks xmlns:a="http://schemas.openxmlformats.org/drawingml/2006/main" noGrp="1"/>
          </p:cNvSpPr>
          <p:nvPr/>
        </p:nvSpPr>
        <p:spPr>
          <a:xfrm xmlns:a="http://schemas.openxmlformats.org/drawingml/2006/main">
            <a:off x="800100" y="4648200"/>
            <a:ext cx="514350" cy="5143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725" b="1">
                <a:solidFill>
                  <a:srgbClr val="174936"/>
                </a:solidFill>
              </a:defRPr>
            </a:pPr>
            <a:r>
              <a:rPr sz="1725" b="1">
                <a:solidFill>
                  <a:srgbClr val="174936"/>
                </a:solidFill>
              </a:rPr>
              <a:t>3</a:t>
            </a:r>
          </a:p>
        </p:txBody>
      </p:sp>
      <p:sp>
        <p:nvSpPr>
          <p:cNvPr id="11" name="">
            <a:extLst xmlns:a="http://schemas.openxmlformats.org/drawingml/2006/main">
              <a:ext uri="{FF2B5EF4-FFF2-40B4-BE49-F238E27FC236}">
                <a16:creationId xmlns:a16="http://schemas.microsoft.com/office/drawing/2014/main" id="{07E2F59A-6793-4115-AA26-9D39A6EE42FB}"/>
              </a:ext>
            </a:extLst>
          </p:cNvPr>
          <p:cNvSpPr>
            <a:spLocks xmlns:a="http://schemas.openxmlformats.org/drawingml/2006/main" noGrp="1"/>
          </p:cNvSpPr>
          <p:nvPr/>
        </p:nvSpPr>
        <p:spPr>
          <a:xfrm xmlns:a="http://schemas.openxmlformats.org/drawingml/2006/main">
            <a:off x="1524000" y="4476750"/>
            <a:ext cx="9791700" cy="838200"/>
          </a:xfrm>
          <a:prstGeom xmlns:a="http://schemas.openxmlformats.org/drawingml/2006/main" prst="roundRect">
            <a:avLst>
              <a:gd name="adj" fmla="val 13636"/>
            </a:avLst>
          </a:prstGeom>
          <a:solidFill xmlns:a="http://schemas.openxmlformats.org/drawingml/2006/main">
            <a:srgbClr val="214F3D"/>
          </a:solidFill>
          <a:ln xmlns:a="http://schemas.openxmlformats.org/drawingml/2006/main" w="9525">
            <a:solidFill>
              <a:srgbClr val="3D7259"/>
            </a:solidFill>
            <a:prstDash val="solid"/>
          </a:ln>
        </p:spPr>
        <p:txBody>
          <a:bodyPr xmlns:a="http://schemas.openxmlformats.org/drawingml/2006/main" lIns="171450" tIns="76200" rIns="171450" bIns="76200" anchor="ctr">
            <a:noAutofit/>
          </a:bodyPr>
          <a:lstStyle xmlns:a="http://schemas.openxmlformats.org/drawingml/2006/main"/>
          <a:p xmlns:a="http://schemas.openxmlformats.org/drawingml/2006/main">
            <a:pPr algn="l">
              <a:defRPr sz="1725" b="1">
                <a:solidFill>
                  <a:srgbClr val="FFFFFF"/>
                </a:solidFill>
              </a:defRPr>
            </a:pPr>
            <a:r>
              <a:rPr sz="1725" b="1">
                <a:solidFill>
                  <a:srgbClr val="FFFFFF"/>
                </a:solidFill>
              </a:rPr>
              <a:t>Correct or improve this claim: “A plate looks better when every empty space is filled with food or decoration.”</a:t>
            </a:r>
          </a:p>
        </p:txBody>
      </p:sp>
    </p:spTree>
    <p:extLst>
      <p:ext uri="{BB962C8B-B14F-4D97-AF65-F5344CB8AC3E}">
        <p14:creationId xmlns:p14="http://schemas.microsoft.com/office/powerpoint/2010/main" val="1371260951"/>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AED42BB-6257-4CB4-8179-AB8894E90F7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6A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CA742F-F8FC-4736-A73B-809A8AD12254}"/>
              </a:ext>
            </a:extLst>
          </p:cNvPr>
          <p:cNvSpPr>
            <a:spLocks xmlns:a="http://schemas.openxmlformats.org/drawingml/2006/main" noGrp="1"/>
          </p:cNvSpPr>
          <p:nvPr/>
        </p:nvSpPr>
        <p:spPr>
          <a:xfrm xmlns:a="http://schemas.openxmlformats.org/drawingml/2006/main">
            <a:off x="685800" y="6438900"/>
            <a:ext cx="5715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D6D63"/>
                </a:solidFill>
              </a:defRPr>
            </a:pPr>
            <a:r>
              <a:rPr sz="1050" b="1">
                <a:solidFill>
                  <a:srgbClr val="5D6D63"/>
                </a:solidFill>
              </a:rPr>
              <a:t>MODULE 09 · YEAR 8 FOOD TECHNOLOGY</a:t>
            </a:r>
          </a:p>
        </p:txBody>
      </p:sp>
      <p:sp>
        <p:nvSpPr>
          <p:cNvPr id="3" name="">
            <a:extLst xmlns:a="http://schemas.openxmlformats.org/drawingml/2006/main">
              <a:ext uri="{FF2B5EF4-FFF2-40B4-BE49-F238E27FC236}">
                <a16:creationId xmlns:a16="http://schemas.microsoft.com/office/drawing/2014/main" id="{4315C0AF-1CB5-4622-A231-33DF072ACD20}"/>
              </a:ext>
            </a:extLst>
          </p:cNvPr>
          <p:cNvSpPr>
            <a:spLocks xmlns:a="http://schemas.openxmlformats.org/drawingml/2006/main" noGrp="1"/>
          </p:cNvSpPr>
          <p:nvPr/>
        </p:nvSpPr>
        <p:spPr>
          <a:xfrm xmlns:a="http://schemas.openxmlformats.org/drawingml/2006/main">
            <a:off x="10953750" y="6438900"/>
            <a:ext cx="5524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9493E"/>
                </a:solidFill>
              </a:defRPr>
            </a:pPr>
            <a:r>
              <a:rPr sz="1050" b="1">
                <a:solidFill>
                  <a:srgbClr val="C9493E"/>
                </a:solidFill>
              </a:rPr>
              <a:t>07</a:t>
            </a:r>
          </a:p>
        </p:txBody>
      </p:sp>
      <p:sp>
        <p:nvSpPr>
          <p:cNvPr id="4" name="">
            <a:extLst xmlns:a="http://schemas.openxmlformats.org/drawingml/2006/main">
              <a:ext uri="{FF2B5EF4-FFF2-40B4-BE49-F238E27FC236}">
                <a16:creationId xmlns:a16="http://schemas.microsoft.com/office/drawing/2014/main" id="{B62E33F8-EA6F-45C2-BB70-A06E8C873F56}"/>
              </a:ext>
            </a:extLst>
          </p:cNvPr>
          <p:cNvSpPr>
            <a:spLocks xmlns:a="http://schemas.openxmlformats.org/drawingml/2006/main" noGrp="1"/>
          </p:cNvSpPr>
          <p:nvPr/>
        </p:nvSpPr>
        <p:spPr>
          <a:xfrm xmlns:a="http://schemas.openxmlformats.org/drawingml/2006/main">
            <a:off x="685800" y="781050"/>
            <a:ext cx="9525000" cy="590550"/>
          </a:xfrm>
          <a:prstGeom xmlns:a="http://schemas.openxmlformats.org/drawingml/2006/main" prst="roundRect">
            <a:avLst>
              <a:gd name="adj" fmla="val 19355"/>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4936"/>
                </a:solidFill>
              </a:defRPr>
            </a:pPr>
            <a:r>
              <a:rPr sz="3150" b="1">
                <a:solidFill>
                  <a:srgbClr val="174936"/>
                </a:solidFill>
              </a:rPr>
              <a:t>Read → Select → Explain → Check</a:t>
            </a:r>
          </a:p>
        </p:txBody>
      </p:sp>
      <p:sp>
        <p:nvSpPr>
          <p:cNvPr id="5" name="">
            <a:extLst xmlns:a="http://schemas.openxmlformats.org/drawingml/2006/main">
              <a:ext uri="{FF2B5EF4-FFF2-40B4-BE49-F238E27FC236}">
                <a16:creationId xmlns:a16="http://schemas.microsoft.com/office/drawing/2014/main" id="{EB33F0C8-4162-42DA-B736-D156313061AF}"/>
              </a:ext>
            </a:extLst>
          </p:cNvPr>
          <p:cNvSpPr>
            <a:spLocks xmlns:a="http://schemas.openxmlformats.org/drawingml/2006/main" noGrp="1"/>
          </p:cNvSpPr>
          <p:nvPr/>
        </p:nvSpPr>
        <p:spPr>
          <a:xfrm xmlns:a="http://schemas.openxmlformats.org/drawingml/2006/main">
            <a:off x="685800" y="1676400"/>
            <a:ext cx="10820400" cy="1238250"/>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D1DDD3"/>
            </a:solidFill>
            <a:prstDash val="solid"/>
          </a:ln>
        </p:spPr>
      </p:sp>
      <p:sp>
        <p:nvSpPr>
          <p:cNvPr id="6" name="">
            <a:extLst xmlns:a="http://schemas.openxmlformats.org/drawingml/2006/main">
              <a:ext uri="{FF2B5EF4-FFF2-40B4-BE49-F238E27FC236}">
                <a16:creationId xmlns:a16="http://schemas.microsoft.com/office/drawing/2014/main" id="{E3C36293-B91D-4DAD-B6C2-EFAF9939A905}"/>
              </a:ext>
            </a:extLst>
          </p:cNvPr>
          <p:cNvSpPr>
            <a:spLocks xmlns:a="http://schemas.openxmlformats.org/drawingml/2006/main" noGrp="1"/>
          </p:cNvSpPr>
          <p:nvPr/>
        </p:nvSpPr>
        <p:spPr>
          <a:xfrm xmlns:a="http://schemas.openxmlformats.org/drawingml/2006/main">
            <a:off x="933450" y="1885950"/>
            <a:ext cx="18097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125" b="1">
                <a:solidFill>
                  <a:srgbClr val="C9493E"/>
                </a:solidFill>
              </a:defRPr>
            </a:pPr>
            <a:r>
              <a:rPr sz="1125" b="1">
                <a:solidFill>
                  <a:srgbClr val="C9493E"/>
                </a:solidFill>
              </a:rPr>
              <a:t>THE QUESTION</a:t>
            </a:r>
          </a:p>
        </p:txBody>
      </p:sp>
      <p:sp>
        <p:nvSpPr>
          <p:cNvPr id="7" name="">
            <a:extLst xmlns:a="http://schemas.openxmlformats.org/drawingml/2006/main">
              <a:ext uri="{FF2B5EF4-FFF2-40B4-BE49-F238E27FC236}">
                <a16:creationId xmlns:a16="http://schemas.microsoft.com/office/drawing/2014/main" id="{4FDE4FA7-689B-40FA-972C-C89EA1DA9BD5}"/>
              </a:ext>
            </a:extLst>
          </p:cNvPr>
          <p:cNvSpPr>
            <a:spLocks xmlns:a="http://schemas.openxmlformats.org/drawingml/2006/main" noGrp="1"/>
          </p:cNvSpPr>
          <p:nvPr/>
        </p:nvSpPr>
        <p:spPr>
          <a:xfrm xmlns:a="http://schemas.openxmlformats.org/drawingml/2006/main">
            <a:off x="933450" y="2209800"/>
            <a:ext cx="10287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725" b="1">
                <a:solidFill>
                  <a:srgbClr val="174936"/>
                </a:solidFill>
              </a:defRPr>
            </a:pPr>
            <a:r>
              <a:rPr sz="1725" b="1">
                <a:solidFill>
                  <a:srgbClr val="174936"/>
                </a:solidFill>
              </a:rPr>
              <a:t>Use the assessment-workbook and recipe-booklet to connect presentation choices to the intended food and user without inventing additional assessment requirements.</a:t>
            </a:r>
          </a:p>
        </p:txBody>
      </p:sp>
      <p:sp>
        <p:nvSpPr>
          <p:cNvPr id="8" name="">
            <a:extLst xmlns:a="http://schemas.openxmlformats.org/drawingml/2006/main">
              <a:ext uri="{FF2B5EF4-FFF2-40B4-BE49-F238E27FC236}">
                <a16:creationId xmlns:a16="http://schemas.microsoft.com/office/drawing/2014/main" id="{B2D7529B-C423-4098-918A-1529D749C715}"/>
              </a:ext>
            </a:extLst>
          </p:cNvPr>
          <p:cNvSpPr>
            <a:spLocks xmlns:a="http://schemas.openxmlformats.org/drawingml/2006/main" noGrp="1"/>
          </p:cNvSpPr>
          <p:nvPr/>
        </p:nvSpPr>
        <p:spPr>
          <a:xfrm xmlns:a="http://schemas.openxmlformats.org/drawingml/2006/main">
            <a:off x="685800" y="3314700"/>
            <a:ext cx="2476500" cy="2038350"/>
          </a:xfrm>
          <a:prstGeom xmlns:a="http://schemas.openxmlformats.org/drawingml/2006/main" prst="roundRect">
            <a:avLst>
              <a:gd name="adj" fmla="val 7477"/>
            </a:avLst>
          </a:prstGeom>
          <a:solidFill xmlns:a="http://schemas.openxmlformats.org/drawingml/2006/main">
            <a:srgbClr val="174936"/>
          </a:solidFill>
          <a:ln xmlns:a="http://schemas.openxmlformats.org/drawingml/2006/main" w="19050">
            <a:solidFill>
              <a:srgbClr val="174936"/>
            </a:solidFill>
            <a:prstDash val="solid"/>
          </a:ln>
        </p:spPr>
      </p:sp>
      <p:sp>
        <p:nvSpPr>
          <p:cNvPr id="9" name="">
            <a:extLst xmlns:a="http://schemas.openxmlformats.org/drawingml/2006/main">
              <a:ext uri="{FF2B5EF4-FFF2-40B4-BE49-F238E27FC236}">
                <a16:creationId xmlns:a16="http://schemas.microsoft.com/office/drawing/2014/main" id="{19744A41-2A42-4A75-AE6E-AB17F8EAD8D2}"/>
              </a:ext>
            </a:extLst>
          </p:cNvPr>
          <p:cNvSpPr>
            <a:spLocks xmlns:a="http://schemas.openxmlformats.org/drawingml/2006/main" noGrp="1"/>
          </p:cNvSpPr>
          <p:nvPr/>
        </p:nvSpPr>
        <p:spPr>
          <a:xfrm xmlns:a="http://schemas.openxmlformats.org/drawingml/2006/main">
            <a:off x="876300" y="3543300"/>
            <a:ext cx="2095500" cy="266700"/>
          </a:xfrm>
          <a:prstGeom xmlns:a="http://schemas.openxmlformats.org/drawingml/2006/main" prst="roundRect">
            <a:avLst>
              <a:gd name="adj" fmla="val 4285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FFFFFF"/>
                </a:solidFill>
              </a:defRPr>
            </a:pPr>
            <a:r>
              <a:rPr sz="1275" b="1">
                <a:solidFill>
                  <a:srgbClr val="FFFFFF"/>
                </a:solidFill>
              </a:rPr>
              <a:t>1 · READ</a:t>
            </a:r>
          </a:p>
        </p:txBody>
      </p:sp>
      <p:sp>
        <p:nvSpPr>
          <p:cNvPr id="10" name="">
            <a:extLst xmlns:a="http://schemas.openxmlformats.org/drawingml/2006/main">
              <a:ext uri="{FF2B5EF4-FFF2-40B4-BE49-F238E27FC236}">
                <a16:creationId xmlns:a16="http://schemas.microsoft.com/office/drawing/2014/main" id="{5F50B3C5-FB03-4880-A957-89222BB4DE55}"/>
              </a:ext>
            </a:extLst>
          </p:cNvPr>
          <p:cNvSpPr>
            <a:spLocks xmlns:a="http://schemas.openxmlformats.org/drawingml/2006/main" noGrp="1"/>
          </p:cNvSpPr>
          <p:nvPr/>
        </p:nvSpPr>
        <p:spPr>
          <a:xfrm xmlns:a="http://schemas.openxmlformats.org/drawingml/2006/main">
            <a:off x="876300" y="4010025"/>
            <a:ext cx="2095500" cy="1047750"/>
          </a:xfrm>
          <a:prstGeom xmlns:a="http://schemas.openxmlformats.org/drawingml/2006/main" prst="roundRect">
            <a:avLst>
              <a:gd name="adj" fmla="val 10909"/>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FFFFFF"/>
                </a:solidFill>
              </a:defRPr>
            </a:pPr>
            <a:r>
              <a:rPr sz="1500" b="0">
                <a:solidFill>
                  <a:srgbClr val="FFFFFF"/>
                </a:solidFill>
              </a:rPr>
              <a:t>Underline the task word and the exact context.</a:t>
            </a:r>
          </a:p>
        </p:txBody>
      </p:sp>
      <p:sp>
        <p:nvSpPr>
          <p:cNvPr id="11" name="">
            <a:extLst xmlns:a="http://schemas.openxmlformats.org/drawingml/2006/main">
              <a:ext uri="{FF2B5EF4-FFF2-40B4-BE49-F238E27FC236}">
                <a16:creationId xmlns:a16="http://schemas.microsoft.com/office/drawing/2014/main" id="{C8AB53D0-74D7-4783-AD2E-1BEB56C336D6}"/>
              </a:ext>
            </a:extLst>
          </p:cNvPr>
          <p:cNvSpPr>
            <a:spLocks xmlns:a="http://schemas.openxmlformats.org/drawingml/2006/main" noGrp="1"/>
          </p:cNvSpPr>
          <p:nvPr/>
        </p:nvSpPr>
        <p:spPr>
          <a:xfrm xmlns:a="http://schemas.openxmlformats.org/drawingml/2006/main">
            <a:off x="3390900" y="3314700"/>
            <a:ext cx="2476500" cy="2038350"/>
          </a:xfrm>
          <a:prstGeom xmlns:a="http://schemas.openxmlformats.org/drawingml/2006/main" prst="roundRect">
            <a:avLst>
              <a:gd name="adj" fmla="val 7477"/>
            </a:avLst>
          </a:prstGeom>
          <a:solidFill xmlns:a="http://schemas.openxmlformats.org/drawingml/2006/main">
            <a:srgbClr val="DCEEE2"/>
          </a:solidFill>
          <a:ln xmlns:a="http://schemas.openxmlformats.org/drawingml/2006/main" w="19050">
            <a:solidFill>
              <a:srgbClr val="D1DDD3"/>
            </a:solidFill>
            <a:prstDash val="solid"/>
          </a:ln>
        </p:spPr>
      </p:sp>
      <p:sp>
        <p:nvSpPr>
          <p:cNvPr id="12" name="">
            <a:extLst xmlns:a="http://schemas.openxmlformats.org/drawingml/2006/main">
              <a:ext uri="{FF2B5EF4-FFF2-40B4-BE49-F238E27FC236}">
                <a16:creationId xmlns:a16="http://schemas.microsoft.com/office/drawing/2014/main" id="{12008897-6ECE-4215-AA72-266A7C1062F6}"/>
              </a:ext>
            </a:extLst>
          </p:cNvPr>
          <p:cNvSpPr>
            <a:spLocks xmlns:a="http://schemas.openxmlformats.org/drawingml/2006/main" noGrp="1"/>
          </p:cNvSpPr>
          <p:nvPr/>
        </p:nvSpPr>
        <p:spPr>
          <a:xfrm xmlns:a="http://schemas.openxmlformats.org/drawingml/2006/main">
            <a:off x="3581400" y="3543300"/>
            <a:ext cx="2095500" cy="266700"/>
          </a:xfrm>
          <a:prstGeom xmlns:a="http://schemas.openxmlformats.org/drawingml/2006/main" prst="roundRect">
            <a:avLst>
              <a:gd name="adj" fmla="val 4285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74936"/>
                </a:solidFill>
              </a:defRPr>
            </a:pPr>
            <a:r>
              <a:rPr sz="1275" b="1">
                <a:solidFill>
                  <a:srgbClr val="174936"/>
                </a:solidFill>
              </a:rPr>
              <a:t>2 · SELECT</a:t>
            </a:r>
          </a:p>
        </p:txBody>
      </p:sp>
      <p:sp>
        <p:nvSpPr>
          <p:cNvPr id="13" name="">
            <a:extLst xmlns:a="http://schemas.openxmlformats.org/drawingml/2006/main">
              <a:ext uri="{FF2B5EF4-FFF2-40B4-BE49-F238E27FC236}">
                <a16:creationId xmlns:a16="http://schemas.microsoft.com/office/drawing/2014/main" id="{46D1D589-956D-4B17-9654-38D77CAFA8F2}"/>
              </a:ext>
            </a:extLst>
          </p:cNvPr>
          <p:cNvSpPr>
            <a:spLocks xmlns:a="http://schemas.openxmlformats.org/drawingml/2006/main" noGrp="1"/>
          </p:cNvSpPr>
          <p:nvPr/>
        </p:nvSpPr>
        <p:spPr>
          <a:xfrm xmlns:a="http://schemas.openxmlformats.org/drawingml/2006/main">
            <a:off x="3581400" y="4010025"/>
            <a:ext cx="2095500" cy="1047750"/>
          </a:xfrm>
          <a:prstGeom xmlns:a="http://schemas.openxmlformats.org/drawingml/2006/main" prst="roundRect">
            <a:avLst>
              <a:gd name="adj" fmla="val 10909"/>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43229"/>
                </a:solidFill>
              </a:defRPr>
            </a:pPr>
            <a:r>
              <a:rPr sz="1500" b="0">
                <a:solidFill>
                  <a:srgbClr val="243229"/>
                </a:solidFill>
              </a:rPr>
              <a:t>Choose the theory and evidence that answer this question.</a:t>
            </a:r>
          </a:p>
        </p:txBody>
      </p:sp>
      <p:sp>
        <p:nvSpPr>
          <p:cNvPr id="14" name="">
            <a:extLst xmlns:a="http://schemas.openxmlformats.org/drawingml/2006/main">
              <a:ext uri="{FF2B5EF4-FFF2-40B4-BE49-F238E27FC236}">
                <a16:creationId xmlns:a16="http://schemas.microsoft.com/office/drawing/2014/main" id="{0B01C253-E278-417B-B71A-6B50B54A0682}"/>
              </a:ext>
            </a:extLst>
          </p:cNvPr>
          <p:cNvSpPr>
            <a:spLocks xmlns:a="http://schemas.openxmlformats.org/drawingml/2006/main" noGrp="1"/>
          </p:cNvSpPr>
          <p:nvPr/>
        </p:nvSpPr>
        <p:spPr>
          <a:xfrm xmlns:a="http://schemas.openxmlformats.org/drawingml/2006/main">
            <a:off x="6096000" y="3314700"/>
            <a:ext cx="2476500" cy="2038350"/>
          </a:xfrm>
          <a:prstGeom xmlns:a="http://schemas.openxmlformats.org/drawingml/2006/main" prst="roundRect">
            <a:avLst>
              <a:gd name="adj" fmla="val 7477"/>
            </a:avLst>
          </a:prstGeom>
          <a:solidFill xmlns:a="http://schemas.openxmlformats.org/drawingml/2006/main">
            <a:srgbClr val="E6AE35"/>
          </a:solidFill>
          <a:ln xmlns:a="http://schemas.openxmlformats.org/drawingml/2006/main" w="19050">
            <a:solidFill>
              <a:srgbClr val="E6AE35"/>
            </a:solidFill>
            <a:prstDash val="solid"/>
          </a:ln>
        </p:spPr>
      </p:sp>
      <p:sp>
        <p:nvSpPr>
          <p:cNvPr id="15" name="">
            <a:extLst xmlns:a="http://schemas.openxmlformats.org/drawingml/2006/main">
              <a:ext uri="{FF2B5EF4-FFF2-40B4-BE49-F238E27FC236}">
                <a16:creationId xmlns:a16="http://schemas.microsoft.com/office/drawing/2014/main" id="{2EDC9474-4672-4F0F-9EDE-2028411F8F60}"/>
              </a:ext>
            </a:extLst>
          </p:cNvPr>
          <p:cNvSpPr>
            <a:spLocks xmlns:a="http://schemas.openxmlformats.org/drawingml/2006/main" noGrp="1"/>
          </p:cNvSpPr>
          <p:nvPr/>
        </p:nvSpPr>
        <p:spPr>
          <a:xfrm xmlns:a="http://schemas.openxmlformats.org/drawingml/2006/main">
            <a:off x="6286500" y="3543300"/>
            <a:ext cx="2095500" cy="266700"/>
          </a:xfrm>
          <a:prstGeom xmlns:a="http://schemas.openxmlformats.org/drawingml/2006/main" prst="roundRect">
            <a:avLst>
              <a:gd name="adj" fmla="val 4285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174936"/>
                </a:solidFill>
              </a:defRPr>
            </a:pPr>
            <a:r>
              <a:rPr sz="1275" b="1">
                <a:solidFill>
                  <a:srgbClr val="174936"/>
                </a:solidFill>
              </a:rPr>
              <a:t>3 · EXPLAIN</a:t>
            </a:r>
          </a:p>
        </p:txBody>
      </p:sp>
      <p:sp>
        <p:nvSpPr>
          <p:cNvPr id="16" name="">
            <a:extLst xmlns:a="http://schemas.openxmlformats.org/drawingml/2006/main">
              <a:ext uri="{FF2B5EF4-FFF2-40B4-BE49-F238E27FC236}">
                <a16:creationId xmlns:a16="http://schemas.microsoft.com/office/drawing/2014/main" id="{6CD75CB1-3EEA-4EC1-9EEB-CE2B2E4F605B}"/>
              </a:ext>
            </a:extLst>
          </p:cNvPr>
          <p:cNvSpPr>
            <a:spLocks xmlns:a="http://schemas.openxmlformats.org/drawingml/2006/main" noGrp="1"/>
          </p:cNvSpPr>
          <p:nvPr/>
        </p:nvSpPr>
        <p:spPr>
          <a:xfrm xmlns:a="http://schemas.openxmlformats.org/drawingml/2006/main">
            <a:off x="6286500" y="4010025"/>
            <a:ext cx="2095500" cy="1047750"/>
          </a:xfrm>
          <a:prstGeom xmlns:a="http://schemas.openxmlformats.org/drawingml/2006/main" prst="roundRect">
            <a:avLst>
              <a:gd name="adj" fmla="val 10909"/>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243229"/>
                </a:solidFill>
              </a:defRPr>
            </a:pPr>
            <a:r>
              <a:rPr sz="1500" b="0">
                <a:solidFill>
                  <a:srgbClr val="243229"/>
                </a:solidFill>
              </a:rPr>
              <a:t>Connect the idea with because, so or therefore.</a:t>
            </a:r>
          </a:p>
        </p:txBody>
      </p:sp>
      <p:sp>
        <p:nvSpPr>
          <p:cNvPr id="17" name="">
            <a:extLst xmlns:a="http://schemas.openxmlformats.org/drawingml/2006/main">
              <a:ext uri="{FF2B5EF4-FFF2-40B4-BE49-F238E27FC236}">
                <a16:creationId xmlns:a16="http://schemas.microsoft.com/office/drawing/2014/main" id="{65282936-5E43-4E19-BE15-0B06B5CE3210}"/>
              </a:ext>
            </a:extLst>
          </p:cNvPr>
          <p:cNvSpPr>
            <a:spLocks xmlns:a="http://schemas.openxmlformats.org/drawingml/2006/main" noGrp="1"/>
          </p:cNvSpPr>
          <p:nvPr/>
        </p:nvSpPr>
        <p:spPr>
          <a:xfrm xmlns:a="http://schemas.openxmlformats.org/drawingml/2006/main">
            <a:off x="8801100" y="3314700"/>
            <a:ext cx="2476500" cy="2038350"/>
          </a:xfrm>
          <a:prstGeom xmlns:a="http://schemas.openxmlformats.org/drawingml/2006/main" prst="roundRect">
            <a:avLst>
              <a:gd name="adj" fmla="val 7477"/>
            </a:avLst>
          </a:prstGeom>
          <a:solidFill xmlns:a="http://schemas.openxmlformats.org/drawingml/2006/main">
            <a:srgbClr val="DCEEE2"/>
          </a:solidFill>
          <a:ln xmlns:a="http://schemas.openxmlformats.org/drawingml/2006/main" w="19050">
            <a:solidFill>
              <a:srgbClr val="D1DDD3"/>
            </a:solidFill>
            <a:prstDash val="solid"/>
          </a:ln>
        </p:spPr>
      </p:sp>
      <p:sp>
        <p:nvSpPr>
          <p:cNvPr id="18" name="">
            <a:extLst xmlns:a="http://schemas.openxmlformats.org/drawingml/2006/main">
              <a:ext uri="{FF2B5EF4-FFF2-40B4-BE49-F238E27FC236}">
                <a16:creationId xmlns:a16="http://schemas.microsoft.com/office/drawing/2014/main" id="{64024A51-B16E-4670-94B2-0BBD4D2778DC}"/>
              </a:ext>
            </a:extLst>
          </p:cNvPr>
          <p:cNvSpPr>
            <a:spLocks xmlns:a="http://schemas.openxmlformats.org/drawingml/2006/main" noGrp="1"/>
          </p:cNvSpPr>
          <p:nvPr/>
        </p:nvSpPr>
        <p:spPr>
          <a:xfrm xmlns:a="http://schemas.openxmlformats.org/drawingml/2006/main">
            <a:off x="8991600" y="3543300"/>
            <a:ext cx="2095500" cy="266700"/>
          </a:xfrm>
          <a:prstGeom xmlns:a="http://schemas.openxmlformats.org/drawingml/2006/main" prst="roundRect">
            <a:avLst>
              <a:gd name="adj" fmla="val 42857"/>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FFFFFF"/>
                </a:solidFill>
              </a:defRPr>
            </a:pPr>
            <a:r>
              <a:rPr sz="1275" b="1">
                <a:solidFill>
                  <a:srgbClr val="FFFFFF"/>
                </a:solidFill>
              </a:rPr>
              <a:t>4 · CHECK</a:t>
            </a:r>
          </a:p>
        </p:txBody>
      </p:sp>
      <p:sp>
        <p:nvSpPr>
          <p:cNvPr id="19" name="">
            <a:extLst xmlns:a="http://schemas.openxmlformats.org/drawingml/2006/main">
              <a:ext uri="{FF2B5EF4-FFF2-40B4-BE49-F238E27FC236}">
                <a16:creationId xmlns:a16="http://schemas.microsoft.com/office/drawing/2014/main" id="{C7937D45-1AB2-4503-BBDC-E4A020439D48}"/>
              </a:ext>
            </a:extLst>
          </p:cNvPr>
          <p:cNvSpPr>
            <a:spLocks xmlns:a="http://schemas.openxmlformats.org/drawingml/2006/main" noGrp="1"/>
          </p:cNvSpPr>
          <p:nvPr/>
        </p:nvSpPr>
        <p:spPr>
          <a:xfrm xmlns:a="http://schemas.openxmlformats.org/drawingml/2006/main">
            <a:off x="8991600" y="4010025"/>
            <a:ext cx="2095500" cy="1047750"/>
          </a:xfrm>
          <a:prstGeom xmlns:a="http://schemas.openxmlformats.org/drawingml/2006/main" prst="roundRect">
            <a:avLst>
              <a:gd name="adj" fmla="val 10909"/>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FFFFFF"/>
                </a:solidFill>
              </a:defRPr>
            </a:pPr>
            <a:r>
              <a:rPr sz="1500" b="0">
                <a:solidFill>
                  <a:srgbClr val="FFFFFF"/>
                </a:solidFill>
              </a:rPr>
              <a:t>Confirm every part is answered and every claim is specific.</a:t>
            </a:r>
          </a:p>
        </p:txBody>
      </p:sp>
      <p:sp>
        <p:nvSpPr>
          <p:cNvPr id="20" name="">
            <a:extLst xmlns:a="http://schemas.openxmlformats.org/drawingml/2006/main">
              <a:ext uri="{FF2B5EF4-FFF2-40B4-BE49-F238E27FC236}">
                <a16:creationId xmlns:a16="http://schemas.microsoft.com/office/drawing/2014/main" id="{625A2F6D-EC17-44E1-8B3B-1826DDADEA32}"/>
              </a:ext>
            </a:extLst>
          </p:cNvPr>
          <p:cNvSpPr>
            <a:spLocks xmlns:a="http://schemas.openxmlformats.org/drawingml/2006/main" noGrp="1"/>
          </p:cNvSpPr>
          <p:nvPr/>
        </p:nvSpPr>
        <p:spPr>
          <a:xfrm xmlns:a="http://schemas.openxmlformats.org/drawingml/2006/main">
            <a:off x="685800" y="5600700"/>
            <a:ext cx="9525000" cy="342900"/>
          </a:xfrm>
          <a:prstGeom xmlns:a="http://schemas.openxmlformats.org/drawingml/2006/main" prst="roundRect">
            <a:avLst>
              <a:gd name="adj" fmla="val 33333"/>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C9493E"/>
                </a:solidFill>
              </a:defRPr>
            </a:pPr>
            <a:r>
              <a:rPr sz="1425" b="1">
                <a:solidFill>
                  <a:srgbClr val="C9493E"/>
                </a:solidFill>
              </a:rPr>
              <a:t>Save the finished response as formative learning evidence on the module page.</a:t>
            </a:r>
          </a:p>
        </p:txBody>
      </p:sp>
    </p:spTree>
    <p:extLst>
      <p:ext uri="{BB962C8B-B14F-4D97-AF65-F5344CB8AC3E}">
        <p14:creationId xmlns:p14="http://schemas.microsoft.com/office/powerpoint/2010/main" val="965086264"/>
      </p:ext>
    </p:extLst>
  </p:cSld>
</p:sld>
</file>

<file path=ppt/slides/slide8.xml><?xml version="1.0" encoding="utf-8"?>
<p:sld xmlns:p="http://schemas.openxmlformats.org/presentationml/2006/main">
  <p:cSld>
    <p:bg>
      <p:bgPr>
        <a:solidFill xmlns:a="http://schemas.openxmlformats.org/drawingml/2006/main">
          <a:srgbClr val="C949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87A4FD-C48E-4D6C-AEE8-E3493EB1B1E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6AE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C6AAD4-5F24-421E-91E2-30FA8615269C}"/>
              </a:ext>
            </a:extLst>
          </p:cNvPr>
          <p:cNvSpPr>
            <a:spLocks xmlns:a="http://schemas.openxmlformats.org/drawingml/2006/main" noGrp="1"/>
          </p:cNvSpPr>
          <p:nvPr/>
        </p:nvSpPr>
        <p:spPr>
          <a:xfrm xmlns:a="http://schemas.openxmlformats.org/drawingml/2006/main">
            <a:off x="685800" y="6438900"/>
            <a:ext cx="5715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D6D63"/>
                </a:solidFill>
              </a:defRPr>
            </a:pPr>
            <a:r>
              <a:rPr sz="1050" b="1">
                <a:solidFill>
                  <a:srgbClr val="5D6D63"/>
                </a:solidFill>
              </a:rPr>
              <a:t>MODULE 09 · YEAR 8 FOOD TECHNOLOGY</a:t>
            </a:r>
          </a:p>
        </p:txBody>
      </p:sp>
      <p:sp>
        <p:nvSpPr>
          <p:cNvPr id="3" name="">
            <a:extLst xmlns:a="http://schemas.openxmlformats.org/drawingml/2006/main">
              <a:ext uri="{FF2B5EF4-FFF2-40B4-BE49-F238E27FC236}">
                <a16:creationId xmlns:a16="http://schemas.microsoft.com/office/drawing/2014/main" id="{84CB8775-F1C2-41A6-91E9-08F213D0B619}"/>
              </a:ext>
            </a:extLst>
          </p:cNvPr>
          <p:cNvSpPr>
            <a:spLocks xmlns:a="http://schemas.openxmlformats.org/drawingml/2006/main" noGrp="1"/>
          </p:cNvSpPr>
          <p:nvPr/>
        </p:nvSpPr>
        <p:spPr>
          <a:xfrm xmlns:a="http://schemas.openxmlformats.org/drawingml/2006/main">
            <a:off x="10953750" y="6438900"/>
            <a:ext cx="5524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9493E"/>
                </a:solidFill>
              </a:defRPr>
            </a:pPr>
            <a:r>
              <a:rPr sz="1050" b="1">
                <a:solidFill>
                  <a:srgbClr val="C9493E"/>
                </a:solidFill>
              </a:rPr>
              <a:t>08</a:t>
            </a:r>
          </a:p>
        </p:txBody>
      </p:sp>
      <p:sp>
        <p:nvSpPr>
          <p:cNvPr id="4" name="">
            <a:extLst xmlns:a="http://schemas.openxmlformats.org/drawingml/2006/main">
              <a:ext uri="{FF2B5EF4-FFF2-40B4-BE49-F238E27FC236}">
                <a16:creationId xmlns:a16="http://schemas.microsoft.com/office/drawing/2014/main" id="{1692043E-27C0-449C-A73B-02E7B6A1B1F1}"/>
              </a:ext>
            </a:extLst>
          </p:cNvPr>
          <p:cNvSpPr>
            <a:spLocks xmlns:a="http://schemas.openxmlformats.org/drawingml/2006/main" noGrp="1"/>
          </p:cNvSpPr>
          <p:nvPr/>
        </p:nvSpPr>
        <p:spPr>
          <a:xfrm xmlns:a="http://schemas.openxmlformats.org/drawingml/2006/main">
            <a:off x="685800" y="857250"/>
            <a:ext cx="7810500" cy="609600"/>
          </a:xfrm>
          <a:prstGeom xmlns:a="http://schemas.openxmlformats.org/drawingml/2006/main" prst="roundRect">
            <a:avLst>
              <a:gd name="adj" fmla="val 18750"/>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FFFFFF"/>
                </a:solidFill>
              </a:defRPr>
            </a:pPr>
            <a:r>
              <a:rPr sz="3300" b="1">
                <a:solidFill>
                  <a:srgbClr val="FFFFFF"/>
                </a:solidFill>
              </a:rPr>
              <a:t>Before you pack up…</a:t>
            </a:r>
          </a:p>
        </p:txBody>
      </p:sp>
      <p:sp>
        <p:nvSpPr>
          <p:cNvPr id="5" name="">
            <a:extLst xmlns:a="http://schemas.openxmlformats.org/drawingml/2006/main">
              <a:ext uri="{FF2B5EF4-FFF2-40B4-BE49-F238E27FC236}">
                <a16:creationId xmlns:a16="http://schemas.microsoft.com/office/drawing/2014/main" id="{2500A6A2-E328-4FC4-BDC5-7DDD9706029B}"/>
              </a:ext>
            </a:extLst>
          </p:cNvPr>
          <p:cNvSpPr>
            <a:spLocks xmlns:a="http://schemas.openxmlformats.org/drawingml/2006/main" noGrp="1"/>
          </p:cNvSpPr>
          <p:nvPr/>
        </p:nvSpPr>
        <p:spPr>
          <a:xfrm xmlns:a="http://schemas.openxmlformats.org/drawingml/2006/main">
            <a:off x="1047750" y="1952625"/>
            <a:ext cx="85725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52400" tIns="76200" rIns="152400" bIns="76200" anchor="ctr">
            <a:noAutofit/>
          </a:bodyPr>
          <a:lstStyle xmlns:a="http://schemas.openxmlformats.org/drawingml/2006/main"/>
          <a:p xmlns:a="http://schemas.openxmlformats.org/drawingml/2006/main">
            <a:pPr algn="l">
              <a:defRPr sz="1725" b="1">
                <a:solidFill>
                  <a:srgbClr val="174936"/>
                </a:solidFill>
              </a:defRPr>
            </a:pPr>
            <a:r>
              <a:rPr sz="1725" b="1">
                <a:solidFill>
                  <a:srgbClr val="174936"/>
                </a:solidFill>
              </a:rPr>
              <a:t>1. One idea I can now explain is…</a:t>
            </a:r>
          </a:p>
        </p:txBody>
      </p:sp>
      <p:sp>
        <p:nvSpPr>
          <p:cNvPr id="6" name="">
            <a:extLst xmlns:a="http://schemas.openxmlformats.org/drawingml/2006/main">
              <a:ext uri="{FF2B5EF4-FFF2-40B4-BE49-F238E27FC236}">
                <a16:creationId xmlns:a16="http://schemas.microsoft.com/office/drawing/2014/main" id="{E5F3DCA7-44EB-490D-94AF-FDBC65C654E4}"/>
              </a:ext>
            </a:extLst>
          </p:cNvPr>
          <p:cNvSpPr>
            <a:spLocks xmlns:a="http://schemas.openxmlformats.org/drawingml/2006/main" noGrp="1"/>
          </p:cNvSpPr>
          <p:nvPr/>
        </p:nvSpPr>
        <p:spPr>
          <a:xfrm xmlns:a="http://schemas.openxmlformats.org/drawingml/2006/main">
            <a:off x="1047750" y="2828925"/>
            <a:ext cx="85725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52400" tIns="76200" rIns="152400" bIns="76200" anchor="ctr">
            <a:noAutofit/>
          </a:bodyPr>
          <a:lstStyle xmlns:a="http://schemas.openxmlformats.org/drawingml/2006/main"/>
          <a:p xmlns:a="http://schemas.openxmlformats.org/drawingml/2006/main">
            <a:pPr algn="l">
              <a:defRPr sz="1725" b="1">
                <a:solidFill>
                  <a:srgbClr val="174936"/>
                </a:solidFill>
              </a:defRPr>
            </a:pPr>
            <a:r>
              <a:rPr sz="1725" b="1">
                <a:solidFill>
                  <a:srgbClr val="174936"/>
                </a:solidFill>
              </a:rPr>
              <a:t>2. One practical or design decision this changes is…</a:t>
            </a:r>
          </a:p>
        </p:txBody>
      </p:sp>
      <p:sp>
        <p:nvSpPr>
          <p:cNvPr id="7" name="">
            <a:extLst xmlns:a="http://schemas.openxmlformats.org/drawingml/2006/main">
              <a:ext uri="{FF2B5EF4-FFF2-40B4-BE49-F238E27FC236}">
                <a16:creationId xmlns:a16="http://schemas.microsoft.com/office/drawing/2014/main" id="{A4A231A3-1B4D-4043-944C-17001E90202F}"/>
              </a:ext>
            </a:extLst>
          </p:cNvPr>
          <p:cNvSpPr>
            <a:spLocks xmlns:a="http://schemas.openxmlformats.org/drawingml/2006/main" noGrp="1"/>
          </p:cNvSpPr>
          <p:nvPr/>
        </p:nvSpPr>
        <p:spPr>
          <a:xfrm xmlns:a="http://schemas.openxmlformats.org/drawingml/2006/main">
            <a:off x="1047750" y="3705225"/>
            <a:ext cx="85725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lIns="152400" tIns="76200" rIns="152400" bIns="76200" anchor="ctr">
            <a:noAutofit/>
          </a:bodyPr>
          <a:lstStyle xmlns:a="http://schemas.openxmlformats.org/drawingml/2006/main"/>
          <a:p xmlns:a="http://schemas.openxmlformats.org/drawingml/2006/main">
            <a:pPr algn="l">
              <a:defRPr sz="1725" b="1">
                <a:solidFill>
                  <a:srgbClr val="174936"/>
                </a:solidFill>
              </a:defRPr>
            </a:pPr>
            <a:r>
              <a:rPr sz="1725" b="1">
                <a:solidFill>
                  <a:srgbClr val="174936"/>
                </a:solidFill>
              </a:rPr>
              <a:t>3. One question I still need answered is…</a:t>
            </a:r>
          </a:p>
        </p:txBody>
      </p:sp>
      <p:sp>
        <p:nvSpPr>
          <p:cNvPr id="8" name="">
            <a:extLst xmlns:a="http://schemas.openxmlformats.org/drawingml/2006/main">
              <a:ext uri="{FF2B5EF4-FFF2-40B4-BE49-F238E27FC236}">
                <a16:creationId xmlns:a16="http://schemas.microsoft.com/office/drawing/2014/main" id="{610B5DC6-F0F5-4721-9FB3-CDC216EABF41}"/>
              </a:ext>
            </a:extLst>
          </p:cNvPr>
          <p:cNvSpPr>
            <a:spLocks xmlns:a="http://schemas.openxmlformats.org/drawingml/2006/main" noGrp="1"/>
          </p:cNvSpPr>
          <p:nvPr/>
        </p:nvSpPr>
        <p:spPr>
          <a:xfrm xmlns:a="http://schemas.openxmlformats.org/drawingml/2006/main">
            <a:off x="9810750" y="2400300"/>
            <a:ext cx="1238250" cy="1238250"/>
          </a:xfrm>
          <a:prstGeom xmlns:a="http://schemas.openxmlformats.org/drawingml/2006/main" prst="ellipse">
            <a:avLst/>
          </a:prstGeom>
          <a:solidFill xmlns:a="http://schemas.openxmlformats.org/drawingml/2006/main">
            <a:srgbClr val="E6AE35"/>
          </a:solidFill>
          <a:ln xmlns:a="http://schemas.openxmlformats.org/drawingml/2006/main" w="19050">
            <a:solidFill>
              <a:srgbClr val="E6AE35"/>
            </a:solidFill>
            <a:prstDash val="solid"/>
          </a:ln>
        </p:spPr>
      </p:sp>
      <p:sp>
        <p:nvSpPr>
          <p:cNvPr id="9" name="">
            <a:extLst xmlns:a="http://schemas.openxmlformats.org/drawingml/2006/main">
              <a:ext uri="{FF2B5EF4-FFF2-40B4-BE49-F238E27FC236}">
                <a16:creationId xmlns:a16="http://schemas.microsoft.com/office/drawing/2014/main" id="{AB28A938-A87C-45C9-B4B7-102EC202AE4D}"/>
              </a:ext>
            </a:extLst>
          </p:cNvPr>
          <p:cNvSpPr>
            <a:spLocks xmlns:a="http://schemas.openxmlformats.org/drawingml/2006/main" noGrp="1"/>
          </p:cNvSpPr>
          <p:nvPr/>
        </p:nvSpPr>
        <p:spPr>
          <a:xfrm xmlns:a="http://schemas.openxmlformats.org/drawingml/2006/main">
            <a:off x="9953625" y="2600325"/>
            <a:ext cx="952500" cy="838200"/>
          </a:xfrm>
          <a:prstGeom xmlns:a="http://schemas.openxmlformats.org/drawingml/2006/main" prst="roundRect">
            <a:avLst>
              <a:gd name="adj" fmla="val 13636"/>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275" b="1">
                <a:solidFill>
                  <a:srgbClr val="174936"/>
                </a:solidFill>
              </a:defRPr>
            </a:pPr>
            <a:r>
              <a:rPr sz="1275" b="1">
                <a:solidFill>
                  <a:srgbClr val="174936"/>
                </a:solidFill>
              </a:rPr>
              <a:t>SAVE</a:t>
            </a:r>
          </a:p>
          <a:p xmlns:a="http://schemas.openxmlformats.org/drawingml/2006/main">
            <a:pPr algn="ctr">
              <a:defRPr sz="1275" b="1">
                <a:solidFill>
                  <a:srgbClr val="174936"/>
                </a:solidFill>
              </a:defRPr>
            </a:pPr>
            <a:r>
              <a:rPr sz="1275" b="1">
                <a:solidFill>
                  <a:srgbClr val="174936"/>
                </a:solidFill>
              </a:rPr>
              <a:t>YOUR</a:t>
            </a:r>
          </a:p>
          <a:p xmlns:a="http://schemas.openxmlformats.org/drawingml/2006/main">
            <a:pPr algn="ctr">
              <a:defRPr sz="1275" b="1">
                <a:solidFill>
                  <a:srgbClr val="174936"/>
                </a:solidFill>
              </a:defRPr>
            </a:pPr>
            <a:r>
              <a:rPr sz="1275" b="1">
                <a:solidFill>
                  <a:srgbClr val="174936"/>
                </a:solidFill>
              </a:rPr>
              <a:t>EVIDENCE</a:t>
            </a:r>
          </a:p>
        </p:txBody>
      </p:sp>
      <p:sp>
        <p:nvSpPr>
          <p:cNvPr id="10" name="">
            <a:extLst xmlns:a="http://schemas.openxmlformats.org/drawingml/2006/main">
              <a:ext uri="{FF2B5EF4-FFF2-40B4-BE49-F238E27FC236}">
                <a16:creationId xmlns:a16="http://schemas.microsoft.com/office/drawing/2014/main" id="{03CFA55B-0FF1-4EAE-A425-A3F008A3C9F9}"/>
              </a:ext>
            </a:extLst>
          </p:cNvPr>
          <p:cNvSpPr>
            <a:spLocks xmlns:a="http://schemas.openxmlformats.org/drawingml/2006/main" noGrp="1"/>
          </p:cNvSpPr>
          <p:nvPr/>
        </p:nvSpPr>
        <p:spPr>
          <a:xfrm xmlns:a="http://schemas.openxmlformats.org/drawingml/2006/main">
            <a:off x="1047750" y="5095875"/>
            <a:ext cx="9525000" cy="400050"/>
          </a:xfrm>
          <a:prstGeom xmlns:a="http://schemas.openxmlformats.org/drawingml/2006/main" prst="roundRect">
            <a:avLst>
              <a:gd name="adj" fmla="val 28571"/>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FFFFFF"/>
                </a:solidFill>
              </a:defRPr>
            </a:pPr>
            <a:r>
              <a:rPr sz="1575" b="1">
                <a:solidFill>
                  <a:srgbClr val="FFFFFF"/>
                </a:solidFill>
              </a:rPr>
              <a:t>Next: Module 10 · Evaluate and Communicate</a:t>
            </a:r>
          </a:p>
        </p:txBody>
      </p:sp>
    </p:spTree>
    <p:extLst>
      <p:ext uri="{BB962C8B-B14F-4D97-AF65-F5344CB8AC3E}">
        <p14:creationId xmlns:p14="http://schemas.microsoft.com/office/powerpoint/2010/main" val="2078703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2026-08-25T03:54:07.2110000Z</dcterms:created>
  <dcterms:modified xsi:type="dcterms:W3CDTF">2026-08-25T03:54:07.2110000Z</dcterms:modified>
</coreProperties>
</file>