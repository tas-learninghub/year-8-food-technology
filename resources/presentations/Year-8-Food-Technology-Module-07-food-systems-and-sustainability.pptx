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153a9af7274e15" /><Relationship Type="http://schemas.openxmlformats.org/officeDocument/2006/relationships/extended-properties" Target="/docProps/app.xml" Id="R9812f5587e4d4e01" /><Relationship Type="http://schemas.openxmlformats.org/officeDocument/2006/relationships/officeDocument" Target="/ppt/presentation.xml" Id="Rc09cd985305a461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05351b640774c80"/>
  </p:sldMasterIdLst>
  <p:notesMasterIdLst>
    <p:notesMasterId xmlns:r="http://schemas.openxmlformats.org/officeDocument/2006/relationships" r:id="R65fb0c4a3ac8400e"/>
  </p:notesMasterIdLst>
  <p:sldIdLst>
    <p:sldId xmlns:r="http://schemas.openxmlformats.org/officeDocument/2006/relationships" id="256" r:id="R48338de2e1d54f56"/>
    <p:sldId xmlns:r="http://schemas.openxmlformats.org/officeDocument/2006/relationships" id="257" r:id="Rb64c9ab6dc24467b"/>
    <p:sldId xmlns:r="http://schemas.openxmlformats.org/officeDocument/2006/relationships" id="258" r:id="R4eb406e74a8347fb"/>
    <p:sldId xmlns:r="http://schemas.openxmlformats.org/officeDocument/2006/relationships" id="259" r:id="Rd1ef994695ab472a"/>
    <p:sldId xmlns:r="http://schemas.openxmlformats.org/officeDocument/2006/relationships" id="260" r:id="R85374acdd536408b"/>
    <p:sldId xmlns:r="http://schemas.openxmlformats.org/officeDocument/2006/relationships" id="261" r:id="R4472a5e7786b4fa4"/>
    <p:sldId xmlns:r="http://schemas.openxmlformats.org/officeDocument/2006/relationships" id="262" r:id="R17dbc84db5944907"/>
    <p:sldId xmlns:r="http://schemas.openxmlformats.org/officeDocument/2006/relationships" id="263" r:id="R5b149b0935ca453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0b45a7fc99349b6" /><Relationship Type="http://schemas.openxmlformats.org/officeDocument/2006/relationships/slideMaster" Target="/ppt/slideMasters/slideMaster1.xml" Id="R505351b640774c80" /><Relationship Type="http://schemas.openxmlformats.org/officeDocument/2006/relationships/notesMaster" Target="/ppt/notesMasters/notesMaster1.xml" Id="R65fb0c4a3ac8400e" /><Relationship Type="http://schemas.openxmlformats.org/officeDocument/2006/relationships/presProps" Target="/ppt/presProps.xml" Id="R4b9373e4ab9c4dac" /><Relationship Type="http://schemas.openxmlformats.org/officeDocument/2006/relationships/tableStyles" Target="/ppt/tableStyles.xml" Id="R0aa63b3f0245444d" /><Relationship Type="http://schemas.openxmlformats.org/officeDocument/2006/relationships/slide" Target="/ppt/slides/slide1.xml" Id="R48338de2e1d54f56" /><Relationship Type="http://schemas.openxmlformats.org/officeDocument/2006/relationships/slide" Target="/ppt/slides/slide2.xml" Id="Rb64c9ab6dc24467b" /><Relationship Type="http://schemas.openxmlformats.org/officeDocument/2006/relationships/slide" Target="/ppt/slides/slide3.xml" Id="R4eb406e74a8347fb" /><Relationship Type="http://schemas.openxmlformats.org/officeDocument/2006/relationships/slide" Target="/ppt/slides/slide4.xml" Id="Rd1ef994695ab472a" /><Relationship Type="http://schemas.openxmlformats.org/officeDocument/2006/relationships/slide" Target="/ppt/slides/slide5.xml" Id="R85374acdd536408b" /><Relationship Type="http://schemas.openxmlformats.org/officeDocument/2006/relationships/slide" Target="/ppt/slides/slide6.xml" Id="R4472a5e7786b4fa4" /><Relationship Type="http://schemas.openxmlformats.org/officeDocument/2006/relationships/slide" Target="/ppt/slides/slide7.xml" Id="R17dbc84db5944907" /><Relationship Type="http://schemas.openxmlformats.org/officeDocument/2006/relationships/slide" Target="/ppt/slides/slide8.xml" Id="R5b149b0935ca453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a1b9b679ad0412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b5138874154ab9" /><Relationship Type="http://schemas.openxmlformats.org/officeDocument/2006/relationships/notesMaster" Target="/ppt/notesMasters/notesMaster1.xml" Id="Re83675f64b044b7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30d9e4921954231" /><Relationship Type="http://schemas.openxmlformats.org/officeDocument/2006/relationships/notesMaster" Target="/ppt/notesMasters/notesMaster1.xml" Id="R640a6a9a3bf846f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7dcb97efca8484a" /><Relationship Type="http://schemas.openxmlformats.org/officeDocument/2006/relationships/notesMaster" Target="/ppt/notesMasters/notesMaster1.xml" Id="R0a0a11e025614bc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935f16174694e00" /><Relationship Type="http://schemas.openxmlformats.org/officeDocument/2006/relationships/notesMaster" Target="/ppt/notesMasters/notesMaster1.xml" Id="R4da44f813b17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b612482565c4789" /><Relationship Type="http://schemas.openxmlformats.org/officeDocument/2006/relationships/notesMaster" Target="/ppt/notesMasters/notesMaster1.xml" Id="Rb43571e20d3248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dc34ff2dcf4a90" /><Relationship Type="http://schemas.openxmlformats.org/officeDocument/2006/relationships/notesMaster" Target="/ppt/notesMasters/notesMaster1.xml" Id="Rf25aac7daf3a445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92064dff49d4ace" /><Relationship Type="http://schemas.openxmlformats.org/officeDocument/2006/relationships/notesMaster" Target="/ppt/notesMasters/notesMaster1.xml" Id="Rea2c0842d6464e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b30c28a7664e54" /><Relationship Type="http://schemas.openxmlformats.org/officeDocument/2006/relationships/notesMaster" Target="/ppt/notesMasters/notesMaster1.xml" Id="Re78503162b3e46a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naming the learning purpose: Trace food from production to use and make responsible choices.</a:t>
            </a:r>
          </a:p>
          <a:p xmlns:a="http://schemas.openxmlformats.org/drawingml/2006/main">
            <a:r>
              <a:t>Ask students to inspect the image and identify one detail connected to the module.</a:t>
            </a:r>
          </a:p>
          <a:p xmlns:a="http://schemas.openxmlformats.org/drawingml/2006/main">
            <a:r>
              <a:t>Do not present any unconfirmed local practical or assessment detail as settled.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- official-australian-production-guidance
- official-sustainability-guidance
- assets/photos/module-07-food-systems-sustainability.png · SHA-256 85a0150a66091db9022a2bd81799db768cc36b9a463ea30672350b98b91c6a84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warm-up as a short think-pair-share.</a:t>
            </a:r>
          </a:p>
          <a:p xmlns:a="http://schemas.openxmlformats.org/drawingml/2006/main">
            <a:r>
              <a:t>Preview the sequence: Farm-to-plate systems; Australian food and fibre production; Waste, food security and sustainable choices.</a:t>
            </a:r>
          </a:p>
          <a:p xmlns:a="http://schemas.openxmlformats.org/drawingml/2006/main">
            <a:r>
              <a:t>Listen for the first misconception listed in each section and note which idea needs more explanation.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- official-australian-production-guidance
- official-sustainability-guidance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Stages in a food system; Connections and consequences; Trace the product.</a:t>
            </a:r>
          </a:p>
          <a:p xmlns:a="http://schemas.openxmlformats.org/drawingml/2006/main">
            <a:r>
              <a:t>Use the worked example: Tracing a tomato to the plate. Tracing one ingredient shows how a finished school-kitchen dish is connected to earlier production decisions and later waste or recovery.</a:t>
            </a:r>
          </a:p>
          <a:p xmlns:a="http://schemas.openxmlformats.org/drawingml/2006/main">
            <a:r>
              <a:t>Likely misconception: Every food follows one identical farm-to-plate chain. Correction: Food systems vary. Use the stages to trace the parts that are relevant to the particular ingredient or product.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People across Australian production; Conditions that shape production; First producers and continuing knowledge.</a:t>
            </a:r>
          </a:p>
          <a:p xmlns:a="http://schemas.openxmlformats.org/drawingml/2006/main">
            <a:r>
              <a:t>Use the worked example: Tracing an Australian recipe ingredient. A familiar ingredient depends on more than one producer or place; it is connected to people, environmental conditions, skills, technologies and decisions across a broader Australian food system.</a:t>
            </a:r>
          </a:p>
          <a:p xmlns:a="http://schemas.openxmlformats.org/drawingml/2006/main">
            <a:r>
              <a:t>Likely misconception: Food production is the same across Australia. Correction: Production varies between ingredients, environments, regions, producers and systems, so examples should not be treated as applying everywhere.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official-australian-production-guidance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Explain the three visible ideas in order: Understanding food security; Preventing and managing food waste; Making choices through trade-offs.</a:t>
            </a:r>
          </a:p>
          <a:p xmlns:a="http://schemas.openxmlformats.org/drawingml/2006/main">
            <a:r>
              <a:t>Use the worked example: Comparing two party-menu options. A sustainable decision is supported by evidence and trade-offs, not by a single slogan or one feature of a product.</a:t>
            </a:r>
          </a:p>
          <a:p xmlns:a="http://schemas.openxmlformats.org/drawingml/2006/main">
            <a:r>
              <a:t>Likely misconception: The most sustainable food choice is always the local option. Correction: Location is only one factor. Sustainability should be considered through relevant trade-offs such as waste, packaging, safety, cost, production and user needs.</a:t>
            </a:r>
          </a:p>
          <a:p xmlns:a="http://schemas.openxmlformats.org/drawingml/2006/main">
            <a:r>
              <a:t>Transition: ask how this idea changes a method, choice or piece of evidence.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official-sustainability-guidance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Give students quiet thinking time before discussion.</a:t>
            </a:r>
          </a:p>
          <a:p xmlns:a="http://schemas.openxmlformats.org/drawingml/2006/main">
            <a:r>
              <a:t>Question on Farm-to-plate systems: accept an answer only when it explains why. Food systems vary. Use the stages to trace the parts that are relevant to the particular ingredient or product.</a:t>
            </a:r>
          </a:p>
          <a:p xmlns:a="http://schemas.openxmlformats.org/drawingml/2006/main">
            <a:r>
              <a:t>Question on Australian food and fibre production: accept an answer only when it explains why. Production varies between ingredients, environments, regions, producers and systems, so examples should not be treated as applying everywhere.</a:t>
            </a:r>
          </a:p>
          <a:p xmlns:a="http://schemas.openxmlformats.org/drawingml/2006/main">
            <a:r>
              <a:t>Question on Waste, food security and sustainable choices: accept an answer only when it explains why. Location is only one factor. Sustainability should be considered through relevant trade-offs such as waste, packaging, safety, cost, production and user needs.</a:t>
            </a:r>
          </a:p>
          <a:p xmlns:a="http://schemas.openxmlformats.org/drawingml/2006/main">
            <a:r>
              <a:t>Use this as formative checking; it is not a formal mark.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- official-australian-production-guidance
- official-sustainability-guidance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full prompt aloud once, then give students time to unpack it.</a:t>
            </a:r>
          </a:p>
          <a:p xmlns:a="http://schemas.openxmlformats.org/drawingml/2006/main">
            <a:r>
              <a:t>A strong response should draw on: Farm-to-plate systems; Australian food and fibre production; Waste, food security and sustainable choices.</a:t>
            </a:r>
          </a:p>
          <a:p xmlns:a="http://schemas.openxmlformats.org/drawingml/2006/main">
            <a:r>
              <a:t>Model a connection using because, so or therefore without supplying a complete answer.</a:t>
            </a:r>
          </a:p>
          <a:p xmlns:a="http://schemas.openxmlformats.org/drawingml/2006/main">
            <a:r>
              <a:t>Remind students that local saving is formative evidence, not proof of submission.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- official-australian-production-guidance
- official-sustainability-guidance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three prompts as an exit ticket or brief verbal check.</a:t>
            </a:r>
          </a:p>
          <a:p xmlns:a="http://schemas.openxmlformats.org/drawingml/2006/main">
            <a:r>
              <a:t>Ask students to save their longer response before closing the module page.</a:t>
            </a:r>
          </a:p>
          <a:p xmlns:a="http://schemas.openxmlformats.org/drawingml/2006/main">
            <a:r>
              <a:t>Preview the next module: Design a Party Menu.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
- _project/source-map-v1.0.md
- data/theory-data.js
- food-knowledge
- course-program
- official-australian-production-guidance
- official-sustainability-guidance
- https://www.agriculture.gov.au/agriculture-land/farm-food-drought/food/food-chain-resilience
- https://www.dcceew.gov.au/environment/protection/waste/publications/national-food-waste-strategy
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0bc4bb9e64e9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2024893a75b4695" /><Relationship Type="http://schemas.openxmlformats.org/officeDocument/2006/relationships/slideLayout" Target="/ppt/slideLayouts/slideLayout1.xml" Id="Rf4bea99093124f0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bea99093124f0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0d0d53151148f9" /><Relationship Type="http://schemas.openxmlformats.org/officeDocument/2006/relationships/image" Target="/ppt/media/image.png" Id="R4b6f1df82e034bcc" /><Relationship Type="http://schemas.openxmlformats.org/officeDocument/2006/relationships/notesSlide" Target="/ppt/notesSlides/notesSlide1.xml" Id="R2e469f7834ba4fa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1461d9b86b41dd" /><Relationship Type="http://schemas.openxmlformats.org/officeDocument/2006/relationships/notesSlide" Target="/ppt/notesSlides/notesSlide2.xml" Id="Rf87f2402198541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b077b3ab74815" /><Relationship Type="http://schemas.openxmlformats.org/officeDocument/2006/relationships/notesSlide" Target="/ppt/notesSlides/notesSlide3.xml" Id="Ree608cab6e354b3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e654f119647b0" /><Relationship Type="http://schemas.openxmlformats.org/officeDocument/2006/relationships/notesSlide" Target="/ppt/notesSlides/notesSlide4.xml" Id="Rd8e0881c42e74a1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21180c319d4244" /><Relationship Type="http://schemas.openxmlformats.org/officeDocument/2006/relationships/notesSlide" Target="/ppt/notesSlides/notesSlide5.xml" Id="R74febe99c98545d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c72d03e0b94f81" /><Relationship Type="http://schemas.openxmlformats.org/officeDocument/2006/relationships/notesSlide" Target="/ppt/notesSlides/notesSlide6.xml" Id="R381461a13ed443e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68299590e4024" /><Relationship Type="http://schemas.openxmlformats.org/officeDocument/2006/relationships/notesSlide" Target="/ppt/notesSlides/notesSlide7.xml" Id="R69245e2a0e75453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a82eefa134c26" /><Relationship Type="http://schemas.openxmlformats.org/officeDocument/2006/relationships/notesSlide" Target="/ppt/notesSlides/notesSlide8.xml" Id="R09fc7f5ccbfa4d5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07F56C-94EF-4DE6-86E1-49C0857E4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619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3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6f1df82e034bcc"/>
          <a:srcRect xmlns:a="http://schemas.openxmlformats.org/drawingml/2006/main" l="23033" t="0" r="230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19750" y="0"/>
            <a:ext cx="6572250" cy="6858000"/>
          </a:xfrm>
          <a:prstGeom xmlns:a="http://schemas.openxmlformats.org/drawingml/2006/main" prst="roundRect">
            <a:avLst>
              <a:gd name="adj" fmla="val 2319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DE2BB9-42C4-4EC9-938D-4FAA77AF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0"/>
            <a:ext cx="1714500" cy="6858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174936"/>
              </a:gs>
              <a:gs pos="100000">
                <a:srgbClr val="174936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E2FFB9-26D1-452C-B7F5-378EEAFC5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19150"/>
            <a:ext cx="2857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AE35"/>
                </a:solidFill>
              </a:defRPr>
            </a:pPr>
            <a:r>
              <a:rPr sz="1350" b="1">
                <a:solidFill>
                  <a:srgbClr val="E6AE35"/>
                </a:solidFill>
              </a:rPr>
              <a:t>MODULE 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71F14-C06E-4CE4-942D-716E05BCE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4333875" cy="1657350"/>
          </a:xfrm>
          <a:prstGeom xmlns:a="http://schemas.openxmlformats.org/drawingml/2006/main" prst="roundRect">
            <a:avLst>
              <a:gd name="adj" fmla="val 689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Food Systems and Sustainability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F5E1B-0276-4584-893C-BC288D6A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00450"/>
            <a:ext cx="4095750" cy="990600"/>
          </a:xfrm>
          <a:prstGeom xmlns:a="http://schemas.openxmlformats.org/drawingml/2006/main" prst="roundRect">
            <a:avLst>
              <a:gd name="adj" fmla="val 11538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EDF5EF"/>
                </a:solidFill>
              </a:defRPr>
            </a:pPr>
            <a:r>
              <a:rPr sz="1800" b="0">
                <a:solidFill>
                  <a:srgbClr val="EDF5EF"/>
                </a:solidFill>
              </a:rPr>
              <a:t>Trace food from production to use and make responsible choices.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D6072-067C-4B8D-8A4E-FE3DF523F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3524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7DED0"/>
                </a:solidFill>
              </a:defRPr>
            </a:pPr>
            <a:r>
              <a:rPr sz="1050" b="0">
                <a:solidFill>
                  <a:srgbClr val="C7DED0"/>
                </a:solidFill>
              </a:rPr>
              <a:t>Teacher-led classroom presentation</a:t>
            </a:r>
          </a:p>
        </p:txBody>
      </p:sp>
    </p:spTree>
    <p:extLst>
      <p:ext uri="{BB962C8B-B14F-4D97-AF65-F5344CB8AC3E}">
        <p14:creationId xmlns:p14="http://schemas.microsoft.com/office/powerpoint/2010/main" val="4943192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96C819-7EFC-43F1-9FA6-98DF9E3AA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66A04E-4EC7-40C6-8B96-31C16992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07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3A968E-C341-41B1-A27F-058E2245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EE159E-2B86-48CB-A681-520884F00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7239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Where are we going?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7D3D1E-30E4-49FD-BE69-882D05D31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33500"/>
            <a:ext cx="7239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D6D63"/>
                </a:solidFill>
              </a:defRPr>
            </a:pPr>
            <a:r>
              <a:rPr sz="1650" b="0">
                <a:solidFill>
                  <a:srgbClr val="5D6D63"/>
                </a:solidFill>
              </a:rPr>
              <a:t>Three ideas build one practical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D7E67-31BF-4C4A-BDF3-D09B68556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5BF768-9BD1-4052-A18B-FA645F334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819400"/>
            <a:ext cx="381000" cy="5715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900" b="1">
                <a:solidFill>
                  <a:srgbClr val="23664B"/>
                </a:solidFill>
              </a:defRPr>
            </a:pPr>
            <a:r>
              <a:rPr sz="3900" b="1">
                <a:solidFill>
                  <a:srgbClr val="23664B"/>
                </a:solidFill>
              </a:rPr>
              <a:t>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EB2C90-7B82-456E-9F70-E3A22BE9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94EAA1-57AF-40FC-98BA-23636E13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1F5B6A-9AA7-4D02-A139-B8E40E2CD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Farm-to-plate systems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CFE17D-632D-4472-BC3A-4854F4676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701839-AEEF-42A3-8036-490EA55E7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67863B-052D-41C8-B449-BEEE1728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Australian food and fibre production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A5F6E8-C944-4636-AA13-C8F13A5D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2952750" cy="1619250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3664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38DB34-7620-49FE-B863-B68EDF3D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3664B"/>
          </a:solidFill>
          <a:ln xmlns:a="http://schemas.openxmlformats.org/drawingml/2006/main" w="9525">
            <a:solidFill>
              <a:srgbClr val="23664B"/>
            </a:solidFill>
            <a:prstDash val="solid"/>
          </a:ln>
        </p:spPr>
        <p:txBody>
          <a:bodyPr xmlns:a="http://schemas.openxmlformats.org/drawingml/2006/main" lIns="76200" tIns="57150" rIns="76200" bIns="571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1ECF99-054E-4383-842A-CBE9670B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53425" y="26479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43229"/>
                </a:solidFill>
              </a:defRPr>
            </a:pPr>
            <a:r>
              <a:rPr sz="1800" b="1">
                <a:solidFill>
                  <a:srgbClr val="243229"/>
                </a:solidFill>
              </a:rPr>
              <a:t>Waste, food security and sustainable choices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3D2A56-DD34-4210-9945-96058C449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86300"/>
            <a:ext cx="9334500" cy="110490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93FA8B-C842-4407-9CAF-6AB4D7BF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895850"/>
            <a:ext cx="219075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RETRIEVAL WARM-UP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A40364-E065-429F-B810-4CDBD47A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5219700"/>
            <a:ext cx="8572500" cy="419100"/>
          </a:xfrm>
          <a:prstGeom xmlns:a="http://schemas.openxmlformats.org/drawingml/2006/main" prst="roundRect">
            <a:avLst>
              <a:gd name="adj" fmla="val 2727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What do you already know—and which idea have you seen in a kitchen, food choice or design task?</a:t>
            </a:r>
          </a:p>
        </p:txBody>
      </p:sp>
    </p:spTree>
    <p:extLst>
      <p:ext uri="{BB962C8B-B14F-4D97-AF65-F5344CB8AC3E}">
        <p14:creationId xmlns:p14="http://schemas.microsoft.com/office/powerpoint/2010/main" val="160162968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F1264A-530E-4ACC-BFFA-D54A6E80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A823D6-7315-4F3A-8567-3DD707FC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07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3D6384-78CF-41D2-B61C-C8C96B592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82AEAD-FB3F-4324-AB23-93A447DB7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9493E"/>
                </a:solidFill>
              </a:defRPr>
            </a:pPr>
            <a:r>
              <a:rPr sz="1200" b="1">
                <a:solidFill>
                  <a:srgbClr val="C9493E"/>
                </a:solidFill>
              </a:rPr>
              <a:t>7.1 · FARM-TO-PLATE SYSTEMS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EAA6B8-901B-4502-9D12-A01AFC2E5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619125"/>
          </a:xfrm>
          <a:prstGeom xmlns:a="http://schemas.openxmlformats.org/drawingml/2006/main" prst="roundRect">
            <a:avLst>
              <a:gd name="adj" fmla="val 1846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4936"/>
                </a:solidFill>
              </a:defRPr>
            </a:pPr>
            <a:r>
              <a:rPr sz="3000" b="1">
                <a:solidFill>
                  <a:srgbClr val="174936"/>
                </a:solidFill>
              </a:rPr>
              <a:t>Farm-to-plate systems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EAF7BF-B439-4563-8CCD-E7FC4359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5953125" cy="628650"/>
          </a:xfrm>
          <a:prstGeom xmlns:a="http://schemas.openxmlformats.org/drawingml/2006/main" prst="roundRect">
            <a:avLst>
              <a:gd name="adj" fmla="val 18182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5D6D63"/>
                </a:solidFill>
              </a:defRPr>
            </a:pPr>
            <a:r>
              <a:rPr sz="1575" b="1">
                <a:solidFill>
                  <a:srgbClr val="5D6D63"/>
                </a:solidFill>
              </a:rPr>
              <a:t>Build student understanding of food systems as connected stages and show how choices at one stage can affect food, people and the environment elsewhere…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2397E97-A373-4DB7-B7E7-FB17FB7AF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31457-178F-4016-BCD5-84180F65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 food system connects stages from inputs and primary production through to consumption and waste or recovery.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2962C1-ED72-4F06-8BAA-942F66B05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66AB45-8BDD-4592-988D-8B0BBB37D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Processing, packaging, transport, retail or service and preparation may form important links between production and the plate.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9149A-C633-4BFA-95CC-259355830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792B14-EAF7-4AFE-AECB-342440585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6FC5FD-BB5B-4A2D-A408-7BD6C073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During Food for Purpose or the Party Task, choose one familiar ingredient in your recipe and map its journey from primary production to the school kitchen.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8832DE-83CF-415E-B950-882DBC3B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0037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9A8E8DB-18C0-4D18-B83A-4E4D0ECA1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010025"/>
            <a:ext cx="55245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C9493E"/>
                </a:solidFill>
              </a:defRPr>
            </a:pPr>
            <a:r>
              <a:rPr sz="2550" b="1">
                <a:solidFill>
                  <a:srgbClr val="C9493E"/>
                </a:solidFill>
              </a:rPr>
              <a:t>↓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3F5F0-D94C-4A54-9B08-BF93C434D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2098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18E7B8-3AF9-4480-A5E7-D3F821EF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3812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EFF1CD6-4E72-4C52-AC53-B03E4FB8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526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Stages in a food system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E2690FD-2D50-4C9A-A82C-3A6EBAEC6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1945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04EFAF-BAB9-4AA5-AEE9-FA104773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39090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A93D8F-BA6E-4F82-8464-84D2585C5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6232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Connections and consequences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ED1090-2FEE-464B-BFC5-295D818E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229100"/>
            <a:ext cx="3676650" cy="7429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3C4AA99-B486-49C1-BDCD-E782BB66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00550"/>
            <a:ext cx="40005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2DF6511-C796-4868-A4FF-66811436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71975"/>
            <a:ext cx="3048000" cy="476250"/>
          </a:xfrm>
          <a:prstGeom xmlns:a="http://schemas.openxmlformats.org/drawingml/2006/main" prst="roundRect">
            <a:avLst>
              <a:gd name="adj" fmla="val 24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43229"/>
                </a:solidFill>
              </a:defRPr>
            </a:pPr>
            <a:r>
              <a:rPr sz="1575" b="1">
                <a:solidFill>
                  <a:srgbClr val="243229"/>
                </a:solidFill>
              </a:rPr>
              <a:t>Trace the product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130C5DE-373D-4411-A04A-45C4A3485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DE0EFD-40CD-4B07-A704-76F1F13A9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Every food follows one identical farm-to-plate chain.</a:t>
            </a:r>
          </a:p>
        </p:txBody>
      </p:sp>
    </p:spTree>
    <p:extLst>
      <p:ext uri="{BB962C8B-B14F-4D97-AF65-F5344CB8AC3E}">
        <p14:creationId xmlns:p14="http://schemas.microsoft.com/office/powerpoint/2010/main" val="184898517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89171C-1346-44FA-8E39-F6ADD3D85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1BFFA-FCBB-44DC-8ACE-E6DE70F02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07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82A8AD-6E57-48D7-8F7F-D2119DD9D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65128D-02DB-4BE0-8DD2-515FDEAEF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AE35"/>
                </a:solidFill>
              </a:defRPr>
            </a:pPr>
            <a:r>
              <a:rPr sz="1200" b="1">
                <a:solidFill>
                  <a:srgbClr val="E6AE35"/>
                </a:solidFill>
              </a:rPr>
              <a:t>7.2 · AUSTRALIAN FOOD AND FIBRE PRODUCTION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2736F-3B39-4507-895E-A7909159A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Australian food and fibre production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6AB5A9-0683-4CDB-B935-210146DE3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 understanding of the people, environments, knowledge and technologies that contribute to diverse Australian food and fibre production.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A136B-4991-4E02-BED8-5B2985180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D5B376-1C1B-4EA9-9F46-EC51CDD0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Australian food and fibre production includes people working in farming, fishing, horticulture, processing and distribution.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322356-E3BE-438D-B689-8D260125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EB66A2-6713-4AFB-BD4F-6F2865D5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Climate, water, soil, technology, skills and markets can influence what is produced and how production decisions are made.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6C8CEC-EF44-4408-9081-E6602042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C32828-751A-4D01-A6D3-E9ECC1F7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6AE35"/>
                </a:solidFill>
              </a:defRPr>
            </a:pPr>
            <a:r>
              <a:rPr sz="1125" b="1">
                <a:solidFill>
                  <a:srgbClr val="E6AE35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2297A5-066C-4A95-B6E3-B3FCC86E7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For Food for Purpose or the Party Task, select one important ingredient from your recipe and investigate the types of Australian production and work connected with…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67410-E44B-4782-8A77-2FFE8CF1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51789-2EBF-4B25-9122-F5E1AA73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AE27CC-1154-4F1C-A82F-1AC4A8CDA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People across Australian production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29663B-2A67-4B84-B0EB-67FCDD2C2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DDFB8A-456B-44B9-A62F-E184F817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D7B8E2-4017-4A59-B581-D685D0BA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Conditions that shape production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B7304D7-88D0-4648-95E2-9CFB329DB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257300" cy="2533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811441-A338-491A-9672-1AC8D294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5100" y="2590800"/>
            <a:ext cx="4572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C9493E"/>
          </a:solidFill>
          <a:ln xmlns:a="http://schemas.openxmlformats.org/drawingml/2006/main" w="9525">
            <a:solidFill>
              <a:srgbClr val="C9493E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C20A8A7-9A91-467A-B088-BCC8D401F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3238500"/>
            <a:ext cx="1162050" cy="1266825"/>
          </a:xfrm>
          <a:prstGeom xmlns:a="http://schemas.openxmlformats.org/drawingml/2006/main" prst="roundRect">
            <a:avLst>
              <a:gd name="adj" fmla="val 98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38100" rIns="28575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43229"/>
                </a:solidFill>
              </a:defRPr>
            </a:pPr>
            <a:r>
              <a:rPr sz="1275" b="1">
                <a:solidFill>
                  <a:srgbClr val="243229"/>
                </a:solidFill>
              </a:rPr>
              <a:t>First producers and continuing knowledge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7D78FE-FDA5-4AB8-A837-B816A425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C9A0A-3229-4172-881A-4049426D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Food production is the same across Australia.</a:t>
            </a:r>
          </a:p>
        </p:txBody>
      </p:sp>
    </p:spTree>
    <p:extLst>
      <p:ext uri="{BB962C8B-B14F-4D97-AF65-F5344CB8AC3E}">
        <p14:creationId xmlns:p14="http://schemas.microsoft.com/office/powerpoint/2010/main" val="8926197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DD84B8-CA4E-4EE3-9A9B-32B33006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395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B3B53C-1F3C-4F83-9309-B49553C4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07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761869-2ED4-40E1-B1E5-37901BB1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F1D1EC-1979-4D70-9E7F-62F674C2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"/>
            <a:ext cx="8572500" cy="285750"/>
          </a:xfrm>
          <a:prstGeom xmlns:a="http://schemas.openxmlformats.org/drawingml/2006/main" prst="roundRect">
            <a:avLst>
              <a:gd name="adj" fmla="val 4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8D395E"/>
                </a:solidFill>
              </a:defRPr>
            </a:pPr>
            <a:r>
              <a:rPr sz="1200" b="1">
                <a:solidFill>
                  <a:srgbClr val="8D395E"/>
                </a:solidFill>
              </a:rPr>
              <a:t>7.3 · WASTE, FOOD SECURITY AND SUSTAINABLE CHOICES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8B5DEA-6F15-4100-9A56-A5865FEB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81075"/>
            <a:ext cx="6238875" cy="742950"/>
          </a:xfrm>
          <a:prstGeom xmlns:a="http://schemas.openxmlformats.org/drawingml/2006/main" prst="roundRect">
            <a:avLst>
              <a:gd name="adj" fmla="val 1538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74936"/>
                </a:solidFill>
              </a:defRPr>
            </a:pPr>
            <a:r>
              <a:rPr sz="2400" b="1">
                <a:solidFill>
                  <a:srgbClr val="174936"/>
                </a:solidFill>
              </a:rPr>
              <a:t>Waste, food security and sustainable choices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4697D0-91AD-4CF2-839F-43C6328BF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53125" cy="495300"/>
          </a:xfrm>
          <a:prstGeom xmlns:a="http://schemas.openxmlformats.org/drawingml/2006/main" prst="roundRect">
            <a:avLst>
              <a:gd name="adj" fmla="val 2307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5D6D63"/>
                </a:solidFill>
              </a:defRPr>
            </a:pPr>
            <a:r>
              <a:rPr sz="1425" b="1">
                <a:solidFill>
                  <a:srgbClr val="5D6D63"/>
                </a:solidFill>
              </a:rPr>
              <a:t>Develop student understanding of food security, food waste prevention and the trade-offs involved in making safer, more sustainable food choices.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8873F2-10C5-42EC-8EC0-80F7DB7E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493E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C079D-0381-4F5E-A99A-D724ACA25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003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Food security means reliable physical and economic access to sufficient, safe and suitable food.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68C2FF-4D43-4A51-919C-61A0B3AE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209550" cy="209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07FED5-0D02-45A0-B630-AE2CB54B6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67100"/>
            <a:ext cx="5381625" cy="800100"/>
          </a:xfrm>
          <a:prstGeom xmlns:a="http://schemas.openxmlformats.org/drawingml/2006/main" prst="roundRect">
            <a:avLst>
              <a:gd name="adj" fmla="val 1428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19050" rIns="0" bIns="1905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Avoidable food waste can often be reduced through planning, correct storage, suitable portions and safe management of appropriate leftovers.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C9294A-F4C2-48A5-9E77-A75EC4E2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24400"/>
            <a:ext cx="5953125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152FE9-7EDC-4EFA-9AD9-A35C350D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43475"/>
            <a:ext cx="16192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8D395E"/>
                </a:solidFill>
              </a:defRPr>
            </a:pPr>
            <a:r>
              <a:rPr sz="1125" b="1">
                <a:solidFill>
                  <a:srgbClr val="8D395E"/>
                </a:solidFill>
              </a:rPr>
              <a:t>USE THE IDEA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FD2AFE-D882-4D5B-8DAC-BF564AF69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38750"/>
            <a:ext cx="5391150" cy="685800"/>
          </a:xfrm>
          <a:prstGeom xmlns:a="http://schemas.openxmlformats.org/drawingml/2006/main" prst="roundRect">
            <a:avLst>
              <a:gd name="adj" fmla="val 1666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4936"/>
                </a:solidFill>
              </a:defRPr>
            </a:pPr>
            <a:r>
              <a:rPr sz="1350" b="1">
                <a:solidFill>
                  <a:srgbClr val="174936"/>
                </a:solidFill>
              </a:rPr>
              <a:t>For Food for Purpose or the Party Task, compare two realistic menu or serving choices.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A4AEE2-DEDA-43FB-A6D4-7B77AC7F9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8775" y="3390900"/>
            <a:ext cx="0" cy="15430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5C052-7D06-48E1-A217-7E3BDB68D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33950"/>
            <a:ext cx="1162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8D395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3F68ED-FF29-4CEE-B5AE-1DDFF586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32410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8D395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024AE8-F325-48D8-919A-0C76EFBBF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47650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Understanding food security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A5E779-1D0F-4483-AB92-CD6A497AE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E4B4B2-1720-4589-992F-61A56ED8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Preventing and managing food waste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240747B-47AF-4D0F-8968-F3957C19E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4400550"/>
            <a:ext cx="1409700" cy="1066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9493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C860DB-1C40-4BF2-AD37-09FE09B19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52950"/>
            <a:ext cx="1181100" cy="762000"/>
          </a:xfrm>
          <a:prstGeom xmlns:a="http://schemas.openxmlformats.org/drawingml/2006/main" prst="roundRect">
            <a:avLst>
              <a:gd name="adj" fmla="val 15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28575" tIns="19050" rIns="28575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3229"/>
                </a:solidFill>
              </a:defRPr>
            </a:pPr>
            <a:r>
              <a:rPr sz="1350" b="1">
                <a:solidFill>
                  <a:srgbClr val="243229"/>
                </a:solidFill>
              </a:rPr>
              <a:t>Making choices through trade-offs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C0645BB-1F6B-423E-9C6A-0075D890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5486400"/>
            <a:ext cx="410527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FBBDF9-6296-4594-8D1F-BDF830A9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610225"/>
            <a:ext cx="3781425" cy="381000"/>
          </a:xfrm>
          <a:prstGeom xmlns:a="http://schemas.openxmlformats.org/drawingml/2006/main" prst="roundRect">
            <a:avLst>
              <a:gd name="adj" fmla="val 3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4936"/>
                </a:solidFill>
              </a:defRPr>
            </a:pPr>
            <a:r>
              <a:rPr sz="1200" b="1">
                <a:solidFill>
                  <a:srgbClr val="174936"/>
                </a:solidFill>
              </a:rPr>
              <a:t>CHECK THE CLAIM: The most sustainable food choice is always the local option.</a:t>
            </a:r>
          </a:p>
        </p:txBody>
      </p:sp>
    </p:spTree>
    <p:extLst>
      <p:ext uri="{BB962C8B-B14F-4D97-AF65-F5344CB8AC3E}">
        <p14:creationId xmlns:p14="http://schemas.microsoft.com/office/powerpoint/2010/main" val="11091052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749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A3A492-2F29-412F-8698-7F6735EAC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D24644-043A-4EA5-A2B4-58D04D178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07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C3336D-E511-40F7-B329-210863D64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28342C-4C34-4F7A-BE9F-EF9B4506C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76200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Stop. Think. Explain.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34AC1A-BB4B-4479-9D83-6D6B86712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8572500" cy="323850"/>
          </a:xfrm>
          <a:prstGeom xmlns:a="http://schemas.openxmlformats.org/drawingml/2006/main" prst="roundRect">
            <a:avLst>
              <a:gd name="adj" fmla="val 35294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8E7DD"/>
                </a:solidFill>
              </a:defRPr>
            </a:pPr>
            <a:r>
              <a:rPr sz="1575" b="0">
                <a:solidFill>
                  <a:srgbClr val="D8E7DD"/>
                </a:solidFill>
              </a:rPr>
              <a:t>Answer silently first. Then compare reasoning—not just answers.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09DE8B-E26D-4AB8-9250-9E6B2324D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4183F3-D24E-4CA6-97F9-5C8BF729B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90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“Every food follows one identical farm-to-plate chain.”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C970B7-6C47-49E5-95A3-54D0C5DBF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05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9525">
            <a:solidFill>
              <a:srgbClr val="E6AE35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9F26D-2C66-4115-9146-F5F8DE28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333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“Food production is the same across Australia.”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992E2-C271-401F-BEDE-539A3E8AF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648200"/>
            <a:ext cx="5143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20D663-E893-4491-879A-475CE8F8A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76750"/>
            <a:ext cx="9791700" cy="838200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214F3D"/>
          </a:solidFill>
          <a:ln xmlns:a="http://schemas.openxmlformats.org/drawingml/2006/main" w="9525">
            <a:solidFill>
              <a:srgbClr val="3D7259"/>
            </a:solidFill>
            <a:prstDash val="solid"/>
          </a:ln>
        </p:spPr>
        <p:txBody>
          <a:bodyPr xmlns:a="http://schemas.openxmlformats.org/drawingml/2006/main" lIns="171450" tIns="76200" rIns="17145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Correct or improve this claim: “The most sustainable food choice is always the local option.”</a:t>
            </a:r>
          </a:p>
        </p:txBody>
      </p:sp>
    </p:spTree>
    <p:extLst>
      <p:ext uri="{BB962C8B-B14F-4D97-AF65-F5344CB8AC3E}">
        <p14:creationId xmlns:p14="http://schemas.microsoft.com/office/powerpoint/2010/main" val="11666686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A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9BCFE4-51EE-493F-B5F0-03DC274B3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824AE7-1B18-4A1E-9F78-EDF6010E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07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4E9C5E-7C4E-4C88-A3FF-54A999D7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879383-323D-440E-88AC-28E63035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9525000" cy="590550"/>
          </a:xfrm>
          <a:prstGeom xmlns:a="http://schemas.openxmlformats.org/drawingml/2006/main" prst="roundRect">
            <a:avLst>
              <a:gd name="adj" fmla="val 19355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4936"/>
                </a:solidFill>
              </a:defRPr>
            </a:pPr>
            <a:r>
              <a:rPr sz="3150" b="1">
                <a:solidFill>
                  <a:srgbClr val="174936"/>
                </a:solidFill>
              </a:rPr>
              <a:t>Read → Select → Explain → 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5544D6-A89D-4183-A5EB-EE5463D11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76400"/>
            <a:ext cx="108204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8E5BE3-8E49-4010-9995-04C28268E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885950"/>
            <a:ext cx="18097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C9493E"/>
                </a:solidFill>
              </a:defRPr>
            </a:pPr>
            <a:r>
              <a:rPr sz="1125" b="1">
                <a:solidFill>
                  <a:srgbClr val="C9493E"/>
                </a:solidFill>
              </a:rPr>
              <a:t>THE QUESTION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476B1-6454-4823-A502-319B3B746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098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Record evidence for each comparison factor and explain both an advantage and a limitation of the preferred option rather than relying on a sustainability slogan.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34D0C-C808-4263-9758-D82C7B4E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174936"/>
          </a:solidFill>
          <a:ln xmlns:a="http://schemas.openxmlformats.org/drawingml/2006/main" w="19050">
            <a:solidFill>
              <a:srgbClr val="17493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71B9DC-0491-484E-A71B-62A8768A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1 · READ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2B6CE-2478-4968-B900-74A7F2D81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Underline the task word and the exact context.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E76F1B-A1E2-40D6-B4C6-7B32F7D62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4E0E7E-E123-41DF-9DDD-51B01C7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2 · SELECT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5DFEB-41F8-401B-8B04-6BD66C38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Choose the theory and evidence that answer this question.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C415A7-A329-414D-826F-DA9088883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73210-DE68-4182-8162-49A0DF44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3 · EXPLAIN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3B1DB8-E863-49CC-819D-6EB6422E7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43229"/>
                </a:solidFill>
              </a:defRPr>
            </a:pPr>
            <a:r>
              <a:rPr sz="1500" b="0">
                <a:solidFill>
                  <a:srgbClr val="243229"/>
                </a:solidFill>
              </a:rPr>
              <a:t>Connect the idea with because, so or therefore.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392397-EE9A-465B-80F3-290E072BC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14700"/>
            <a:ext cx="2476500" cy="2038350"/>
          </a:xfrm>
          <a:prstGeom xmlns:a="http://schemas.openxmlformats.org/drawingml/2006/main" prst="roundRect">
            <a:avLst>
              <a:gd name="adj" fmla="val 7477"/>
            </a:avLst>
          </a:prstGeom>
          <a:solidFill xmlns:a="http://schemas.openxmlformats.org/drawingml/2006/main">
            <a:srgbClr val="DCEEE2"/>
          </a:solidFill>
          <a:ln xmlns:a="http://schemas.openxmlformats.org/drawingml/2006/main" w="19050">
            <a:solidFill>
              <a:srgbClr val="D1DDD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1F8A34-5EA9-4328-A3FB-B97C98828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43300"/>
            <a:ext cx="2095500" cy="266700"/>
          </a:xfrm>
          <a:prstGeom xmlns:a="http://schemas.openxmlformats.org/drawingml/2006/main" prst="roundRect">
            <a:avLst>
              <a:gd name="adj" fmla="val 42857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4 · CHECK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5E1B7E-2D40-4B7E-8B5C-1461038A8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10025"/>
            <a:ext cx="2095500" cy="1047750"/>
          </a:xfrm>
          <a:prstGeom xmlns:a="http://schemas.openxmlformats.org/drawingml/2006/main" prst="roundRect">
            <a:avLst>
              <a:gd name="adj" fmla="val 10909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</a:defRPr>
            </a:pPr>
            <a:r>
              <a:rPr sz="1500" b="0">
                <a:solidFill>
                  <a:srgbClr val="FFFFFF"/>
                </a:solidFill>
              </a:rPr>
              <a:t>Confirm every part is answered and every claim is specific.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5B93A6-550D-4074-BDB4-9357D0A24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9525000" cy="342900"/>
          </a:xfrm>
          <a:prstGeom xmlns:a="http://schemas.openxmlformats.org/drawingml/2006/main" prst="roundRect">
            <a:avLst>
              <a:gd name="adj" fmla="val 33333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C9493E"/>
                </a:solidFill>
              </a:defRPr>
            </a:pPr>
            <a:r>
              <a:rPr sz="1425" b="1">
                <a:solidFill>
                  <a:srgbClr val="C9493E"/>
                </a:solidFill>
              </a:rPr>
              <a:t>Save the finished response as formative learning evidence on the module page.</a:t>
            </a:r>
          </a:p>
        </p:txBody>
      </p:sp>
    </p:spTree>
    <p:extLst>
      <p:ext uri="{BB962C8B-B14F-4D97-AF65-F5344CB8AC3E}">
        <p14:creationId xmlns:p14="http://schemas.microsoft.com/office/powerpoint/2010/main" val="1401456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C9493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060422-C50B-4258-A4FC-EBC1D17D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FDC4C-4181-4887-B414-CADD5761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38900"/>
            <a:ext cx="571500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D6D63"/>
                </a:solidFill>
              </a:defRPr>
            </a:pPr>
            <a:r>
              <a:rPr sz="1050" b="1">
                <a:solidFill>
                  <a:srgbClr val="5D6D63"/>
                </a:solidFill>
              </a:rPr>
              <a:t>MODULE 07 · YEAR 8 FOOD TECHNOLOGY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D1CB72-F718-439C-802A-26BB342DE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552450" cy="228600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C9493E"/>
                </a:solidFill>
              </a:defRPr>
            </a:pPr>
            <a:r>
              <a:rPr sz="1050" b="1">
                <a:solidFill>
                  <a:srgbClr val="C9493E"/>
                </a:solidFill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A4F3AB-7E10-40CB-B7BA-255359D06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810500" cy="609600"/>
          </a:xfrm>
          <a:prstGeom xmlns:a="http://schemas.openxmlformats.org/drawingml/2006/main" prst="roundRect">
            <a:avLst>
              <a:gd name="adj" fmla="val 18750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</a:defRPr>
            </a:pPr>
            <a:r>
              <a:rPr sz="3300" b="1">
                <a:solidFill>
                  <a:srgbClr val="FFFFFF"/>
                </a:solidFill>
              </a:rPr>
              <a:t>Before you pack up…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D0D5C-7D0C-4548-84BA-7FC4B2E8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9526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1. One idea I can now explain is…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D2804-9C8C-47AF-976C-FF424E74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289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2. One practical or design decision this changes is…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3B647-964C-430C-B832-01BB1D7E9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05225"/>
            <a:ext cx="8572500" cy="62865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lIns="152400" tIns="76200" rIns="152400" bIns="7620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4936"/>
                </a:solidFill>
              </a:defRPr>
            </a:pPr>
            <a:r>
              <a:rPr sz="1725" b="1">
                <a:solidFill>
                  <a:srgbClr val="174936"/>
                </a:solidFill>
              </a:rPr>
              <a:t>3. One question I still need answered is…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36E013-0C39-4465-9005-7EC5C498D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400300"/>
            <a:ext cx="1238250" cy="1238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6AE35"/>
          </a:solidFill>
          <a:ln xmlns:a="http://schemas.openxmlformats.org/drawingml/2006/main" w="19050">
            <a:solidFill>
              <a:srgbClr val="E6AE3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16128DF-68A3-466D-ADB7-0DFF8B78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600325"/>
            <a:ext cx="952500" cy="838200"/>
          </a:xfrm>
          <a:prstGeom xmlns:a="http://schemas.openxmlformats.org/drawingml/2006/main" prst="roundRect">
            <a:avLst>
              <a:gd name="adj" fmla="val 13636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SAVE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YOUR</a:t>
            </a:r>
          </a:p>
          <a:p xmlns:a="http://schemas.openxmlformats.org/drawingml/2006/main">
            <a:pPr algn="ctr">
              <a:defRPr sz="1275" b="1">
                <a:solidFill>
                  <a:srgbClr val="174936"/>
                </a:solidFill>
              </a:defRPr>
            </a:pPr>
            <a:r>
              <a:rPr sz="1275" b="1">
                <a:solidFill>
                  <a:srgbClr val="174936"/>
                </a:solidFill>
              </a:rPr>
              <a:t>EVIDENCE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05F40F-E116-4184-B0EC-3C8D37AA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95875"/>
            <a:ext cx="9525000" cy="400050"/>
          </a:xfrm>
          <a:prstGeom xmlns:a="http://schemas.openxmlformats.org/drawingml/2006/main" prst="roundRect">
            <a:avLst>
              <a:gd name="adj" fmla="val 28571"/>
            </a:avLst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Next: Module 8 · Design a Party Menu</a:t>
            </a:r>
          </a:p>
        </p:txBody>
      </p:sp>
    </p:spTree>
    <p:extLst>
      <p:ext uri="{BB962C8B-B14F-4D97-AF65-F5344CB8AC3E}">
        <p14:creationId xmlns:p14="http://schemas.microsoft.com/office/powerpoint/2010/main" val="113674114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2026-08-25T03:54:03.8570000Z</dcterms:created>
  <dcterms:modified xsi:type="dcterms:W3CDTF">2026-08-25T03:54:03.8570000Z</dcterms:modified>
</coreProperties>
</file>