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4c869f92240ae" /><Relationship Type="http://schemas.openxmlformats.org/officeDocument/2006/relationships/extended-properties" Target="/docProps/app.xml" Id="R1eadf033bf34475a" /><Relationship Type="http://schemas.openxmlformats.org/officeDocument/2006/relationships/officeDocument" Target="/ppt/presentation.xml" Id="Rd810412dd68f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7e89a291f43aa"/>
  </p:sldMasterIdLst>
  <p:notesMasterIdLst>
    <p:notesMasterId xmlns:r="http://schemas.openxmlformats.org/officeDocument/2006/relationships" r:id="R690ef6f142454708"/>
  </p:notesMasterIdLst>
  <p:sldIdLst>
    <p:sldId xmlns:r="http://schemas.openxmlformats.org/officeDocument/2006/relationships" id="256" r:id="R24c29248554f49f8"/>
    <p:sldId xmlns:r="http://schemas.openxmlformats.org/officeDocument/2006/relationships" id="257" r:id="R66564f1c98574573"/>
    <p:sldId xmlns:r="http://schemas.openxmlformats.org/officeDocument/2006/relationships" id="258" r:id="R82da709c41284361"/>
    <p:sldId xmlns:r="http://schemas.openxmlformats.org/officeDocument/2006/relationships" id="259" r:id="R65e51dabfdd941c1"/>
    <p:sldId xmlns:r="http://schemas.openxmlformats.org/officeDocument/2006/relationships" id="260" r:id="Re6c0c22d62a24085"/>
    <p:sldId xmlns:r="http://schemas.openxmlformats.org/officeDocument/2006/relationships" id="261" r:id="R02b8c262c5fa4b84"/>
    <p:sldId xmlns:r="http://schemas.openxmlformats.org/officeDocument/2006/relationships" id="262" r:id="R44041f6855804bbf"/>
    <p:sldId xmlns:r="http://schemas.openxmlformats.org/officeDocument/2006/relationships" id="263" r:id="Rd44a735ab16249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b1d823d9cb4d58" /><Relationship Type="http://schemas.openxmlformats.org/officeDocument/2006/relationships/slideMaster" Target="/ppt/slideMasters/slideMaster1.xml" Id="R2d77e89a291f43aa" /><Relationship Type="http://schemas.openxmlformats.org/officeDocument/2006/relationships/notesMaster" Target="/ppt/notesMasters/notesMaster1.xml" Id="R690ef6f142454708" /><Relationship Type="http://schemas.openxmlformats.org/officeDocument/2006/relationships/presProps" Target="/ppt/presProps.xml" Id="Rb923b23cc9824cc8" /><Relationship Type="http://schemas.openxmlformats.org/officeDocument/2006/relationships/tableStyles" Target="/ppt/tableStyles.xml" Id="Rcb92d68e27634e00" /><Relationship Type="http://schemas.openxmlformats.org/officeDocument/2006/relationships/slide" Target="/ppt/slides/slide1.xml" Id="R24c29248554f49f8" /><Relationship Type="http://schemas.openxmlformats.org/officeDocument/2006/relationships/slide" Target="/ppt/slides/slide2.xml" Id="R66564f1c98574573" /><Relationship Type="http://schemas.openxmlformats.org/officeDocument/2006/relationships/slide" Target="/ppt/slides/slide3.xml" Id="R82da709c41284361" /><Relationship Type="http://schemas.openxmlformats.org/officeDocument/2006/relationships/slide" Target="/ppt/slides/slide4.xml" Id="R65e51dabfdd941c1" /><Relationship Type="http://schemas.openxmlformats.org/officeDocument/2006/relationships/slide" Target="/ppt/slides/slide5.xml" Id="Re6c0c22d62a24085" /><Relationship Type="http://schemas.openxmlformats.org/officeDocument/2006/relationships/slide" Target="/ppt/slides/slide6.xml" Id="R02b8c262c5fa4b84" /><Relationship Type="http://schemas.openxmlformats.org/officeDocument/2006/relationships/slide" Target="/ppt/slides/slide7.xml" Id="R44041f6855804bbf" /><Relationship Type="http://schemas.openxmlformats.org/officeDocument/2006/relationships/slide" Target="/ppt/slides/slide8.xml" Id="Rd44a735ab162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ac8f284756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e9042a59a43d5" /><Relationship Type="http://schemas.openxmlformats.org/officeDocument/2006/relationships/notesMaster" Target="/ppt/notesMasters/notesMaster1.xml" Id="R896f0d752e2c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87435d90da43fe" /><Relationship Type="http://schemas.openxmlformats.org/officeDocument/2006/relationships/notesMaster" Target="/ppt/notesMasters/notesMaster1.xml" Id="R73f3b0c087914c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b898d33cff498a" /><Relationship Type="http://schemas.openxmlformats.org/officeDocument/2006/relationships/notesMaster" Target="/ppt/notesMasters/notesMaster1.xml" Id="R0e25a498d32b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305d0606594744" /><Relationship Type="http://schemas.openxmlformats.org/officeDocument/2006/relationships/notesMaster" Target="/ppt/notesMasters/notesMaster1.xml" Id="R6a7b9486c09040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bd40e1ac4d49d5" /><Relationship Type="http://schemas.openxmlformats.org/officeDocument/2006/relationships/notesMaster" Target="/ppt/notesMasters/notesMaster1.xml" Id="R97266ce645e2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13f82ad094151" /><Relationship Type="http://schemas.openxmlformats.org/officeDocument/2006/relationships/notesMaster" Target="/ppt/notesMasters/notesMaster1.xml" Id="R649d0f85878c44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b0ce090064d49" /><Relationship Type="http://schemas.openxmlformats.org/officeDocument/2006/relationships/notesMaster" Target="/ppt/notesMasters/notesMaster1.xml" Id="R12627c84599a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77865f4e8e44df" /><Relationship Type="http://schemas.openxmlformats.org/officeDocument/2006/relationships/notesMaster" Target="/ppt/notesMasters/notesMaster1.xml" Id="Rb133c1b740df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Use reliable evidence to explain varied food choices.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official-australian-dietary-guidance
- sugar-media-study
- assets/photos/module-04-balanced-food-variety.png · SHA-256 6f16f57a8c6b3c999de35f99054120ce61088c9945b0e1972f1dbdd883663651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Six essential nutrients; Food groups and balanced choices; Added sugar and informed media choices.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official-australian-dietary-guidance
- sugar-media-study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Meet the six nutrient groups; Different nutrients have different jobs; Foods are nutrient packages.</a:t>
            </a:r>
          </a:p>
          <a:p xmlns:a="http://schemas.openxmlformats.org/drawingml/2006/main">
            <a:r>
              <a:t>Use the worked example: Comparing ingredients for a party food. Ingredient choices can be explained by comparing the different nutrient contributions each food brings to the complete dish.</a:t>
            </a:r>
          </a:p>
          <a:p xmlns:a="http://schemas.openxmlformats.org/drawingml/2006/main">
            <a:r>
              <a:t>Likely misconception: A food belongs to only one nutrient group. Correction: Most foods contain several nutrients in different amounts, so one ingredient can make several nutrient contributions.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The five food groups; Balance happens across meals and time; Building variety into a menu.</a:t>
            </a:r>
          </a:p>
          <a:p xmlns:a="http://schemas.openxmlformats.org/drawingml/2006/main">
            <a:r>
              <a:t>Use the worked example: Reviewing a proposed party menu. A useful party menu can combine nourishment, variety and enjoyment without requiring every individual item to meet every food-group need.</a:t>
            </a:r>
          </a:p>
          <a:p xmlns:a="http://schemas.openxmlformats.org/drawingml/2006/main">
            <a:r>
              <a:t>Likely misconception: Every meal must include all five food groups to be balanced. Correction: Balance is considered across meals and over time, so one eating occasion does not need to contain every group.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official-australian-dietary-guidance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Understanding sugar language; Reading labels for useful evidence; Use a media lens, not just the message.</a:t>
            </a:r>
          </a:p>
          <a:p xmlns:a="http://schemas.openxmlformats.org/drawingml/2006/main">
            <a:r>
              <a:t>Use the worked example: Comparing two snack messages. Front-of-pack messages can guide attention, but informed comparisons depend on label evidence, fair comparisons and the context in which the food will be served.</a:t>
            </a:r>
          </a:p>
          <a:p xmlns:a="http://schemas.openxmlformats.org/drawingml/2006/main">
            <a:r>
              <a:t>Likely misconception: The sugars number on the Nutrition Information Panel always tells you how much sugar was added. Correction: The panel usually reports total sugars, so it may include both naturally occurring and added sugars.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sugar-media-study
- food-knowledge
- official-australian-dietary-guidance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Six essential nutrients: accept an answer only when it explains why. Most foods contain several nutrients in different amounts, so one ingredient can make several nutrient contributions.</a:t>
            </a:r>
          </a:p>
          <a:p xmlns:a="http://schemas.openxmlformats.org/drawingml/2006/main">
            <a:r>
              <a:t>Question on Food groups and balanced choices: accept an answer only when it explains why. Balance is considered across meals and over time, so one eating occasion does not need to contain every group.</a:t>
            </a:r>
          </a:p>
          <a:p xmlns:a="http://schemas.openxmlformats.org/drawingml/2006/main">
            <a:r>
              <a:t>Question on Added sugar and informed media choices: accept an answer only when it explains why. The panel usually reports total sugars, so it may include both naturally occurring and added sugars.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official-australian-dietary-guidance
- sugar-media-study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Six essential nutrients; Food groups and balanced choices; Added sugar and informed media choices.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official-australian-dietary-guidance
- sugar-media-study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Food Science.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student-nutrient-scaffold
- official-australian-dietary-guidance
- sugar-media-study
- https://www.eatforhealth.gov.au/food-essentials/five-food-groups
- https://www.eatforhealth.gov.au/food-essentials/fat-salt-sugars-and-alcohol/sugars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f0bc8a6644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7a67407884713" /><Relationship Type="http://schemas.openxmlformats.org/officeDocument/2006/relationships/slideLayout" Target="/ppt/slideLayouts/slideLayout1.xml" Id="Rfc2ab3745069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ab3745069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3d80ae28b4af1" /><Relationship Type="http://schemas.openxmlformats.org/officeDocument/2006/relationships/image" Target="/ppt/media/image.png" Id="Ra4949b4c556e4fa6" /><Relationship Type="http://schemas.openxmlformats.org/officeDocument/2006/relationships/notesSlide" Target="/ppt/notesSlides/notesSlide1.xml" Id="R113147f9527a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6bd186714bf2" /><Relationship Type="http://schemas.openxmlformats.org/officeDocument/2006/relationships/notesSlide" Target="/ppt/notesSlides/notesSlide2.xml" Id="R85b660a583934b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7b52ded314f8a" /><Relationship Type="http://schemas.openxmlformats.org/officeDocument/2006/relationships/notesSlide" Target="/ppt/notesSlides/notesSlide3.xml" Id="R9336c8afa62344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71314e6054109" /><Relationship Type="http://schemas.openxmlformats.org/officeDocument/2006/relationships/notesSlide" Target="/ppt/notesSlides/notesSlide4.xml" Id="Ra32162ec9da74d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225fda6e94834" /><Relationship Type="http://schemas.openxmlformats.org/officeDocument/2006/relationships/notesSlide" Target="/ppt/notesSlides/notesSlide5.xml" Id="R74b322382b0f4b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9afc77e0e445b" /><Relationship Type="http://schemas.openxmlformats.org/officeDocument/2006/relationships/notesSlide" Target="/ppt/notesSlides/notesSlide6.xml" Id="Refbe6540983944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d0e373b746c3" /><Relationship Type="http://schemas.openxmlformats.org/officeDocument/2006/relationships/notesSlide" Target="/ppt/notesSlides/notesSlide7.xml" Id="Rfa664f3af6164b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145cadb104cee" /><Relationship Type="http://schemas.openxmlformats.org/officeDocument/2006/relationships/notesSlide" Target="/ppt/notesSlides/notesSlide8.xml" Id="Rbdb776fe12f54e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06663-3C11-4322-BBA0-BD183660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49b4c556e4fa6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3B727-0DCA-4ABF-97B7-BE99B1E7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B9D85-D108-4A9E-8C3B-1F9FA30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8D03-5E34-4A10-ACEC-C0C6D65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Nutrients and Food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A3B0-3B1C-4615-B078-D33AE84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Use reliable evidence to explain varied food choices.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9E723-7CB1-4C24-AE73-4AC5E3D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48207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F0FE6-7AC6-4C37-B1D3-EEBC3B0A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476B-B7CF-42EC-8DFB-CDEB58B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7389E-CBCD-4A8D-8D3A-FE713453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BC1E-125F-4C12-A517-995FF31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F2F26-2327-4E67-9C9E-ABCD0C0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5F5C7-0472-4694-BF1C-80D2DA0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F2811-8B89-4896-835B-26FED7A8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81815-A42B-4E24-AF49-28F3D7D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C174-29A4-457B-8895-89E2E783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76473-6299-4CBE-8950-F7B81AE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Six essential nutrients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2135F-500D-4B29-A054-61AC359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5E5C7-8E2E-4037-9F9C-8A1CCBE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9E953-EF53-45A6-A789-E5FF98CF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Food groups and balanced choices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8B387-B3AD-4FD3-8857-F076FF4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E1B30-F601-4A22-8566-6718A4A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D76DB-7FCA-4CE4-9966-4200467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Added sugar and informed media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D2D45-8A12-4055-A8F5-969637D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A76FE-EBA4-4F55-AC94-5C00D01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29A45-04F7-4DE6-8231-7D154972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762850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D7207-00E0-43B8-9D62-0EC5B92C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4B56E-7EFD-4DD3-B1AD-82EE5895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4F27A-C9DB-4333-9A7C-BE3494E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42815-896C-40FE-9288-3D46199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4.1 · SIX ESSENTIAL NUTRIENTS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CDCD0-3F2E-4C56-BFD6-7D2B3BF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Six essential nutrients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48A61-1919-4FA7-A10F-55C28013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students’ understanding of the six essential nutrient groups, their main functions and common food sources so they can make purposeful ingredient choices in…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8189C-F346-483A-B217-350A1F6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0B363-A0E7-4224-9800-7EEB326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The six essential nutrient groups are carbohydrates, protein, fats, vitamins, minerals and water.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2A216-5592-4706-8630-1417D4E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B847D-A24A-40A9-863B-081EB67C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Each nutrient group has important functions, including providing energy, supporting growth and repair, and helping normal body processes.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C2E9A-FFC5-4DC6-B5C0-2FA1FA3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A9968-992C-4E34-9C8E-985C42F2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4168B-446C-4016-9E88-EB2E9B89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When planning or preparing Food for Purpose party foods, examine each major ingredient and name the nutrients it is likely to contribute.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CEAF4-470A-4EA8-866D-338511F6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2FE3E-FBAB-4638-A012-C63201F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07F6F-2046-4BCC-8ED8-FC19646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CBD40-7C5C-4EB2-9B1D-89B86F4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D27B6-8F43-493A-A313-F28CBDF8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Meet the six nutrient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BAACB-9441-48AC-B5A6-3400EA5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A7780-EE7C-43D2-B718-DC63F688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C3460-93D2-4CEC-BA35-378EADD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Different nutrients have different 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F5618-5E0E-4133-B5D3-2761E5A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A8D3F-E9E0-46BF-9A7E-15157BD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1D285-8B7B-43EE-99BC-DB22FCD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Foods are nutrient packages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7C9E7-4FA6-4EE7-8C7C-9CCB5A4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838FD-CDD1-4B06-B34B-BD188D2A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A food belongs to only one nutrient group.</a:t>
            </a:r>
          </a:p>
        </p:txBody>
      </p:sp>
    </p:spTree>
    <p:extLst>
      <p:ext uri="{BB962C8B-B14F-4D97-AF65-F5344CB8AC3E}">
        <p14:creationId xmlns:p14="http://schemas.microsoft.com/office/powerpoint/2010/main" val="1236436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BF57C-DECC-4955-B802-32A391E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7CB13-EBB4-498F-87A4-6818A624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FEF7E-9FB4-47CB-A4DE-258CAABA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886B5-37CB-4EEE-8EB7-6841C49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4.2 · FOOD GROUPS AND BALANCED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83CBD-7008-4345-B5A2-FF5B7D69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Food groups and balanced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92F3A-8359-4C44-849E-96201B6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students’ understanding of the five Australian Guide to Healthy Eating food groups and how variety and balance can guide thoughtful menu choices over…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28AB8-6DFD-413C-99A8-362107C5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7F392-7538-42E6-BA5A-D0F5CFD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The Australian Guide to Healthy Eating includes five food groups, with water as the main drink.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A8E7A-0A0B-4FDC-9DFB-C746C74A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678C-15E6-4579-AAF5-5D5328C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Different foods within each group provide variety in nutrients, flavours, colours and textures.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7CAEC-80F8-48DD-898B-05ACD17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9691C-5FD1-4EC0-8C3B-EA635CD4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C357B-3417-4C5E-99A4-0B214A90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the Food for Purpose or Party Task, review your proposed foods as a complete menu.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46ACF-71CA-4CD0-91EC-1A5F7DC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58DA1-96E1-4E02-9D3A-F6D9E81B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1793A-E686-4428-99D3-79BB0745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The five food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869FC-0965-451F-9650-72F3AA0D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272DC-FE20-4F08-A1B4-223B6489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DF13E-79DA-428B-9382-2311EEF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Balance happens across meals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3F48C-3A82-4617-AA39-DC7790C8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53F64-EE69-4F78-8DA4-957A9A75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65280-657E-4F46-A0F5-9DE222A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Building variety into a menu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31294-4772-437B-8A08-95AF5D08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05FB7-9EE2-4B42-B681-E38AACCE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Every meal must include all five food groups to be balanced.</a:t>
            </a:r>
          </a:p>
        </p:txBody>
      </p:sp>
    </p:spTree>
    <p:extLst>
      <p:ext uri="{BB962C8B-B14F-4D97-AF65-F5344CB8AC3E}">
        <p14:creationId xmlns:p14="http://schemas.microsoft.com/office/powerpoint/2010/main" val="483103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C5455-3205-45ED-B5DE-46A97F0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08EF4-1F6E-4A04-A38D-6C3C7C2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01EC9-17FC-4E9C-8003-257DC122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0A2C-DF30-4EE8-9D6B-E38CBCE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4.3 · ADDED SUGAR AND INFORMED MEDIA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9D9DF-9E33-425D-8FBE-FCF8C67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Added sugar and informed media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E14B4-2AAE-42C8-BE0D-4EAA111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students’ ability to distinguish added sugars from naturally occurring sugars, interpret food labels and evaluate food-media claims using evidence rather than advertising 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406EF-93E1-4BCF-A463-22F011B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EFE90-5A5E-47DE-AED7-3B69283E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Sugars may occur naturally in foods or be added during processing and preparation.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ECCD7-48E1-4390-B210-832BE80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C552B-0D51-471D-B1A2-C94462AC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The Nutrition Information Panel usually reports total sugars, so the ingredient list provides important extra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F8462-3B34-412A-B90C-08FC7FA3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BB68F-C779-452F-87EF-02F0FF81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3EC78-9F0A-4C46-9843-FF70E55D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When selecting ingredients or packaged foods for Food for Purpose or a Party Task, record the front-of-pack message, inspect the ingredient list and compare similar products…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C2FF7-0369-4467-9ED8-EAACCDD6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97494-AC03-461F-90F0-86A0938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276D8-FD8D-46D6-867A-9C7FD786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EF176-F2F0-4469-8CD5-C2B68FD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Understanding sugar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0FB12-5D1C-4E77-B80A-564EE97B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2AA11-303A-4980-83BC-3C5EB93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Reading labels for useful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0F24E-0645-434F-8EC1-B7C650C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2405-564F-403C-8154-F824039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Use a media lens, not just…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2A929-676F-42DD-A575-F1EC37E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82DD7-103B-48A2-B8DD-E0635C9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sugars number on the Nutrition Information Panel always tells you how much…</a:t>
            </a:r>
          </a:p>
        </p:txBody>
      </p:sp>
    </p:spTree>
    <p:extLst>
      <p:ext uri="{BB962C8B-B14F-4D97-AF65-F5344CB8AC3E}">
        <p14:creationId xmlns:p14="http://schemas.microsoft.com/office/powerpoint/2010/main" val="38731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C02B-6B44-452B-AE5E-C2FEE53C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10FDF-A8C7-41FB-857A-5396155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8103A-CFD4-4546-8496-0CF885A8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F2D75-91A0-415D-9F2B-8109E10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3FC49-9393-44EE-B878-6BAB3368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D80D-3CDB-4A69-B155-2F41E0CF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C273A-B398-4E32-81E7-133B286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“A food belongs to only one nutrient group.”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BAF66-7332-467E-8A36-1C34503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0F88-F941-4D9B-85C1-063B0A2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“Every meal must include all five food groups to be balanced.”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0ADFB-F6DC-4612-B8DA-68D755AE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9919D-CD75-45A2-A55A-C688D4C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sugars number on the Nutrition Information Panel always tells you how much sugar was added.”</a:t>
            </a:r>
          </a:p>
        </p:txBody>
      </p:sp>
    </p:spTree>
    <p:extLst>
      <p:ext uri="{BB962C8B-B14F-4D97-AF65-F5344CB8AC3E}">
        <p14:creationId xmlns:p14="http://schemas.microsoft.com/office/powerpoint/2010/main" val="1203268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0E1B0-6224-48E5-BE19-E69E419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2410A-EA36-4179-A6CF-6D48721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2309C-B2B5-44DB-9829-D498DDB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29DB-8940-4E09-B6CA-46E6463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C1F08-1DE7-409B-995F-E2383F22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B4948-C68A-47CA-BABA-23BA1EF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B2AF-2F9C-4D86-8A81-7A18257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Explain which label and media evidence influenced the comparison, including what the front-of-pack claims did and did not establish.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FE140-A678-415E-8EAF-F6847BD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4F529-C950-4383-8604-41783A9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7721D-B8FB-4481-A76F-A76073A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A157D-AF69-46DB-97DD-FC998E5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3A88-D562-45B1-898A-78F17246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B29B1-D01E-4FDB-A3D0-0EF3141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06AC9-47A4-4A3F-AE73-E73F0A1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77EFA-B6C1-40DC-95D4-34DBE2F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225CF-54E5-4942-8269-2D2E2EAD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A9D84-67C2-46EA-AAE8-FBC6FD6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185AF-7E41-4E09-8F5D-2EFF4959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46B47-A7BC-4FB9-8176-C73AE8EF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E4166-7BDE-4D45-BF5F-AD378F4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483790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3039B-7933-4EFC-94B4-67C49D8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D939-C666-4560-951B-F5CDE935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04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CF726-9A60-40A3-9664-DEC3F6C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00209-1ED5-47A9-9F43-1C7EC25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6845-A71F-4528-9ACB-AC98F69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753D5-AD0E-4A6D-837A-6F036ED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19BCA-47BC-4EBB-8685-AE639F6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246C6-8F73-49A0-ACD4-B433C323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7922F-AF13-43BB-B8F2-46ACCD5E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485D0-7559-4BBB-B0D4-7DD14268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5 · Food Science</a:t>
            </a:r>
          </a:p>
        </p:txBody>
      </p:sp>
    </p:spTree>
    <p:extLst>
      <p:ext uri="{BB962C8B-B14F-4D97-AF65-F5344CB8AC3E}">
        <p14:creationId xmlns:p14="http://schemas.microsoft.com/office/powerpoint/2010/main" val="2080945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2026-08-25T03:53:59.0550000Z</dcterms:created>
  <dcterms:modified xsi:type="dcterms:W3CDTF">2026-08-25T03:53:59.0550000Z</dcterms:modified>
</coreProperties>
</file>