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1f7a0b0b06407e" /><Relationship Type="http://schemas.openxmlformats.org/officeDocument/2006/relationships/extended-properties" Target="/docProps/app.xml" Id="Rbbd7af96d4c94984" /><Relationship Type="http://schemas.openxmlformats.org/officeDocument/2006/relationships/officeDocument" Target="/ppt/presentation.xml" Id="Rb38df50c45cf4c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4cd6fcd32747c4"/>
  </p:sldMasterIdLst>
  <p:notesMasterIdLst>
    <p:notesMasterId xmlns:r="http://schemas.openxmlformats.org/officeDocument/2006/relationships" r:id="Rbf62d452693144f4"/>
  </p:notesMasterIdLst>
  <p:sldIdLst>
    <p:sldId xmlns:r="http://schemas.openxmlformats.org/officeDocument/2006/relationships" id="256" r:id="Rae5b6cf10d654886"/>
    <p:sldId xmlns:r="http://schemas.openxmlformats.org/officeDocument/2006/relationships" id="257" r:id="Rc222c8db72da4817"/>
    <p:sldId xmlns:r="http://schemas.openxmlformats.org/officeDocument/2006/relationships" id="258" r:id="R151f15501db94578"/>
    <p:sldId xmlns:r="http://schemas.openxmlformats.org/officeDocument/2006/relationships" id="259" r:id="R5aae3e00652141be"/>
    <p:sldId xmlns:r="http://schemas.openxmlformats.org/officeDocument/2006/relationships" id="260" r:id="R8f980141a2f74f6b"/>
    <p:sldId xmlns:r="http://schemas.openxmlformats.org/officeDocument/2006/relationships" id="261" r:id="Rb4db13b4b9ca45c8"/>
    <p:sldId xmlns:r="http://schemas.openxmlformats.org/officeDocument/2006/relationships" id="262" r:id="Rd25ead43a35b49e3"/>
    <p:sldId xmlns:r="http://schemas.openxmlformats.org/officeDocument/2006/relationships" id="263" r:id="R82572e9f3a7f42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381834771245ce" /><Relationship Type="http://schemas.openxmlformats.org/officeDocument/2006/relationships/slideMaster" Target="/ppt/slideMasters/slideMaster1.xml" Id="Rfb4cd6fcd32747c4" /><Relationship Type="http://schemas.openxmlformats.org/officeDocument/2006/relationships/notesMaster" Target="/ppt/notesMasters/notesMaster1.xml" Id="Rbf62d452693144f4" /><Relationship Type="http://schemas.openxmlformats.org/officeDocument/2006/relationships/presProps" Target="/ppt/presProps.xml" Id="Reefec28fb3b14ba6" /><Relationship Type="http://schemas.openxmlformats.org/officeDocument/2006/relationships/tableStyles" Target="/ppt/tableStyles.xml" Id="R70ee4ddc578c4381" /><Relationship Type="http://schemas.openxmlformats.org/officeDocument/2006/relationships/slide" Target="/ppt/slides/slide1.xml" Id="Rae5b6cf10d654886" /><Relationship Type="http://schemas.openxmlformats.org/officeDocument/2006/relationships/slide" Target="/ppt/slides/slide2.xml" Id="Rc222c8db72da4817" /><Relationship Type="http://schemas.openxmlformats.org/officeDocument/2006/relationships/slide" Target="/ppt/slides/slide3.xml" Id="R151f15501db94578" /><Relationship Type="http://schemas.openxmlformats.org/officeDocument/2006/relationships/slide" Target="/ppt/slides/slide4.xml" Id="R5aae3e00652141be" /><Relationship Type="http://schemas.openxmlformats.org/officeDocument/2006/relationships/slide" Target="/ppt/slides/slide5.xml" Id="R8f980141a2f74f6b" /><Relationship Type="http://schemas.openxmlformats.org/officeDocument/2006/relationships/slide" Target="/ppt/slides/slide6.xml" Id="Rb4db13b4b9ca45c8" /><Relationship Type="http://schemas.openxmlformats.org/officeDocument/2006/relationships/slide" Target="/ppt/slides/slide7.xml" Id="Rd25ead43a35b49e3" /><Relationship Type="http://schemas.openxmlformats.org/officeDocument/2006/relationships/slide" Target="/ppt/slides/slide8.xml" Id="R82572e9f3a7f42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0bcd8f8ed342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dcdd5b07f74658" /><Relationship Type="http://schemas.openxmlformats.org/officeDocument/2006/relationships/notesMaster" Target="/ppt/notesMasters/notesMaster1.xml" Id="Rf82cab158d48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0108c4d3142a9" /><Relationship Type="http://schemas.openxmlformats.org/officeDocument/2006/relationships/notesMaster" Target="/ppt/notesMasters/notesMaster1.xml" Id="R83c9272950a944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001c3ad0f4a41" /><Relationship Type="http://schemas.openxmlformats.org/officeDocument/2006/relationships/notesMaster" Target="/ppt/notesMasters/notesMaster1.xml" Id="Recc3788822f64f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bb9ed1619415d" /><Relationship Type="http://schemas.openxmlformats.org/officeDocument/2006/relationships/notesMaster" Target="/ppt/notesMasters/notesMaster1.xml" Id="R4da3e2b65403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8328dcf9b472f" /><Relationship Type="http://schemas.openxmlformats.org/officeDocument/2006/relationships/notesMaster" Target="/ppt/notesMasters/notesMaster1.xml" Id="Rc04bb2e373844d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948eeba8ff4eaa" /><Relationship Type="http://schemas.openxmlformats.org/officeDocument/2006/relationships/notesMaster" Target="/ppt/notesMasters/notesMaster1.xml" Id="R97bcd5e8d4a349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b23d245b9b4515" /><Relationship Type="http://schemas.openxmlformats.org/officeDocument/2006/relationships/notesMaster" Target="/ppt/notesMasters/notesMaster1.xml" Id="Rf180625963754d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e5ac0415241af" /><Relationship Type="http://schemas.openxmlformats.org/officeDocument/2006/relationships/notesMaster" Target="/ppt/notesMasters/notesMaster1.xml" Id="Rb8b4de252fca4a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Observe how ingredients and cooking methods change food.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course-program
- recipe-booklet
- food-knowledge
- assets/photos/module-05-food-science-comparisons.png · SHA-256 c2b365dc189de961b224a87b89cc21d3c16ed2b48622e821719e5585b3cb2bc2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Reasons for cooking; Denaturation, dextrinisation and emulsification; Fair ingredient tests and observations.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course-program
- recipe-booklet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Why do we cook food?; How heat causes change; Choosing a cooking method.</a:t>
            </a:r>
          </a:p>
          <a:p xmlns:a="http://schemas.openxmlformats.org/drawingml/2006/main">
            <a:r>
              <a:t>Use the worked example: Comparing batter on a hot surface with baked dough. Cooking methods transfer heat differently, and this helps explain why they produce different textures, colours, aromas and shapes.</a:t>
            </a:r>
          </a:p>
          <a:p xmlns:a="http://schemas.openxmlformats.org/drawingml/2006/main">
            <a:r>
              <a:t>Likely misconception: Cooking always makes food safer and more nutritious. Correction: Cooking can improve safety for some foods, but the effect depends on the food, and cooking does not automatically increase nutritional value.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course-program
- recipe-booklet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Denaturation: proteins changing structure; Dextrinisation: starch changing under dry heat; Emulsification: helping liquids stay dispersed.</a:t>
            </a:r>
          </a:p>
          <a:p xmlns:a="http://schemas.openxmlformats.org/drawingml/2006/main">
            <a:r>
              <a:t>Use the worked example: Comparing an egg, toasted bread and a dressing. Different food science processes produce different observable changes, so accurate explanations should link the evidence to the correct process.</a:t>
            </a:r>
          </a:p>
          <a:p xmlns:a="http://schemas.openxmlformats.org/drawingml/2006/main">
            <a:r>
              <a:t>Likely misconception: The browning of toasted bread is the same process as caramelisation or gelatinisation. Correction: Dextrinisation involves starch breaking into shorter dextrins under dry heat. Caramelisation and gelatinisation are different food science processes.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Planning a fair ingredient test; Observe and record precise evidence; Build an evidence-based conclusion.</a:t>
            </a:r>
          </a:p>
          <a:p xmlns:a="http://schemas.openxmlformats.org/drawingml/2006/main">
            <a:r>
              <a:t>Use the worked example: Planning a one-ingredient comparison. A fair ingredient test changes one variable, keeps other important conditions consistent and uses recorded evidence to support a careful conclusion.</a:t>
            </a:r>
          </a:p>
          <a:p xmlns:a="http://schemas.openxmlformats.org/drawingml/2006/main">
            <a:r>
              <a:t>Likely misconception: A fair test can change several ingredient amounts at once as long as the samples are compared. Correction: Changing one independent variable at a time makes it clearer which change may be linked to the observed result.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Reasons for cooking: accept an answer only when it explains why. Cooking can improve safety for some foods, but the effect depends on the food, and cooking does not automatically increase nutritional value.</a:t>
            </a:r>
          </a:p>
          <a:p xmlns:a="http://schemas.openxmlformats.org/drawingml/2006/main">
            <a:r>
              <a:t>Question on Denaturation, dextrinisation and emulsification: accept an answer only when it explains why. Dextrinisation involves starch breaking into shorter dextrins under dry heat. Caramelisation and gelatinisation are different food science processes.</a:t>
            </a:r>
          </a:p>
          <a:p xmlns:a="http://schemas.openxmlformats.org/drawingml/2006/main">
            <a:r>
              <a:t>Question on Fair ingredient tests and observations: accept an answer only when it explains why. Changing one independent variable at a time makes it clearer which change may be linked to the observed result.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course-program
- recipe-booklet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Reasons for cooking; Denaturation, dextrinisation and emulsification; Fair ingredient tests and observations.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course-program
- recipe-booklet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Sensory Evaluation and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course-program
- recipe-booklet
- food-knowledge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cb640de6444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fa5febffcc4fc7" /><Relationship Type="http://schemas.openxmlformats.org/officeDocument/2006/relationships/slideLayout" Target="/ppt/slideLayouts/slideLayout1.xml" Id="R803431b479104a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431b479104a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5751bc27e426a" /><Relationship Type="http://schemas.openxmlformats.org/officeDocument/2006/relationships/image" Target="/ppt/media/image.png" Id="R657b82797d2e4b71" /><Relationship Type="http://schemas.openxmlformats.org/officeDocument/2006/relationships/notesSlide" Target="/ppt/notesSlides/notesSlide1.xml" Id="R4fa69eb9ca2d47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a73f58dad44ae" /><Relationship Type="http://schemas.openxmlformats.org/officeDocument/2006/relationships/notesSlide" Target="/ppt/notesSlides/notesSlide2.xml" Id="Rcf01aed44ef141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a4de8073547f7" /><Relationship Type="http://schemas.openxmlformats.org/officeDocument/2006/relationships/notesSlide" Target="/ppt/notesSlides/notesSlide3.xml" Id="R23a3146e0c4044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59034d2c04b29" /><Relationship Type="http://schemas.openxmlformats.org/officeDocument/2006/relationships/notesSlide" Target="/ppt/notesSlides/notesSlide4.xml" Id="R0bc9a2ea2bab4e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0c58697174ae1" /><Relationship Type="http://schemas.openxmlformats.org/officeDocument/2006/relationships/notesSlide" Target="/ppt/notesSlides/notesSlide5.xml" Id="R3ea8f89af4e14e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f535c11c34140" /><Relationship Type="http://schemas.openxmlformats.org/officeDocument/2006/relationships/notesSlide" Target="/ppt/notesSlides/notesSlide6.xml" Id="R9683552ba45142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f5bec54be4279" /><Relationship Type="http://schemas.openxmlformats.org/officeDocument/2006/relationships/notesSlide" Target="/ppt/notesSlides/notesSlide7.xml" Id="R723351557d4b45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3d3c0d6b54640" /><Relationship Type="http://schemas.openxmlformats.org/officeDocument/2006/relationships/notesSlide" Target="/ppt/notesSlides/notesSlide8.xml" Id="Rda031b02381341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3D2CF-9F20-48DE-A1CD-921DCEF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b82797d2e4b71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BF0FC-D1BB-425E-BB05-FC538B0F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E8164-585A-48D0-B926-995A6E27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60E54-CF0A-4F5A-B174-74D7D050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Food 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A546B-F25A-4212-8649-4FD583F7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Observe how ingredients and cooking methods change food.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3D2A5-0C4F-45E5-99EC-E170A951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907581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E930A-284F-4B3F-81BA-CAD2584E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86A70-8F77-4E56-9991-7A85F54D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05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00C81-B9C3-4EA7-91D3-545C6D37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4F479-CC6B-4330-B830-7C21435A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F13A9-3243-42C0-BAB5-C250F70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D211E-B56B-4A0C-8456-A25ACDB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D23B9-06DB-4EB7-8356-ECCA8BE7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03708-B2CE-41E8-B012-20835CF3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09233-F7AE-4A90-9C2A-57D50DFF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49194-731C-4E1A-81DB-5E311C91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Reasons for cooking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26127-3AF2-473B-A46B-F4FCE23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0DD47-D7DA-4165-946F-3DAE11B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71E4C-96FB-4680-9BCE-E00AA82A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Denaturation, dextrinisation and emulsification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DC6A2-6C3B-4670-93E3-1F4CF31D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8632E-D8CB-4956-8440-798E2A06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EF3AE-B079-4B4C-8A92-2AD0C77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Fair ingredient tests and observations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93235-13E1-40C6-9038-1B6CBCAD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68112-80D9-45EE-8384-F46A5CF8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BE565-EC17-4B0D-9970-C7800166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337120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C6F32-116A-414E-9313-F68987C3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6D5B0-0C11-4E56-9027-0834867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05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E1C40-5B30-48DD-94EC-1A3D1514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FCBCD-C346-4419-8811-7B33302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5.1 · REASONS FOR COOKING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977CD-41AF-48C8-90F4-D51B9E64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Reasons for cooking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8981E-E190-42B9-AF34-75AAB2F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Build students' understanding of why foods are cooked and how heat transfer and cooking methods produce purposeful changes in food.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C9EA1-31D7-4D2D-A5AC-0800608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C55F5-F113-45BE-B747-E8C9B4DE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Foods are cooked for different purposes, including safety where appropriate, eating quality, flavour, aroma, colour, texture, variety and sometimes longer useful life.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25AD6-60CC-43E3-B37F-D90745BE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AC95F-0642-4439-B1FE-DC04AF3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Heat moves from hotter areas to cooler areas and causes physical and sensory changes in food.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15176-E580-44A0-B2DB-08473F6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A917E-CD7B-4CB4-8ADD-245298B7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28831-D74E-49AD-8D6C-6535967A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the Food for Purpose / Party Task, notice why each food is cooked and what changes the method produces.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5E77E-BF5D-4D74-BEBD-BB41D3EA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58520-EA7F-4321-A4F6-B5B867A7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BD489-18A0-4BBF-854B-DA9AAF32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652C9-E7A6-4CE2-A4B0-00BFE018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199E6-FA11-40C0-B003-D099B93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Why do we cook food?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7D2D1-9A92-45DC-9803-B13C087C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74957-46BD-487C-A36D-BA052116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515BE-FDBB-4328-9057-931E2AA8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How heat causes 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360EB-462B-41C9-8E75-ACB9CA52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B0727-24FE-42D5-A5CD-56F79DB7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838EC3-2D96-42B3-8ABA-FFF4ECC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Choosing a cooking method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5DB88-FC1A-4F74-8D40-9EAA117F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3763A-E474-4FDA-96A8-A9CE740F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Cooking always makes food safer and more nutritious.</a:t>
            </a:r>
          </a:p>
        </p:txBody>
      </p:sp>
    </p:spTree>
    <p:extLst>
      <p:ext uri="{BB962C8B-B14F-4D97-AF65-F5344CB8AC3E}">
        <p14:creationId xmlns:p14="http://schemas.microsoft.com/office/powerpoint/2010/main" val="1698911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4F492-11FB-4D13-BC2B-FBAB689E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7D7A6-6A60-4574-B18B-469E813B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05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297A7-B6BD-4528-83B8-3A05BCB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62DC0-A28D-4CBB-9287-71AE56A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5.2 · DENATURATION, DEXTRINISATION AND EMULSIFICATION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22249-226F-4189-BBF0-EB83E71B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Denaturation, dextrinisation and emulsification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3BB78-306C-4F63-87A6-DA4DA5D6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students’ understanding of three important food science changes and how they can be recognised through observable kitchen examples.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CF202-453F-443A-B0AB-6D5DE4F2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EB250-C919-45C6-A9FB-1BDB8BF6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Denaturation is a change in protein structure caused by factors such as heat or agitation.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CB58A-DFBB-4D0E-B183-78B1A48B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A08A1-A69E-4EA0-A635-446DC83D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Dextrinisation is the breakdown of starch into shorter dextrins under dry heat, producing browning and flavour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58304-807D-441B-BFB2-F2482689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596FB-6377-41B4-BAF9-59403EFD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3505E-0798-42BD-86DD-6426381C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the Food for Purpose / Party Task, look closely at changes in texture, colour, flavour, appearance and separation.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487B7-A048-4CFC-BEEC-A501ED9A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FE906-33BB-42B5-A410-EAD37E69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6852F-CBFB-4BD0-80F5-AC6C85F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Denaturation: proteins changing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CBFDD-4854-424E-9348-2057C288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A246C-CCFD-45FC-8100-36EC3005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90640-57A3-4699-AC58-7EFFBC22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Dextrinisation: starch changing under dry heat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68003-BA4B-45AD-BC24-2CBD1697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99951-1CEB-47E1-9501-6584F440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FF776-1760-416B-AF5E-1132869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Emulsification: helping liquids stay dispersed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6D605-5CEA-44B9-889D-F718DE86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8C9B3-D615-4D4B-8FC1-1941AAF2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The browning of toasted bread is the same process as caramelisation or gelatinisation.</a:t>
            </a:r>
          </a:p>
        </p:txBody>
      </p:sp>
    </p:spTree>
    <p:extLst>
      <p:ext uri="{BB962C8B-B14F-4D97-AF65-F5344CB8AC3E}">
        <p14:creationId xmlns:p14="http://schemas.microsoft.com/office/powerpoint/2010/main" val="1142520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7057A-9514-4B4A-85B7-AA7E11A2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A7155-87D9-44AB-88B2-F1199E83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05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0CE63-6978-4F22-84D4-8D078C7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84912-75AB-4E5C-AE86-C1E5D16D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5.3 · FAIR INGREDIENT TESTS AND 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A3401-720E-4517-8CCD-F3D39AEF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Fair ingredient tests and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14F5C-4CEE-4520-A2A2-4A8A42B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students’ ability to plan fair ingredient comparisons, record precise evidence and form careful conclusions from classroom food investigations.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2D4AD-B990-413B-B2A6-A9B178A7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61FC9-F171-464C-9765-DB31106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 fair test starts with a clear question and changes only one independent variable at a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F5EAA-7AC1-45AE-A569-53914A7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5E7C1-0FF9-4AEC-B7A5-2F18BC36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The dependent variable is the feature measured or observed, while controlled variables are kept as consistent as practical.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DF76D-F1C6-49B1-9414-99CE36F2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1FAC6-48C2-418C-B6AE-A57ABEE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4BB71-EACF-4A67-9689-0DDEC9C8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the Food for Purpose / Party Task, ingredient choices may affect how a food looks, feels or performs.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4899E-E946-4394-BBAC-BDD856BB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05FB1-101F-4F16-AFFF-6508550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33355-5CE0-452C-ADC5-F62C5524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7200F-EF37-4C83-8ED4-5CFB3E93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Planning a fair ingredient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D685A-8D59-437B-9580-4977E6D7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973F5-2B64-4491-87D8-FD5AB5FC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Observe and record precise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C4972-33C9-460B-B3FC-7F186BF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7E38C-9BAA-4C6B-8A57-C551E914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Build an evidence-based conclusion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E6B4F-375F-4AED-AE9D-15DFABE4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DBDFF-8590-4AA5-A0DE-6299605E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A fair test can change several ingredient amounts at once as long as…</a:t>
            </a:r>
          </a:p>
        </p:txBody>
      </p:sp>
    </p:spTree>
    <p:extLst>
      <p:ext uri="{BB962C8B-B14F-4D97-AF65-F5344CB8AC3E}">
        <p14:creationId xmlns:p14="http://schemas.microsoft.com/office/powerpoint/2010/main" val="1938140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C68CB-80F5-422A-9083-0BCAA413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955FD-B467-46E9-AC2C-9521F4D6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05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C2EDB-1343-493A-8906-9A0A3404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78B0F-ED00-437E-9B72-75EBA96A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8DA5F-CC93-4959-96EE-59D019D3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A2F19-4F04-4BF5-B2CC-3DAF276D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11FA1-9145-44A7-80DF-62B1F4B5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“Cooking always makes food safer and more nutritious.”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C5D18-B6A8-45D3-A99B-34AD6349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6EE4D-2808-406E-AEE1-B2FB6693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“The browning of toasted bread is the same process as caramelisation or gelatinisation.”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06452-88C1-44D3-AE0E-ECACD62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60C3E-90F8-457A-96CF-1E03DD9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“A fair test can change several ingredient amounts at once as long as the samples are compared.”</a:t>
            </a:r>
          </a:p>
        </p:txBody>
      </p:sp>
    </p:spTree>
    <p:extLst>
      <p:ext uri="{BB962C8B-B14F-4D97-AF65-F5344CB8AC3E}">
        <p14:creationId xmlns:p14="http://schemas.microsoft.com/office/powerpoint/2010/main" val="1280087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B496A-281A-40D6-8C36-F51CC9A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47620-71AF-4097-99FB-47A5DF1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05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110E5-F6B4-40B3-BCC4-D2EC221D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C2B2A-C2C4-41C4-B7F2-6A045ED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6E0F6-34AC-4ABD-8736-61161748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D5CF0-3533-4712-868D-735E205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100AC-AE3F-4023-A514-A3AED669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Record precise physical or sensory observations that can be compared between samples, then use those observations to support a limited, evidence-based conclusion.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D4B11-4EF0-499B-B44A-2666214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8F6B3-8CD7-451D-BDFB-47BE9A03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00F19-4A32-45F1-942C-31E0FCFA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E976D-A038-48BA-9D94-283E9D0A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290B7-2045-48D6-88AA-913DBB41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E6A81-AFE7-43D3-A698-662FF5D1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3FDA2-F7F4-4A11-AA70-945E37C9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A5723-4DBC-4658-ADB0-D1D76094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839A7-379A-4942-A8E7-2A5442E4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E1E23-2899-4D5D-887C-177A1FDF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7C3F8-BF19-4DC6-8CDB-D29884F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4E8D2-7509-4AAA-B434-3EE8985F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9DF02-4965-46EC-8951-088249DF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782339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B2320-59F7-43E4-BB84-078F6886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2934A-F3CD-4E9A-8F4E-C47FA016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05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A6814-0D31-4B16-8D7F-8B3372E2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40F65-B7E6-49B0-9324-2D845518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F719F-0BF3-45AF-99FD-193B534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C1276-657D-4A82-871D-A692452E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256D5-0C1D-4402-A59B-6A39B1E7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0676D-B7EA-42F7-895E-246B9EA6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0B4F6-5451-467D-85E8-86977DA8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B15AF-9117-473A-8B14-8D1571C7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6 · Sensory Evaluation and Quality</a:t>
            </a:r>
          </a:p>
        </p:txBody>
      </p:sp>
    </p:spTree>
    <p:extLst>
      <p:ext uri="{BB962C8B-B14F-4D97-AF65-F5344CB8AC3E}">
        <p14:creationId xmlns:p14="http://schemas.microsoft.com/office/powerpoint/2010/main" val="1415777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2026-08-25T03:54:00.6620000Z</dcterms:created>
  <dcterms:modified xsi:type="dcterms:W3CDTF">2026-08-25T03:54:00.6620000Z</dcterms:modified>
</coreProperties>
</file>