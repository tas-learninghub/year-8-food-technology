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2b2e12d9a9a456c" /><Relationship Type="http://schemas.openxmlformats.org/officeDocument/2006/relationships/extended-properties" Target="/docProps/app.xml" Id="R061f61d2a6e042e2" /><Relationship Type="http://schemas.openxmlformats.org/officeDocument/2006/relationships/officeDocument" Target="/ppt/presentation.xml" Id="Rb861dcc848dc4b2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ec82531dc0f48bc"/>
  </p:sldMasterIdLst>
  <p:notesMasterIdLst>
    <p:notesMasterId xmlns:r="http://schemas.openxmlformats.org/officeDocument/2006/relationships" r:id="Ra6e78df6cc614a29"/>
  </p:notesMasterIdLst>
  <p:sldIdLst>
    <p:sldId xmlns:r="http://schemas.openxmlformats.org/officeDocument/2006/relationships" id="256" r:id="Rf00d15cb06ca4a85"/>
    <p:sldId xmlns:r="http://schemas.openxmlformats.org/officeDocument/2006/relationships" id="257" r:id="R7c79ab56d67d4d4b"/>
    <p:sldId xmlns:r="http://schemas.openxmlformats.org/officeDocument/2006/relationships" id="258" r:id="Rc7bd5e2e91f84135"/>
    <p:sldId xmlns:r="http://schemas.openxmlformats.org/officeDocument/2006/relationships" id="259" r:id="R8218e9f2caf54347"/>
    <p:sldId xmlns:r="http://schemas.openxmlformats.org/officeDocument/2006/relationships" id="260" r:id="R03d83bc5340040ee"/>
    <p:sldId xmlns:r="http://schemas.openxmlformats.org/officeDocument/2006/relationships" id="261" r:id="R8114eae09a1a4c84"/>
    <p:sldId xmlns:r="http://schemas.openxmlformats.org/officeDocument/2006/relationships" id="262" r:id="Rbbf73b4371214a95"/>
    <p:sldId xmlns:r="http://schemas.openxmlformats.org/officeDocument/2006/relationships" id="263" r:id="R828aecf4474d43e0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756d8af7e23441a" /><Relationship Type="http://schemas.openxmlformats.org/officeDocument/2006/relationships/slideMaster" Target="/ppt/slideMasters/slideMaster1.xml" Id="R2ec82531dc0f48bc" /><Relationship Type="http://schemas.openxmlformats.org/officeDocument/2006/relationships/notesMaster" Target="/ppt/notesMasters/notesMaster1.xml" Id="Ra6e78df6cc614a29" /><Relationship Type="http://schemas.openxmlformats.org/officeDocument/2006/relationships/presProps" Target="/ppt/presProps.xml" Id="R2d88eaeae70440ac" /><Relationship Type="http://schemas.openxmlformats.org/officeDocument/2006/relationships/tableStyles" Target="/ppt/tableStyles.xml" Id="Rba2b65392f404d6a" /><Relationship Type="http://schemas.openxmlformats.org/officeDocument/2006/relationships/slide" Target="/ppt/slides/slide1.xml" Id="Rf00d15cb06ca4a85" /><Relationship Type="http://schemas.openxmlformats.org/officeDocument/2006/relationships/slide" Target="/ppt/slides/slide2.xml" Id="R7c79ab56d67d4d4b" /><Relationship Type="http://schemas.openxmlformats.org/officeDocument/2006/relationships/slide" Target="/ppt/slides/slide3.xml" Id="Rc7bd5e2e91f84135" /><Relationship Type="http://schemas.openxmlformats.org/officeDocument/2006/relationships/slide" Target="/ppt/slides/slide4.xml" Id="R8218e9f2caf54347" /><Relationship Type="http://schemas.openxmlformats.org/officeDocument/2006/relationships/slide" Target="/ppt/slides/slide5.xml" Id="R03d83bc5340040ee" /><Relationship Type="http://schemas.openxmlformats.org/officeDocument/2006/relationships/slide" Target="/ppt/slides/slide6.xml" Id="R8114eae09a1a4c84" /><Relationship Type="http://schemas.openxmlformats.org/officeDocument/2006/relationships/slide" Target="/ppt/slides/slide7.xml" Id="Rbbf73b4371214a95" /><Relationship Type="http://schemas.openxmlformats.org/officeDocument/2006/relationships/slide" Target="/ppt/slides/slide8.xml" Id="R828aecf4474d43e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f734fbb7f3e48b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3f266b61aec4b25" /><Relationship Type="http://schemas.openxmlformats.org/officeDocument/2006/relationships/notesMaster" Target="/ppt/notesMasters/notesMaster1.xml" Id="Rb6b8f8655ca2405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64c7a39945d492c" /><Relationship Type="http://schemas.openxmlformats.org/officeDocument/2006/relationships/notesMaster" Target="/ppt/notesMasters/notesMaster1.xml" Id="R7241d671e5004be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5f6c7e1d9cf4ceb" /><Relationship Type="http://schemas.openxmlformats.org/officeDocument/2006/relationships/notesMaster" Target="/ppt/notesMasters/notesMaster1.xml" Id="R1f6c2b13a341446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d8f21ce17b74873" /><Relationship Type="http://schemas.openxmlformats.org/officeDocument/2006/relationships/notesMaster" Target="/ppt/notesMasters/notesMaster1.xml" Id="R93fa1db4bff44c7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2aea33993114b87" /><Relationship Type="http://schemas.openxmlformats.org/officeDocument/2006/relationships/notesMaster" Target="/ppt/notesMasters/notesMaster1.xml" Id="R8cc3800f47d0421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cf068a92ae10405c" /><Relationship Type="http://schemas.openxmlformats.org/officeDocument/2006/relationships/notesMaster" Target="/ppt/notesMasters/notesMaster1.xml" Id="Rb680d8e378eb43b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f04b5d5bacd44452" /><Relationship Type="http://schemas.openxmlformats.org/officeDocument/2006/relationships/notesMaster" Target="/ppt/notesMasters/notesMaster1.xml" Id="R0f8d7f9e1f7d45c2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8c9c4b82e23a41ae" /><Relationship Type="http://schemas.openxmlformats.org/officeDocument/2006/relationships/notesMaster" Target="/ppt/notesMasters/notesMaster1.xml" Id="Raf90528a787942c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Open by naming the learning purpose: Turn user needs and constraints into testable menu decisions.</a:t>
            </a:r>
          </a:p>
          <a:p xmlns:a="http://schemas.openxmlformats.org/drawingml/2006/main">
            <a:r>
              <a:t>Ask students to inspect the image and identify one detail connected to the module.</a:t>
            </a:r>
          </a:p>
          <a:p xmlns:a="http://schemas.openxmlformats.org/drawingml/2006/main">
            <a:r>
              <a:t>Do not present any unconfirmed local practical or assessment detail as settled.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
- _project/source-map-v1.0.md
- data/theory-data.js
- assessment-workbook
- party-recipes
- course-program
- food-knowledge
- assets/photos/module-08-menu-design-workspace-v2.png · SHA-256 cf6672187db9372f5a29c84a9a0c5cc7a06a5a0ff36c350680b8eabddda9b134
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the warm-up as a short think-pair-share.</a:t>
            </a:r>
          </a:p>
          <a:p xmlns:a="http://schemas.openxmlformats.org/drawingml/2006/main">
            <a:r>
              <a:t>Preview the sequence: User needs and constraints; Menu balance and costing; Ideas, criteria and responsible choices.</a:t>
            </a:r>
          </a:p>
          <a:p xmlns:a="http://schemas.openxmlformats.org/drawingml/2006/main">
            <a:r>
              <a:t>Listen for the first misconception listed in each section and note which idea needs more explanation.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
- _project/source-map-v1.0.md
- data/theory-data.js
- assessment-workbook
- party-recipes
- course-program
- food-knowledge
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Explain the three visible ideas in order: Understand the design brief; Use evidence about the user; Confirm constraints before designing.</a:t>
            </a:r>
          </a:p>
          <a:p xmlns:a="http://schemas.openxmlformats.org/drawingml/2006/main">
            <a:r>
              <a:t>Use the worked example: Facts before menu ideas. Strong design decisions are based on evidence. Separate facts from assumptions before choosing or rejecting recipes.</a:t>
            </a:r>
          </a:p>
          <a:p xmlns:a="http://schemas.openxmlformats.org/drawingml/2006/main">
            <a:r>
              <a:t>Likely misconception: If a constraint seems likely, the team can treat it as a fact. Correction: Possible constraints should be identified, but important details must be confirmed before they guide design decisions.</a:t>
            </a:r>
          </a:p>
          <a:p xmlns:a="http://schemas.openxmlformats.org/drawingml/2006/main">
            <a:r>
              <a:t>Transition: ask how this idea changes a method, choice or piece of evidence.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
- _project/source-map-v1.0.md
- data/theory-data.js
- assessment-workbook
- party-recipes
- course-program
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Explain the three visible ideas in order: Build balance across the menu; Calculate ingredient costs carefully; Find and compare cost per serve.</a:t>
            </a:r>
          </a:p>
          <a:p xmlns:a="http://schemas.openxmlformats.org/drawingml/2006/main">
            <a:r>
              <a:t>Use the worked example: Comparing balance and cost. Use menu balance and costing together. Check units, calculate the amount actually used and compare cost with flavour, texture, colour, temperature, nutrition, portion and user appeal.</a:t>
            </a:r>
          </a:p>
          <a:p xmlns:a="http://schemas.openxmlformats.org/drawingml/2006/main">
            <a:r>
              <a:t>Likely misconception: The whole package price should always be counted as the recipe ingredient cost. Correction: Calculate the cost of the quantity used unless the entire package is required for the recipe.</a:t>
            </a:r>
          </a:p>
          <a:p xmlns:a="http://schemas.openxmlformats.org/drawingml/2006/main">
            <a:r>
              <a:t>Transition: ask how this idea changes a method, choice or piece of evidence.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
- _project/source-map-v1.0.md
- data/theory-data.js
- assessment-workbook
- party-recipes
- food-knowledge
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Explain the three visible ideas in order: Generate several ideas before deciding; Separate criteria from constraints; Use a decision matrix as a thinking tool.</a:t>
            </a:r>
          </a:p>
          <a:p xmlns:a="http://schemas.openxmlformats.org/drawingml/2006/main">
            <a:r>
              <a:t>Use the worked example: Choosing responsibly from three ideas. Responsible selection means comparing several realistic ideas against confirmed criteria and explaining why the chosen option is fit for purpose.</a:t>
            </a:r>
          </a:p>
          <a:p xmlns:a="http://schemas.openxmlformats.org/drawingml/2006/main">
            <a:r>
              <a:t>Likely misconception: The first suitable idea should be selected immediately. Correction: Generating and comparing several realistic ideas gives stronger evidence for a final design decision.</a:t>
            </a:r>
          </a:p>
          <a:p xmlns:a="http://schemas.openxmlformats.org/drawingml/2006/main">
            <a:r>
              <a:t>Transition: ask how this idea changes a method, choice or piece of evidence.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
- _project/source-map-v1.0.md
- data/theory-data.js
- assessment-workbook
- party-recipes
- food-knowledge
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Give students quiet thinking time before discussion.</a:t>
            </a:r>
          </a:p>
          <a:p xmlns:a="http://schemas.openxmlformats.org/drawingml/2006/main">
            <a:r>
              <a:t>Question on User needs and constraints: accept an answer only when it explains why. Possible constraints should be identified, but important details must be confirmed before they guide design decisions.</a:t>
            </a:r>
          </a:p>
          <a:p xmlns:a="http://schemas.openxmlformats.org/drawingml/2006/main">
            <a:r>
              <a:t>Question on Menu balance and costing: accept an answer only when it explains why. Calculate the cost of the quantity used unless the entire package is required for the recipe.</a:t>
            </a:r>
          </a:p>
          <a:p xmlns:a="http://schemas.openxmlformats.org/drawingml/2006/main">
            <a:r>
              <a:t>Question on Ideas, criteria and responsible choices: accept an answer only when it explains why. Generating and comparing several realistic ideas gives stronger evidence for a final design decision.</a:t>
            </a:r>
          </a:p>
          <a:p xmlns:a="http://schemas.openxmlformats.org/drawingml/2006/main">
            <a:r>
              <a:t>Use this as formative checking; it is not a formal mark.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
- _project/source-map-v1.0.md
- data/theory-data.js
- assessment-workbook
- party-recipes
- course-program
- food-knowledge
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Read the full prompt aloud once, then give students time to unpack it.</a:t>
            </a:r>
          </a:p>
          <a:p xmlns:a="http://schemas.openxmlformats.org/drawingml/2006/main">
            <a:r>
              <a:t>A strong response should draw on: User needs and constraints; Menu balance and costing; Ideas, criteria and responsible choices.</a:t>
            </a:r>
          </a:p>
          <a:p xmlns:a="http://schemas.openxmlformats.org/drawingml/2006/main">
            <a:r>
              <a:t>Model a connection using because, so or therefore without supplying a complete answer.</a:t>
            </a:r>
          </a:p>
          <a:p xmlns:a="http://schemas.openxmlformats.org/drawingml/2006/main">
            <a:r>
              <a:t>Remind students that local saving is formative evidence, not proof of submission.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
- _project/source-map-v1.0.md
- data/theory-data.js
- assessment-workbook
- party-recipes
- course-program
- food-knowledge
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the three prompts as an exit ticket or brief verbal check.</a:t>
            </a:r>
          </a:p>
          <a:p xmlns:a="http://schemas.openxmlformats.org/drawingml/2006/main">
            <a:r>
              <a:t>Ask students to save their longer response before closing the module page.</a:t>
            </a:r>
          </a:p>
          <a:p xmlns:a="http://schemas.openxmlformats.org/drawingml/2006/main">
            <a:r>
              <a:t>Preview the next module: Plan, Produce and Present.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
- _project/source-map-v1.0.md
- data/theory-data.js
- assessment-workbook
- party-recipes
- course-program
- food-knowledge
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fa14c1ea4b444a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330208bde4b4084" /><Relationship Type="http://schemas.openxmlformats.org/officeDocument/2006/relationships/slideLayout" Target="/ppt/slideLayouts/slideLayout1.xml" Id="Rbbe9f9ea24fe4f9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be9f9ea24fe4f9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2386b0eee6c40a6" /><Relationship Type="http://schemas.openxmlformats.org/officeDocument/2006/relationships/image" Target="/ppt/media/image.png" Id="R06c4bad2361f435e" /><Relationship Type="http://schemas.openxmlformats.org/officeDocument/2006/relationships/notesSlide" Target="/ppt/notesSlides/notesSlide1.xml" Id="R3c8ecdee89eb471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89c3a3ec8034c8c" /><Relationship Type="http://schemas.openxmlformats.org/officeDocument/2006/relationships/notesSlide" Target="/ppt/notesSlides/notesSlide2.xml" Id="Rda0c2ee4bf33466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3793578f3c542be" /><Relationship Type="http://schemas.openxmlformats.org/officeDocument/2006/relationships/notesSlide" Target="/ppt/notesSlides/notesSlide3.xml" Id="Rede3209e13ec473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3829dffc5ad409a" /><Relationship Type="http://schemas.openxmlformats.org/officeDocument/2006/relationships/notesSlide" Target="/ppt/notesSlides/notesSlide4.xml" Id="R7ac31540126949e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c18561448d34d41" /><Relationship Type="http://schemas.openxmlformats.org/officeDocument/2006/relationships/notesSlide" Target="/ppt/notesSlides/notesSlide5.xml" Id="R90dcb160f3604c0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2f2b924b93b469c" /><Relationship Type="http://schemas.openxmlformats.org/officeDocument/2006/relationships/notesSlide" Target="/ppt/notesSlides/notesSlide6.xml" Id="Rd3d7a2da28654a3f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2299e7aacc143fc" /><Relationship Type="http://schemas.openxmlformats.org/officeDocument/2006/relationships/notesSlide" Target="/ppt/notesSlides/notesSlide7.xml" Id="Rd5e411dcb22c40b0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baac1232f944701" /><Relationship Type="http://schemas.openxmlformats.org/officeDocument/2006/relationships/notesSlide" Target="/ppt/notesSlides/notesSlide8.xml" Id="R2b8e17a666554086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A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AAECC0E-4F27-4369-89A0-3F052C7D6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56197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36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6c4bad2361f435e"/>
          <a:srcRect xmlns:a="http://schemas.openxmlformats.org/drawingml/2006/main" l="23033" t="0" r="23033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619750" y="0"/>
            <a:ext cx="6572250" cy="6858000"/>
          </a:xfrm>
          <a:prstGeom xmlns:a="http://schemas.openxmlformats.org/drawingml/2006/main" prst="roundRect">
            <a:avLst>
              <a:gd name="adj" fmla="val 2319"/>
            </a:avLst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BE6D3F1-84CF-4470-857B-1F3543D95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0"/>
            <a:ext cx="17145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174936"/>
              </a:gs>
              <a:gs pos="100000">
                <a:srgbClr val="174936">
                  <a:alpha val="0"/>
                </a:srgbClr>
              </a:gs>
            </a:gsLst>
            <a:lin ang="0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862ABF4-5518-4CB3-B701-77A37C2B2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19150"/>
            <a:ext cx="2857500" cy="285750"/>
          </a:xfrm>
          <a:prstGeom xmlns:a="http://schemas.openxmlformats.org/drawingml/2006/main" prst="roundRect">
            <a:avLst>
              <a:gd name="adj" fmla="val 4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E6AE35"/>
                </a:solidFill>
              </a:defRPr>
            </a:pPr>
            <a:r>
              <a:rPr sz="1350" b="1">
                <a:solidFill>
                  <a:srgbClr val="E6AE35"/>
                </a:solidFill>
              </a:rPr>
              <a:t>MODULE 08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6E0C561-E505-41D6-9068-BC244D54E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19250"/>
            <a:ext cx="4333875" cy="1657350"/>
          </a:xfrm>
          <a:prstGeom xmlns:a="http://schemas.openxmlformats.org/drawingml/2006/main" prst="roundRect">
            <a:avLst>
              <a:gd name="adj" fmla="val 6897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FFFFFF"/>
                </a:solidFill>
              </a:defRPr>
            </a:pPr>
            <a:r>
              <a:rPr sz="4050" b="1">
                <a:solidFill>
                  <a:srgbClr val="FFFFFF"/>
                </a:solidFill>
              </a:rPr>
              <a:t>Design a Party Menu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5D0E55C-5A84-4603-A78E-F81CA04DD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00450"/>
            <a:ext cx="4095750" cy="990600"/>
          </a:xfrm>
          <a:prstGeom xmlns:a="http://schemas.openxmlformats.org/drawingml/2006/main" prst="roundRect">
            <a:avLst>
              <a:gd name="adj" fmla="val 11538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EDF5EF"/>
                </a:solidFill>
              </a:defRPr>
            </a:pPr>
            <a:r>
              <a:rPr sz="1800" b="0">
                <a:solidFill>
                  <a:srgbClr val="EDF5EF"/>
                </a:solidFill>
              </a:rPr>
              <a:t>Turn user needs and constraints into testable menu decisions.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E8FDCB7-BD03-4881-9C17-C0811894E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91250"/>
            <a:ext cx="3524250" cy="2286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C7DED0"/>
                </a:solidFill>
              </a:defRPr>
            </a:pPr>
            <a:r>
              <a:rPr sz="1050" b="0">
                <a:solidFill>
                  <a:srgbClr val="C7DED0"/>
                </a:solidFill>
              </a:rPr>
              <a:t>Teacher-led classroom presentation</a:t>
            </a:r>
          </a:p>
        </p:txBody>
      </p:sp>
    </p:spTree>
    <p:extLst>
      <p:ext uri="{BB962C8B-B14F-4D97-AF65-F5344CB8AC3E}">
        <p14:creationId xmlns:p14="http://schemas.microsoft.com/office/powerpoint/2010/main" val="112246376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A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61F0290-FC4F-4FEA-8A41-A66958342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AE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549A8ED-A823-4235-8762-22C07FDF3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5715000" cy="2286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D6D63"/>
                </a:solidFill>
              </a:defRPr>
            </a:pPr>
            <a:r>
              <a:rPr sz="1050" b="1">
                <a:solidFill>
                  <a:srgbClr val="5D6D63"/>
                </a:solidFill>
              </a:rPr>
              <a:t>MODULE 08 · YEAR 8 FOOD TECHNOLOGY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A20D0FB-81B9-436D-9D94-7AF31431E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552450" cy="2286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C9493E"/>
                </a:solidFill>
              </a:defRPr>
            </a:pPr>
            <a:r>
              <a:rPr sz="1050" b="1">
                <a:solidFill>
                  <a:srgbClr val="C9493E"/>
                </a:solidFill>
              </a:rPr>
              <a:t>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6042C1A-1273-4CC7-9F68-91806E37D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04850"/>
            <a:ext cx="7239000" cy="609600"/>
          </a:xfrm>
          <a:prstGeom xmlns:a="http://schemas.openxmlformats.org/drawingml/2006/main" prst="roundRect">
            <a:avLst>
              <a:gd name="adj" fmla="val 1875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74936"/>
                </a:solidFill>
              </a:defRPr>
            </a:pPr>
            <a:r>
              <a:rPr sz="3150" b="1">
                <a:solidFill>
                  <a:srgbClr val="174936"/>
                </a:solidFill>
              </a:rPr>
              <a:t>Where are we going?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DE791DC-6D1A-4535-A2B3-EE62684D7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0"/>
            <a:ext cx="7239000" cy="342900"/>
          </a:xfrm>
          <a:prstGeom xmlns:a="http://schemas.openxmlformats.org/drawingml/2006/main" prst="roundRect">
            <a:avLst>
              <a:gd name="adj" fmla="val 33333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D63"/>
                </a:solidFill>
              </a:defRPr>
            </a:pPr>
            <a:r>
              <a:rPr sz="1650" b="0">
                <a:solidFill>
                  <a:srgbClr val="5D6D63"/>
                </a:solidFill>
              </a:rPr>
              <a:t>Three ideas build one practical or design decision.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C174B1A-3577-4923-AB7D-535F56CD5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2819400"/>
            <a:ext cx="381000" cy="571500"/>
          </a:xfrm>
          <a:prstGeom xmlns:a="http://schemas.openxmlformats.org/drawingml/2006/main" prst="roundRect">
            <a:avLst>
              <a:gd name="adj" fmla="val 3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900" b="1">
                <a:solidFill>
                  <a:srgbClr val="23664B"/>
                </a:solidFill>
              </a:defRPr>
            </a:pPr>
            <a:r>
              <a:rPr sz="3900" b="1">
                <a:solidFill>
                  <a:srgbClr val="23664B"/>
                </a:solidFill>
              </a:rPr>
              <a:t>›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38662E5-A891-4105-9CB4-8CD21568E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2819400"/>
            <a:ext cx="381000" cy="571500"/>
          </a:xfrm>
          <a:prstGeom xmlns:a="http://schemas.openxmlformats.org/drawingml/2006/main" prst="roundRect">
            <a:avLst>
              <a:gd name="adj" fmla="val 3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900" b="1">
                <a:solidFill>
                  <a:srgbClr val="23664B"/>
                </a:solidFill>
              </a:defRPr>
            </a:pPr>
            <a:r>
              <a:rPr sz="3900" b="1">
                <a:solidFill>
                  <a:srgbClr val="23664B"/>
                </a:solidFill>
              </a:rPr>
              <a:t>›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5088181-18EF-401D-AC53-476F78C36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381250"/>
            <a:ext cx="2952750" cy="1619250"/>
          </a:xfrm>
          <a:prstGeom xmlns:a="http://schemas.openxmlformats.org/drawingml/2006/main" prst="roundRect">
            <a:avLst>
              <a:gd name="adj" fmla="val 941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3664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A1E184F-6FE8-4D70-A464-F8D814F64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590800"/>
            <a:ext cx="457200" cy="457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3664B"/>
          </a:solidFill>
          <a:ln xmlns:a="http://schemas.openxmlformats.org/drawingml/2006/main" w="9525">
            <a:solidFill>
              <a:srgbClr val="23664B"/>
            </a:solidFill>
            <a:prstDash val="solid"/>
          </a:ln>
        </p:spPr>
        <p:txBody>
          <a:bodyPr xmlns:a="http://schemas.openxmlformats.org/drawingml/2006/main" lIns="76200" tIns="57150" rIns="76200" bIns="571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2ACE661-DF94-4509-AC67-7F92243B7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" y="2647950"/>
            <a:ext cx="2000250" cy="1000125"/>
          </a:xfrm>
          <a:prstGeom xmlns:a="http://schemas.openxmlformats.org/drawingml/2006/main" prst="roundRect">
            <a:avLst>
              <a:gd name="adj" fmla="val 11429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43229"/>
                </a:solidFill>
              </a:defRPr>
            </a:pPr>
            <a:r>
              <a:rPr sz="1800" b="1">
                <a:solidFill>
                  <a:srgbClr val="243229"/>
                </a:solidFill>
              </a:rPr>
              <a:t>User needs and constraints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1080D8F-F225-432F-AE8E-429511FBF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2381250"/>
            <a:ext cx="2952750" cy="1619250"/>
          </a:xfrm>
          <a:prstGeom xmlns:a="http://schemas.openxmlformats.org/drawingml/2006/main" prst="roundRect">
            <a:avLst>
              <a:gd name="adj" fmla="val 9412"/>
            </a:avLst>
          </a:prstGeom>
          <a:solidFill xmlns:a="http://schemas.openxmlformats.org/drawingml/2006/main">
            <a:srgbClr val="DCEEE2"/>
          </a:solidFill>
          <a:ln xmlns:a="http://schemas.openxmlformats.org/drawingml/2006/main" w="19050">
            <a:solidFill>
              <a:srgbClr val="23664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BEF8536-5942-4E1A-AD4B-13E7873A3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590800"/>
            <a:ext cx="457200" cy="457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3664B"/>
          </a:solidFill>
          <a:ln xmlns:a="http://schemas.openxmlformats.org/drawingml/2006/main" w="9525">
            <a:solidFill>
              <a:srgbClr val="23664B"/>
            </a:solidFill>
            <a:prstDash val="solid"/>
          </a:ln>
        </p:spPr>
        <p:txBody>
          <a:bodyPr xmlns:a="http://schemas.openxmlformats.org/drawingml/2006/main" lIns="76200" tIns="57150" rIns="76200" bIns="571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90143BE-C625-42B9-B966-1DB9143BB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647950"/>
            <a:ext cx="2000250" cy="1000125"/>
          </a:xfrm>
          <a:prstGeom xmlns:a="http://schemas.openxmlformats.org/drawingml/2006/main" prst="roundRect">
            <a:avLst>
              <a:gd name="adj" fmla="val 11429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43229"/>
                </a:solidFill>
              </a:defRPr>
            </a:pPr>
            <a:r>
              <a:rPr sz="1800" b="1">
                <a:solidFill>
                  <a:srgbClr val="243229"/>
                </a:solidFill>
              </a:rPr>
              <a:t>Menu balance and costing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7DD450B-42B3-464B-86A3-92BE5E601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10475" y="2381250"/>
            <a:ext cx="2952750" cy="1619250"/>
          </a:xfrm>
          <a:prstGeom xmlns:a="http://schemas.openxmlformats.org/drawingml/2006/main" prst="roundRect">
            <a:avLst>
              <a:gd name="adj" fmla="val 941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3664B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57D2CAE-B575-40BC-989B-0C9BC3118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00975" y="2590800"/>
            <a:ext cx="457200" cy="457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3664B"/>
          </a:solidFill>
          <a:ln xmlns:a="http://schemas.openxmlformats.org/drawingml/2006/main" w="9525">
            <a:solidFill>
              <a:srgbClr val="23664B"/>
            </a:solidFill>
            <a:prstDash val="solid"/>
          </a:ln>
        </p:spPr>
        <p:txBody>
          <a:bodyPr xmlns:a="http://schemas.openxmlformats.org/drawingml/2006/main" lIns="76200" tIns="57150" rIns="76200" bIns="571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58514E6-D3AA-45D6-92ED-E36D51A64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3425" y="2647950"/>
            <a:ext cx="2000250" cy="1000125"/>
          </a:xfrm>
          <a:prstGeom xmlns:a="http://schemas.openxmlformats.org/drawingml/2006/main" prst="roundRect">
            <a:avLst>
              <a:gd name="adj" fmla="val 11429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43229"/>
                </a:solidFill>
              </a:defRPr>
            </a:pPr>
            <a:r>
              <a:rPr sz="1800" b="1">
                <a:solidFill>
                  <a:srgbClr val="243229"/>
                </a:solidFill>
              </a:rPr>
              <a:t>Ideas, criteria and responsible choices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A9BA375-E43C-4225-8CF8-834E8EF2F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686300"/>
            <a:ext cx="9334500" cy="110490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174936"/>
          </a:solidFill>
          <a:ln xmlns:a="http://schemas.openxmlformats.org/drawingml/2006/main" w="19050">
            <a:solidFill>
              <a:srgbClr val="174936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8890E5D-6B01-4C73-A1E7-BF5B3E9D8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4895850"/>
            <a:ext cx="2190750" cy="266700"/>
          </a:xfrm>
          <a:prstGeom xmlns:a="http://schemas.openxmlformats.org/drawingml/2006/main" prst="roundRect">
            <a:avLst>
              <a:gd name="adj" fmla="val 42857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E6AE35"/>
                </a:solidFill>
              </a:defRPr>
            </a:pPr>
            <a:r>
              <a:rPr sz="1200" b="1">
                <a:solidFill>
                  <a:srgbClr val="E6AE35"/>
                </a:solidFill>
              </a:rPr>
              <a:t>RETRIEVAL WARM-UP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3BFE558-B09D-45C6-894B-2BE80244E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5219700"/>
            <a:ext cx="8572500" cy="419100"/>
          </a:xfrm>
          <a:prstGeom xmlns:a="http://schemas.openxmlformats.org/drawingml/2006/main" prst="roundRect">
            <a:avLst>
              <a:gd name="adj" fmla="val 27273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FFFFF"/>
                </a:solidFill>
              </a:defRPr>
            </a:pPr>
            <a:r>
              <a:rPr sz="1725" b="1">
                <a:solidFill>
                  <a:srgbClr val="FFFFFF"/>
                </a:solidFill>
              </a:rPr>
              <a:t>What do you already know—and which idea have you seen in a kitchen, food choice or design task?</a:t>
            </a:r>
          </a:p>
        </p:txBody>
      </p:sp>
    </p:spTree>
    <p:extLst>
      <p:ext uri="{BB962C8B-B14F-4D97-AF65-F5344CB8AC3E}">
        <p14:creationId xmlns:p14="http://schemas.microsoft.com/office/powerpoint/2010/main" val="122589761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A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B53B156-5AD3-4B01-81BC-E3C6ADB86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493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D775E2D-7EFE-4278-A1EE-9C4E8DDC8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5715000" cy="2286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D6D63"/>
                </a:solidFill>
              </a:defRPr>
            </a:pPr>
            <a:r>
              <a:rPr sz="1050" b="1">
                <a:solidFill>
                  <a:srgbClr val="5D6D63"/>
                </a:solidFill>
              </a:rPr>
              <a:t>MODULE 08 · YEAR 8 FOOD TECHNOLOGY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710B532-EE5D-46AC-B471-AE9940BEE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552450" cy="2286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C9493E"/>
                </a:solidFill>
              </a:defRPr>
            </a:pPr>
            <a:r>
              <a:rPr sz="1050" b="1">
                <a:solidFill>
                  <a:srgbClr val="C9493E"/>
                </a:solidFill>
              </a:rPr>
              <a:t>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87888DD-52F5-462F-972C-6A5CA38CC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8572500" cy="285750"/>
          </a:xfrm>
          <a:prstGeom xmlns:a="http://schemas.openxmlformats.org/drawingml/2006/main" prst="roundRect">
            <a:avLst>
              <a:gd name="adj" fmla="val 4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C9493E"/>
                </a:solidFill>
              </a:defRPr>
            </a:pPr>
            <a:r>
              <a:rPr sz="1200" b="1">
                <a:solidFill>
                  <a:srgbClr val="C9493E"/>
                </a:solidFill>
              </a:rPr>
              <a:t>8.1 · USER NEEDS AND CONSTRAINTS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3D021F6-B2CB-490C-94AC-EB4C3ED39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81075"/>
            <a:ext cx="6238875" cy="619125"/>
          </a:xfrm>
          <a:prstGeom xmlns:a="http://schemas.openxmlformats.org/drawingml/2006/main" prst="roundRect">
            <a:avLst>
              <a:gd name="adj" fmla="val 18462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74936"/>
                </a:solidFill>
              </a:defRPr>
            </a:pPr>
            <a:r>
              <a:rPr sz="3000" b="1">
                <a:solidFill>
                  <a:srgbClr val="174936"/>
                </a:solidFill>
              </a:rPr>
              <a:t>User needs and constraints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4C5520B-12C3-46F9-9614-0F9DB6641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57350"/>
            <a:ext cx="5953125" cy="628650"/>
          </a:xfrm>
          <a:prstGeom xmlns:a="http://schemas.openxmlformats.org/drawingml/2006/main" prst="roundRect">
            <a:avLst>
              <a:gd name="adj" fmla="val 18182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5D6D63"/>
                </a:solidFill>
              </a:defRPr>
            </a:pPr>
            <a:r>
              <a:rPr sz="1575" b="1">
                <a:solidFill>
                  <a:srgbClr val="5D6D63"/>
                </a:solidFill>
              </a:rPr>
              <a:t>Build students capacity to identify a design brief, gather reliable user information and confirm constraints before planning a party menu.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500EC75-4C6F-43FB-A597-74BAC958F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590800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493E"/>
          </a:solidFill>
          <a:ln xmlns:a="http://schemas.openxmlformats.org/drawingml/2006/main" w="19050">
            <a:solidFill>
              <a:srgbClr val="C9493E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6E674C8-C967-4F29-B03B-EB7F60677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400300"/>
            <a:ext cx="5381625" cy="800100"/>
          </a:xfrm>
          <a:prstGeom xmlns:a="http://schemas.openxmlformats.org/drawingml/2006/main" prst="roundRect">
            <a:avLst>
              <a:gd name="adj" fmla="val 14286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19050" rIns="0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43229"/>
                </a:solidFill>
              </a:defRPr>
            </a:pPr>
            <a:r>
              <a:rPr sz="1650" b="0">
                <a:solidFill>
                  <a:srgbClr val="243229"/>
                </a:solidFill>
              </a:rPr>
              <a:t>A design brief explains the user, need and purpose of a design problem.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D53ACD5-6CEA-4E4D-B0A8-F73A98BC0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657600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AE35"/>
          </a:solidFill>
          <a:ln xmlns:a="http://schemas.openxmlformats.org/drawingml/2006/main" w="19050">
            <a:solidFill>
              <a:srgbClr val="E6AE35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C68A7EA-F563-4EB1-8479-501F10377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467100"/>
            <a:ext cx="5381625" cy="800100"/>
          </a:xfrm>
          <a:prstGeom xmlns:a="http://schemas.openxmlformats.org/drawingml/2006/main" prst="roundRect">
            <a:avLst>
              <a:gd name="adj" fmla="val 14286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19050" rIns="0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43229"/>
                </a:solidFill>
              </a:defRPr>
            </a:pPr>
            <a:r>
              <a:rPr sz="1650" b="0">
                <a:solidFill>
                  <a:srgbClr val="243229"/>
                </a:solidFill>
              </a:rPr>
              <a:t>Success criteria describe what the finished solution should achieve and should be based on confirmed information.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48C77C9-7AA6-4987-B4EC-A6D66AA08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24400"/>
            <a:ext cx="5953125" cy="1352550"/>
          </a:xfrm>
          <a:prstGeom xmlns:a="http://schemas.openxmlformats.org/drawingml/2006/main" prst="roundRect">
            <a:avLst>
              <a:gd name="adj" fmla="val 11268"/>
            </a:avLst>
          </a:prstGeom>
          <a:solidFill xmlns:a="http://schemas.openxmlformats.org/drawingml/2006/main">
            <a:srgbClr val="DCEEE2"/>
          </a:solidFill>
          <a:ln xmlns:a="http://schemas.openxmlformats.org/drawingml/2006/main" w="19050">
            <a:solidFill>
              <a:srgbClr val="D1DDD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99CD63A-E8B2-4456-A255-03E96F73F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943475"/>
            <a:ext cx="1619250" cy="2286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C9493E"/>
                </a:solidFill>
              </a:defRPr>
            </a:pPr>
            <a:r>
              <a:rPr sz="1125" b="1">
                <a:solidFill>
                  <a:srgbClr val="C9493E"/>
                </a:solidFill>
              </a:rPr>
              <a:t>USE THE IDEA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6872462-7836-49A6-ABFF-6A102A14C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238750"/>
            <a:ext cx="5391150" cy="685800"/>
          </a:xfrm>
          <a:prstGeom xmlns:a="http://schemas.openxmlformats.org/drawingml/2006/main" prst="roundRect">
            <a:avLst>
              <a:gd name="adj" fmla="val 16667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4936"/>
                </a:solidFill>
              </a:defRPr>
            </a:pPr>
            <a:r>
              <a:rPr sz="1350" b="1">
                <a:solidFill>
                  <a:srgbClr val="174936"/>
                </a:solidFill>
              </a:rPr>
              <a:t>Before your Food for Purpose party practical, make a short planning record for your team.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D28CF97-8027-4A3F-B353-9C871BBCC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3000375"/>
            <a:ext cx="552450" cy="400050"/>
          </a:xfrm>
          <a:prstGeom xmlns:a="http://schemas.openxmlformats.org/drawingml/2006/main" prst="roundRect">
            <a:avLst>
              <a:gd name="adj" fmla="val 28571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C9493E"/>
                </a:solidFill>
              </a:defRPr>
            </a:pPr>
            <a:r>
              <a:rPr sz="2550" b="1">
                <a:solidFill>
                  <a:srgbClr val="C9493E"/>
                </a:solidFill>
              </a:rPr>
              <a:t>↓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0F14F91-496B-4751-9B37-B672F6D48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4010025"/>
            <a:ext cx="552450" cy="400050"/>
          </a:xfrm>
          <a:prstGeom xmlns:a="http://schemas.openxmlformats.org/drawingml/2006/main" prst="roundRect">
            <a:avLst>
              <a:gd name="adj" fmla="val 28571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C9493E"/>
                </a:solidFill>
              </a:defRPr>
            </a:pPr>
            <a:r>
              <a:rPr sz="2550" b="1">
                <a:solidFill>
                  <a:srgbClr val="C9493E"/>
                </a:solidFill>
              </a:rPr>
              <a:t>↓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65D8EA7-D13D-42CA-A2D5-EB1183E23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2209800"/>
            <a:ext cx="367665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C9493E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B7AC09E-80C3-4128-83CB-73B9D8706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2381250"/>
            <a:ext cx="400050" cy="400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9493E"/>
          </a:solidFill>
          <a:ln xmlns:a="http://schemas.openxmlformats.org/drawingml/2006/main" w="9525">
            <a:solidFill>
              <a:srgbClr val="C9493E"/>
            </a:solidFill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3F19751-8FB6-43E5-9157-C335D8EAF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352675"/>
            <a:ext cx="3048000" cy="476250"/>
          </a:xfrm>
          <a:prstGeom xmlns:a="http://schemas.openxmlformats.org/drawingml/2006/main" prst="roundRect">
            <a:avLst>
              <a:gd name="adj" fmla="val 24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43229"/>
                </a:solidFill>
              </a:defRPr>
            </a:pPr>
            <a:r>
              <a:rPr sz="1575" b="1">
                <a:solidFill>
                  <a:srgbClr val="243229"/>
                </a:solidFill>
              </a:rPr>
              <a:t>Understand the design brief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69790C1-E621-40A0-BD36-0ECE1B597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3219450"/>
            <a:ext cx="367665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DCEEE2"/>
          </a:solidFill>
          <a:ln xmlns:a="http://schemas.openxmlformats.org/drawingml/2006/main" w="19050">
            <a:solidFill>
              <a:srgbClr val="C9493E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544143C-3AEF-4B0F-8479-8DAA3E794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3390900"/>
            <a:ext cx="400050" cy="400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9493E"/>
          </a:solidFill>
          <a:ln xmlns:a="http://schemas.openxmlformats.org/drawingml/2006/main" w="9525">
            <a:solidFill>
              <a:srgbClr val="C9493E"/>
            </a:solidFill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BD1F486-5534-48EE-8C6D-401D71751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3362325"/>
            <a:ext cx="3048000" cy="476250"/>
          </a:xfrm>
          <a:prstGeom xmlns:a="http://schemas.openxmlformats.org/drawingml/2006/main" prst="roundRect">
            <a:avLst>
              <a:gd name="adj" fmla="val 24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43229"/>
                </a:solidFill>
              </a:defRPr>
            </a:pPr>
            <a:r>
              <a:rPr sz="1575" b="1">
                <a:solidFill>
                  <a:srgbClr val="243229"/>
                </a:solidFill>
              </a:rPr>
              <a:t>Use evidence about the user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A2F7128-4E8F-43B3-A214-39F8586BE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4229100"/>
            <a:ext cx="367665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C9493E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9F23D99-7770-4E6B-9468-E13D4AA16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4400550"/>
            <a:ext cx="400050" cy="400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9493E"/>
          </a:solidFill>
          <a:ln xmlns:a="http://schemas.openxmlformats.org/drawingml/2006/main" w="9525">
            <a:solidFill>
              <a:srgbClr val="C9493E"/>
            </a:solidFill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32FE75C-8C62-4845-9582-766CF189F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4371975"/>
            <a:ext cx="3048000" cy="476250"/>
          </a:xfrm>
          <a:prstGeom xmlns:a="http://schemas.openxmlformats.org/drawingml/2006/main" prst="roundRect">
            <a:avLst>
              <a:gd name="adj" fmla="val 24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43229"/>
                </a:solidFill>
              </a:defRPr>
            </a:pPr>
            <a:r>
              <a:rPr sz="1575" b="1">
                <a:solidFill>
                  <a:srgbClr val="243229"/>
                </a:solidFill>
              </a:rPr>
              <a:t>Confirm constraints before designing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13C166F-2DD7-4BE7-B4CA-2142ADD63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5486400"/>
            <a:ext cx="4105275" cy="6096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1DDD3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6057E42-6765-449F-961B-82553F463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5610225"/>
            <a:ext cx="3781425" cy="381000"/>
          </a:xfrm>
          <a:prstGeom xmlns:a="http://schemas.openxmlformats.org/drawingml/2006/main" prst="roundRect">
            <a:avLst>
              <a:gd name="adj" fmla="val 3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4936"/>
                </a:solidFill>
              </a:defRPr>
            </a:pPr>
            <a:r>
              <a:rPr sz="1200" b="1">
                <a:solidFill>
                  <a:srgbClr val="174936"/>
                </a:solidFill>
              </a:rPr>
              <a:t>CHECK THE CLAIM: If a constraint seems likely, the team can treat it as a fact.</a:t>
            </a:r>
          </a:p>
        </p:txBody>
      </p:sp>
    </p:spTree>
    <p:extLst>
      <p:ext uri="{BB962C8B-B14F-4D97-AF65-F5344CB8AC3E}">
        <p14:creationId xmlns:p14="http://schemas.microsoft.com/office/powerpoint/2010/main" val="124104102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A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CE0318E-7B05-40A4-AD71-5639C8ADF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AE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31D475C-F307-4ADF-B7E1-B9B293E4D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5715000" cy="2286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D6D63"/>
                </a:solidFill>
              </a:defRPr>
            </a:pPr>
            <a:r>
              <a:rPr sz="1050" b="1">
                <a:solidFill>
                  <a:srgbClr val="5D6D63"/>
                </a:solidFill>
              </a:rPr>
              <a:t>MODULE 08 · YEAR 8 FOOD TECHNOLOGY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BD804E1-2110-431C-8B05-EB6419E27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552450" cy="2286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C9493E"/>
                </a:solidFill>
              </a:defRPr>
            </a:pPr>
            <a:r>
              <a:rPr sz="1050" b="1">
                <a:solidFill>
                  <a:srgbClr val="C9493E"/>
                </a:solidFill>
              </a:rPr>
              <a:t>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1296616-A0BE-45FF-8203-AFF51CC49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8572500" cy="285750"/>
          </a:xfrm>
          <a:prstGeom xmlns:a="http://schemas.openxmlformats.org/drawingml/2006/main" prst="roundRect">
            <a:avLst>
              <a:gd name="adj" fmla="val 4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E6AE35"/>
                </a:solidFill>
              </a:defRPr>
            </a:pPr>
            <a:r>
              <a:rPr sz="1200" b="1">
                <a:solidFill>
                  <a:srgbClr val="E6AE35"/>
                </a:solidFill>
              </a:rPr>
              <a:t>8.2 · MENU BALANCE AND COSTING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8CB8410-FE0A-451A-A9F7-CFF7A52B8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81075"/>
            <a:ext cx="6238875" cy="619125"/>
          </a:xfrm>
          <a:prstGeom xmlns:a="http://schemas.openxmlformats.org/drawingml/2006/main" prst="roundRect">
            <a:avLst>
              <a:gd name="adj" fmla="val 18462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74936"/>
                </a:solidFill>
              </a:defRPr>
            </a:pPr>
            <a:r>
              <a:rPr sz="3000" b="1">
                <a:solidFill>
                  <a:srgbClr val="174936"/>
                </a:solidFill>
              </a:rPr>
              <a:t>Menu balance and costing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1FD6723-BB6C-482D-B220-235249D96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57350"/>
            <a:ext cx="5953125" cy="628650"/>
          </a:xfrm>
          <a:prstGeom xmlns:a="http://schemas.openxmlformats.org/drawingml/2006/main" prst="roundRect">
            <a:avLst>
              <a:gd name="adj" fmla="val 18182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5D6D63"/>
                </a:solidFill>
              </a:defRPr>
            </a:pPr>
            <a:r>
              <a:rPr sz="1575" b="1">
                <a:solidFill>
                  <a:srgbClr val="5D6D63"/>
                </a:solidFill>
              </a:rPr>
              <a:t>Develop students ability to compare menu ideas using balance, accurate ingredient costing and cost per serve.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7BB387C-6F38-44BD-9077-021F1A81D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590800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493E"/>
          </a:solidFill>
          <a:ln xmlns:a="http://schemas.openxmlformats.org/drawingml/2006/main" w="19050">
            <a:solidFill>
              <a:srgbClr val="C9493E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A775EE8-832A-4E16-BD5D-0B119DB1F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400300"/>
            <a:ext cx="5381625" cy="800100"/>
          </a:xfrm>
          <a:prstGeom xmlns:a="http://schemas.openxmlformats.org/drawingml/2006/main" prst="roundRect">
            <a:avLst>
              <a:gd name="adj" fmla="val 14286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19050" rIns="0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43229"/>
                </a:solidFill>
              </a:defRPr>
            </a:pPr>
            <a:r>
              <a:rPr sz="1650" b="0">
                <a:solidFill>
                  <a:srgbClr val="243229"/>
                </a:solidFill>
              </a:rPr>
              <a:t>Menu balance considers flavour, texture, colour, temperature, nutrition, portion and user appeal.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809300C-DE16-41E5-8F35-543FD9826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657600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AE35"/>
          </a:solidFill>
          <a:ln xmlns:a="http://schemas.openxmlformats.org/drawingml/2006/main" w="19050">
            <a:solidFill>
              <a:srgbClr val="E6AE35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C604D01-DDCA-44A5-8F2E-8F66531A6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467100"/>
            <a:ext cx="5381625" cy="800100"/>
          </a:xfrm>
          <a:prstGeom xmlns:a="http://schemas.openxmlformats.org/drawingml/2006/main" prst="roundRect">
            <a:avLst>
              <a:gd name="adj" fmla="val 14286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19050" rIns="0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43229"/>
                </a:solidFill>
              </a:defRPr>
            </a:pPr>
            <a:r>
              <a:rPr sz="1650" b="0">
                <a:solidFill>
                  <a:srgbClr val="243229"/>
                </a:solidFill>
              </a:rPr>
              <a:t>Ingredient costing should use compatible units and the cost of the quantity actually used.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556D54C-19BC-4FF8-AD26-C282FA79B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24400"/>
            <a:ext cx="5953125" cy="1352550"/>
          </a:xfrm>
          <a:prstGeom xmlns:a="http://schemas.openxmlformats.org/drawingml/2006/main" prst="roundRect">
            <a:avLst>
              <a:gd name="adj" fmla="val 11268"/>
            </a:avLst>
          </a:prstGeom>
          <a:solidFill xmlns:a="http://schemas.openxmlformats.org/drawingml/2006/main">
            <a:srgbClr val="DCEEE2"/>
          </a:solidFill>
          <a:ln xmlns:a="http://schemas.openxmlformats.org/drawingml/2006/main" w="19050">
            <a:solidFill>
              <a:srgbClr val="D1DDD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C28B1C0-79B2-40F5-B434-7FD944B1D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943475"/>
            <a:ext cx="1619250" cy="2286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E6AE35"/>
                </a:solidFill>
              </a:defRPr>
            </a:pPr>
            <a:r>
              <a:rPr sz="1125" b="1">
                <a:solidFill>
                  <a:srgbClr val="E6AE35"/>
                </a:solidFill>
              </a:rPr>
              <a:t>USE THE IDEA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A069ED8-BD85-43FD-8901-E7FF9EC40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238750"/>
            <a:ext cx="5391150" cy="685800"/>
          </a:xfrm>
          <a:prstGeom xmlns:a="http://schemas.openxmlformats.org/drawingml/2006/main" prst="roundRect">
            <a:avLst>
              <a:gd name="adj" fmla="val 16667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4936"/>
                </a:solidFill>
              </a:defRPr>
            </a:pPr>
            <a:r>
              <a:rPr sz="1350" b="1">
                <a:solidFill>
                  <a:srgbClr val="174936"/>
                </a:solidFill>
              </a:rPr>
              <a:t>When planning your Food for Purpose party menu, make a simple comparison of possible combinations.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6DB9BDF-592C-4544-BDE3-F875101C0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2381250"/>
            <a:ext cx="1257300" cy="2533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E6AE35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918D870-AF22-474B-9D70-D4BFF1054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2590800"/>
            <a:ext cx="457200" cy="457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6AE35"/>
          </a:solidFill>
          <a:ln xmlns:a="http://schemas.openxmlformats.org/drawingml/2006/main" w="9525">
            <a:solidFill>
              <a:srgbClr val="E6AE35"/>
            </a:solidFill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69E25C6-1107-4023-8B7A-75A5509FE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75" y="3238500"/>
            <a:ext cx="1162050" cy="1266825"/>
          </a:xfrm>
          <a:prstGeom xmlns:a="http://schemas.openxmlformats.org/drawingml/2006/main" prst="roundRect">
            <a:avLst>
              <a:gd name="adj" fmla="val 9836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38100" rIns="28575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243229"/>
                </a:solidFill>
              </a:defRPr>
            </a:pPr>
            <a:r>
              <a:rPr sz="1275" b="1">
                <a:solidFill>
                  <a:srgbClr val="243229"/>
                </a:solidFill>
              </a:rPr>
              <a:t>Build balance across the menu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1B79677-A898-455D-9A54-093813E89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381250"/>
            <a:ext cx="1257300" cy="2533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DCEEE2"/>
          </a:solidFill>
          <a:ln xmlns:a="http://schemas.openxmlformats.org/drawingml/2006/main" w="19050">
            <a:solidFill>
              <a:srgbClr val="E6AE35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0CA2496-E232-45AC-8AFB-C93CA8FC4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590800"/>
            <a:ext cx="457200" cy="457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6AE35"/>
          </a:solidFill>
          <a:ln xmlns:a="http://schemas.openxmlformats.org/drawingml/2006/main" w="9525">
            <a:solidFill>
              <a:srgbClr val="E6AE35"/>
            </a:solidFill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4A3BBF6-72B8-42D5-B1C9-DFE20630C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2975" y="3238500"/>
            <a:ext cx="1162050" cy="1266825"/>
          </a:xfrm>
          <a:prstGeom xmlns:a="http://schemas.openxmlformats.org/drawingml/2006/main" prst="roundRect">
            <a:avLst>
              <a:gd name="adj" fmla="val 9836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38100" rIns="28575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243229"/>
                </a:solidFill>
              </a:defRPr>
            </a:pPr>
            <a:r>
              <a:rPr sz="1275" b="1">
                <a:solidFill>
                  <a:srgbClr val="243229"/>
                </a:solidFill>
              </a:rPr>
              <a:t>Calculate ingredient costs carefully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420E178-BA66-4FDA-9D09-A64D38586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2381250"/>
            <a:ext cx="1257300" cy="2533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C9493E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BBA596C-9AD7-4032-8BC8-77E96C184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5100" y="2590800"/>
            <a:ext cx="457200" cy="457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9493E"/>
          </a:solidFill>
          <a:ln xmlns:a="http://schemas.openxmlformats.org/drawingml/2006/main" w="9525">
            <a:solidFill>
              <a:srgbClr val="C9493E"/>
            </a:solidFill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AC18769-53B3-42FE-8AC4-9B8FABE48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72675" y="3238500"/>
            <a:ext cx="1162050" cy="1266825"/>
          </a:xfrm>
          <a:prstGeom xmlns:a="http://schemas.openxmlformats.org/drawingml/2006/main" prst="roundRect">
            <a:avLst>
              <a:gd name="adj" fmla="val 9836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38100" rIns="28575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243229"/>
                </a:solidFill>
              </a:defRPr>
            </a:pPr>
            <a:r>
              <a:rPr sz="1275" b="1">
                <a:solidFill>
                  <a:srgbClr val="243229"/>
                </a:solidFill>
              </a:rPr>
              <a:t>Find and compare cost per serve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D80B8BF-DAFE-48B8-8C96-3261E0169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5486400"/>
            <a:ext cx="4105275" cy="6096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1DDD3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17F07E5-AF3B-4E89-97C5-FFFA26C4E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5610225"/>
            <a:ext cx="3781425" cy="381000"/>
          </a:xfrm>
          <a:prstGeom xmlns:a="http://schemas.openxmlformats.org/drawingml/2006/main" prst="roundRect">
            <a:avLst>
              <a:gd name="adj" fmla="val 3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4936"/>
                </a:solidFill>
              </a:defRPr>
            </a:pPr>
            <a:r>
              <a:rPr sz="1200" b="1">
                <a:solidFill>
                  <a:srgbClr val="174936"/>
                </a:solidFill>
              </a:rPr>
              <a:t>CHECK THE CLAIM: The whole package price should always be counted as the recipe ingredient cost.</a:t>
            </a:r>
          </a:p>
        </p:txBody>
      </p:sp>
    </p:spTree>
    <p:extLst>
      <p:ext uri="{BB962C8B-B14F-4D97-AF65-F5344CB8AC3E}">
        <p14:creationId xmlns:p14="http://schemas.microsoft.com/office/powerpoint/2010/main" val="51888057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A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97E6F71-D804-4554-A6F3-2D907AC21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D395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128AE2E-07C8-48B4-B5BC-8190DDDD7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5715000" cy="2286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D6D63"/>
                </a:solidFill>
              </a:defRPr>
            </a:pPr>
            <a:r>
              <a:rPr sz="1050" b="1">
                <a:solidFill>
                  <a:srgbClr val="5D6D63"/>
                </a:solidFill>
              </a:rPr>
              <a:t>MODULE 08 · YEAR 8 FOOD TECHNOLOGY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DB85B09-A010-484E-8B15-53F542D7E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552450" cy="2286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C9493E"/>
                </a:solidFill>
              </a:defRPr>
            </a:pPr>
            <a:r>
              <a:rPr sz="1050" b="1">
                <a:solidFill>
                  <a:srgbClr val="C9493E"/>
                </a:solidFill>
              </a:rPr>
              <a:t>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7A7A988-44A5-4B07-A49B-80841E916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8572500" cy="285750"/>
          </a:xfrm>
          <a:prstGeom xmlns:a="http://schemas.openxmlformats.org/drawingml/2006/main" prst="roundRect">
            <a:avLst>
              <a:gd name="adj" fmla="val 4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8D395E"/>
                </a:solidFill>
              </a:defRPr>
            </a:pPr>
            <a:r>
              <a:rPr sz="1200" b="1">
                <a:solidFill>
                  <a:srgbClr val="8D395E"/>
                </a:solidFill>
              </a:rPr>
              <a:t>8.3 · IDEAS, CRITERIA AND RESPONSIBLE CHOICES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B614AC8-62FD-419C-9D45-B223138AD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81075"/>
            <a:ext cx="6238875" cy="742950"/>
          </a:xfrm>
          <a:prstGeom xmlns:a="http://schemas.openxmlformats.org/drawingml/2006/main" prst="roundRect">
            <a:avLst>
              <a:gd name="adj" fmla="val 15385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74936"/>
                </a:solidFill>
              </a:defRPr>
            </a:pPr>
            <a:r>
              <a:rPr sz="2400" b="1">
                <a:solidFill>
                  <a:srgbClr val="174936"/>
                </a:solidFill>
              </a:rPr>
              <a:t>Ideas, criteria and responsible choices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C9BE8C5-585F-46A9-979A-16E9255EB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5953125" cy="495300"/>
          </a:xfrm>
          <a:prstGeom xmlns:a="http://schemas.openxmlformats.org/drawingml/2006/main" prst="roundRect">
            <a:avLst>
              <a:gd name="adj" fmla="val 23077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5D6D63"/>
                </a:solidFill>
              </a:defRPr>
            </a:pPr>
            <a:r>
              <a:rPr sz="1425" b="1">
                <a:solidFill>
                  <a:srgbClr val="5D6D63"/>
                </a:solidFill>
              </a:rPr>
              <a:t>Develop students ability to generate alternatives, distinguish criteria from constraints and justify responsible food design decisions using confirmed evidence.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29A84CF-3947-41E5-BA5D-81E9654BA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590800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493E"/>
          </a:solidFill>
          <a:ln xmlns:a="http://schemas.openxmlformats.org/drawingml/2006/main" w="19050">
            <a:solidFill>
              <a:srgbClr val="C9493E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96E0777-1034-433A-8F56-2806A4438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400300"/>
            <a:ext cx="5381625" cy="800100"/>
          </a:xfrm>
          <a:prstGeom xmlns:a="http://schemas.openxmlformats.org/drawingml/2006/main" prst="roundRect">
            <a:avLst>
              <a:gd name="adj" fmla="val 14286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19050" rIns="0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43229"/>
                </a:solidFill>
              </a:defRPr>
            </a:pPr>
            <a:r>
              <a:rPr sz="1650" b="0">
                <a:solidFill>
                  <a:srgbClr val="243229"/>
                </a:solidFill>
              </a:rPr>
              <a:t>Generate several realistic ideas before choosing a preferred solution.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091E782-2813-4239-990E-130FCB9FF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657600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AE35"/>
          </a:solidFill>
          <a:ln xmlns:a="http://schemas.openxmlformats.org/drawingml/2006/main" w="19050">
            <a:solidFill>
              <a:srgbClr val="E6AE35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B25DD1B-C2EA-4974-8405-F7E530FCE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467100"/>
            <a:ext cx="5381625" cy="800100"/>
          </a:xfrm>
          <a:prstGeom xmlns:a="http://schemas.openxmlformats.org/drawingml/2006/main" prst="roundRect">
            <a:avLst>
              <a:gd name="adj" fmla="val 14286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19050" rIns="0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43229"/>
                </a:solidFill>
              </a:defRPr>
            </a:pPr>
            <a:r>
              <a:rPr sz="1650" b="0">
                <a:solidFill>
                  <a:srgbClr val="243229"/>
                </a:solidFill>
              </a:rPr>
              <a:t>Criteria judge how well an idea meets its purpose, while constraints set limits or conditions.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91AC13C-5FA2-43C0-A408-E4B9EB2ED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24400"/>
            <a:ext cx="5953125" cy="1352550"/>
          </a:xfrm>
          <a:prstGeom xmlns:a="http://schemas.openxmlformats.org/drawingml/2006/main" prst="roundRect">
            <a:avLst>
              <a:gd name="adj" fmla="val 11268"/>
            </a:avLst>
          </a:prstGeom>
          <a:solidFill xmlns:a="http://schemas.openxmlformats.org/drawingml/2006/main">
            <a:srgbClr val="DCEEE2"/>
          </a:solidFill>
          <a:ln xmlns:a="http://schemas.openxmlformats.org/drawingml/2006/main" w="19050">
            <a:solidFill>
              <a:srgbClr val="D1DDD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CE03889-D747-4C1E-A36A-918B7C430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943475"/>
            <a:ext cx="1619250" cy="2286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8D395E"/>
                </a:solidFill>
              </a:defRPr>
            </a:pPr>
            <a:r>
              <a:rPr sz="1125" b="1">
                <a:solidFill>
                  <a:srgbClr val="8D395E"/>
                </a:solidFill>
              </a:rPr>
              <a:t>USE THE IDEA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AE71D43-C8DB-4360-ABF7-2CFB0745B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238750"/>
            <a:ext cx="5391150" cy="685800"/>
          </a:xfrm>
          <a:prstGeom xmlns:a="http://schemas.openxmlformats.org/drawingml/2006/main" prst="roundRect">
            <a:avLst>
              <a:gd name="adj" fmla="val 16667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4936"/>
                </a:solidFill>
              </a:defRPr>
            </a:pPr>
            <a:r>
              <a:rPr sz="1350" b="1">
                <a:solidFill>
                  <a:srgbClr val="174936"/>
                </a:solidFill>
              </a:rPr>
              <a:t>For your Food for Purpose party task, develop several possible food ideas before making a final selection.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CBC742E-1014-437C-851D-DA8CB59E1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48775" y="3390900"/>
            <a:ext cx="0" cy="15430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8D395E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50BE0E2-3A51-4B83-94E0-18F83BAFA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4933950"/>
            <a:ext cx="11620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8D395E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1098207-FA72-4EA0-993E-ADA2AF0B6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3925" y="2324100"/>
            <a:ext cx="1409700" cy="1066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EEE2"/>
          </a:solidFill>
          <a:ln xmlns:a="http://schemas.openxmlformats.org/drawingml/2006/main" w="19050">
            <a:solidFill>
              <a:srgbClr val="8D395E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478560D-3350-488B-BD68-BBD99BF7F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58225" y="2476500"/>
            <a:ext cx="1181100" cy="762000"/>
          </a:xfrm>
          <a:prstGeom xmlns:a="http://schemas.openxmlformats.org/drawingml/2006/main" prst="roundRect">
            <a:avLst>
              <a:gd name="adj" fmla="val 15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43229"/>
                </a:solidFill>
              </a:defRPr>
            </a:pPr>
            <a:r>
              <a:rPr sz="1350" b="1">
                <a:solidFill>
                  <a:srgbClr val="243229"/>
                </a:solidFill>
              </a:rPr>
              <a:t>Generate several ideas before deciding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D5CB99D-56E2-4C01-A340-56544675D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4400550"/>
            <a:ext cx="1409700" cy="1066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E6AE35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F540DD9-5540-48AF-91CE-105088118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4552950"/>
            <a:ext cx="1181100" cy="762000"/>
          </a:xfrm>
          <a:prstGeom xmlns:a="http://schemas.openxmlformats.org/drawingml/2006/main" prst="roundRect">
            <a:avLst>
              <a:gd name="adj" fmla="val 15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43229"/>
                </a:solidFill>
              </a:defRPr>
            </a:pPr>
            <a:r>
              <a:rPr sz="1350" b="1">
                <a:solidFill>
                  <a:srgbClr val="243229"/>
                </a:solidFill>
              </a:rPr>
              <a:t>Separate criteria from constraints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C9062B9-BE20-4CBE-867F-9866D8428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4400550"/>
            <a:ext cx="1409700" cy="1066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C9493E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6DB70D3-0FE4-40E2-A37E-3477EAAAB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4552950"/>
            <a:ext cx="1181100" cy="762000"/>
          </a:xfrm>
          <a:prstGeom xmlns:a="http://schemas.openxmlformats.org/drawingml/2006/main" prst="roundRect">
            <a:avLst>
              <a:gd name="adj" fmla="val 15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43229"/>
                </a:solidFill>
              </a:defRPr>
            </a:pPr>
            <a:r>
              <a:rPr sz="1350" b="1">
                <a:solidFill>
                  <a:srgbClr val="243229"/>
                </a:solidFill>
              </a:rPr>
              <a:t>Use a decision matrix as a…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07CC47A-687F-4149-B6CE-88015ED52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5486400"/>
            <a:ext cx="4105275" cy="6096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1DDD3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5FCD558-0666-4EA5-BA60-11A20723A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5610225"/>
            <a:ext cx="3781425" cy="381000"/>
          </a:xfrm>
          <a:prstGeom xmlns:a="http://schemas.openxmlformats.org/drawingml/2006/main" prst="roundRect">
            <a:avLst>
              <a:gd name="adj" fmla="val 3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4936"/>
                </a:solidFill>
              </a:defRPr>
            </a:pPr>
            <a:r>
              <a:rPr sz="1200" b="1">
                <a:solidFill>
                  <a:srgbClr val="174936"/>
                </a:solidFill>
              </a:rPr>
              <a:t>CHECK THE CLAIM: The first suitable idea should be selected immediately.</a:t>
            </a:r>
          </a:p>
        </p:txBody>
      </p:sp>
    </p:spTree>
    <p:extLst>
      <p:ext uri="{BB962C8B-B14F-4D97-AF65-F5344CB8AC3E}">
        <p14:creationId xmlns:p14="http://schemas.microsoft.com/office/powerpoint/2010/main" val="165922109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17493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D3D67B7-EF89-45AC-8EC5-90E659969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AE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F366282-D01B-49BE-9C39-CBE87FAAB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5715000" cy="2286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D6D63"/>
                </a:solidFill>
              </a:defRPr>
            </a:pPr>
            <a:r>
              <a:rPr sz="1050" b="1">
                <a:solidFill>
                  <a:srgbClr val="5D6D63"/>
                </a:solidFill>
              </a:rPr>
              <a:t>MODULE 08 · YEAR 8 FOOD TECHNOLOGY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824C937-0427-40E7-8409-2853461EF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552450" cy="2286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C9493E"/>
                </a:solidFill>
              </a:defRPr>
            </a:pPr>
            <a:r>
              <a:rPr sz="1050" b="1">
                <a:solidFill>
                  <a:srgbClr val="C9493E"/>
                </a:solidFill>
              </a:rPr>
              <a:t>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E6986D2-BC3F-449B-959D-39129623B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7620000" cy="609600"/>
          </a:xfrm>
          <a:prstGeom xmlns:a="http://schemas.openxmlformats.org/drawingml/2006/main" prst="roundRect">
            <a:avLst>
              <a:gd name="adj" fmla="val 1875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FFFFFF"/>
                </a:solidFill>
              </a:defRPr>
            </a:pPr>
            <a:r>
              <a:rPr sz="3300" b="1">
                <a:solidFill>
                  <a:srgbClr val="FFFFFF"/>
                </a:solidFill>
              </a:rPr>
              <a:t>Stop. Think. Explain.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087EDEB-A3A3-4185-A66F-ECC1EF851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85900"/>
            <a:ext cx="8572500" cy="323850"/>
          </a:xfrm>
          <a:prstGeom xmlns:a="http://schemas.openxmlformats.org/drawingml/2006/main" prst="roundRect">
            <a:avLst>
              <a:gd name="adj" fmla="val 35294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D8E7DD"/>
                </a:solidFill>
              </a:defRPr>
            </a:pPr>
            <a:r>
              <a:rPr sz="1575" b="0">
                <a:solidFill>
                  <a:srgbClr val="D8E7DD"/>
                </a:solidFill>
              </a:rPr>
              <a:t>Answer silently first. Then compare reasoning—not just answers.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F7215AE-ABA2-4254-9134-670F00622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362200"/>
            <a:ext cx="514350" cy="514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74936"/>
                </a:solidFill>
              </a:defRPr>
            </a:pPr>
            <a:r>
              <a:rPr sz="1725" b="1">
                <a:solidFill>
                  <a:srgbClr val="174936"/>
                </a:solidFill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88E4775-4296-4DF5-8793-CFA409554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190750"/>
            <a:ext cx="9791700" cy="8382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214F3D"/>
          </a:solidFill>
          <a:ln xmlns:a="http://schemas.openxmlformats.org/drawingml/2006/main" w="9525">
            <a:solidFill>
              <a:srgbClr val="3D7259"/>
            </a:solidFill>
            <a:prstDash val="solid"/>
          </a:ln>
        </p:spPr>
        <p:txBody>
          <a:bodyPr xmlns:a="http://schemas.openxmlformats.org/drawingml/2006/main" lIns="171450" tIns="76200" rIns="171450" bIns="7620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FFFFF"/>
                </a:solidFill>
              </a:defRPr>
            </a:pPr>
            <a:r>
              <a:rPr sz="1725" b="1">
                <a:solidFill>
                  <a:srgbClr val="FFFFFF"/>
                </a:solidFill>
              </a:rPr>
              <a:t>Correct or improve this claim: “If a constraint seems likely, the team can treat it as a fact.”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ED465EC-C56B-4730-B7D2-7D3FA9310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05200"/>
            <a:ext cx="514350" cy="514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6AE35"/>
          </a:solidFill>
          <a:ln xmlns:a="http://schemas.openxmlformats.org/drawingml/2006/main" w="9525">
            <a:solidFill>
              <a:srgbClr val="E6AE35"/>
            </a:solidFill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74936"/>
                </a:solidFill>
              </a:defRPr>
            </a:pPr>
            <a:r>
              <a:rPr sz="1725" b="1">
                <a:solidFill>
                  <a:srgbClr val="174936"/>
                </a:solidFill>
              </a:rPr>
              <a:t>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D73D64F-023D-4F69-9D94-04FA3E94F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333750"/>
            <a:ext cx="9791700" cy="8382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214F3D"/>
          </a:solidFill>
          <a:ln xmlns:a="http://schemas.openxmlformats.org/drawingml/2006/main" w="9525">
            <a:solidFill>
              <a:srgbClr val="3D7259"/>
            </a:solidFill>
            <a:prstDash val="solid"/>
          </a:ln>
        </p:spPr>
        <p:txBody>
          <a:bodyPr xmlns:a="http://schemas.openxmlformats.org/drawingml/2006/main" lIns="171450" tIns="76200" rIns="171450" bIns="7620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FFFFF"/>
                </a:solidFill>
              </a:defRPr>
            </a:pPr>
            <a:r>
              <a:rPr sz="1725" b="1">
                <a:solidFill>
                  <a:srgbClr val="FFFFFF"/>
                </a:solidFill>
              </a:rPr>
              <a:t>Correct or improve this claim: “The whole package price should always be counted as the recipe ingredient cost.”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2EEDA94-7BA1-48B4-9893-950A40CB4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648200"/>
            <a:ext cx="514350" cy="514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74936"/>
                </a:solidFill>
              </a:defRPr>
            </a:pPr>
            <a:r>
              <a:rPr sz="1725" b="1">
                <a:solidFill>
                  <a:srgbClr val="174936"/>
                </a:solidFill>
              </a:rPr>
              <a:t>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C588F33-631F-4233-A1B0-B61A15A73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476750"/>
            <a:ext cx="9791700" cy="8382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214F3D"/>
          </a:solidFill>
          <a:ln xmlns:a="http://schemas.openxmlformats.org/drawingml/2006/main" w="9525">
            <a:solidFill>
              <a:srgbClr val="3D7259"/>
            </a:solidFill>
            <a:prstDash val="solid"/>
          </a:ln>
        </p:spPr>
        <p:txBody>
          <a:bodyPr xmlns:a="http://schemas.openxmlformats.org/drawingml/2006/main" lIns="171450" tIns="76200" rIns="171450" bIns="7620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FFFFF"/>
                </a:solidFill>
              </a:defRPr>
            </a:pPr>
            <a:r>
              <a:rPr sz="1725" b="1">
                <a:solidFill>
                  <a:srgbClr val="FFFFFF"/>
                </a:solidFill>
              </a:rPr>
              <a:t>Correct or improve this claim: “The first suitable idea should be selected immediately.”</a:t>
            </a:r>
          </a:p>
        </p:txBody>
      </p:sp>
    </p:spTree>
    <p:extLst>
      <p:ext uri="{BB962C8B-B14F-4D97-AF65-F5344CB8AC3E}">
        <p14:creationId xmlns:p14="http://schemas.microsoft.com/office/powerpoint/2010/main" val="191981007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A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0384315-1E17-4744-8DA6-1EC7EDFDC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AE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0114019-2137-43DB-BB22-5CDCC0E52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5715000" cy="2286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D6D63"/>
                </a:solidFill>
              </a:defRPr>
            </a:pPr>
            <a:r>
              <a:rPr sz="1050" b="1">
                <a:solidFill>
                  <a:srgbClr val="5D6D63"/>
                </a:solidFill>
              </a:rPr>
              <a:t>MODULE 08 · YEAR 8 FOOD TECHNOLOGY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8611128-BDB2-457A-9F81-ECA536BCB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552450" cy="2286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C9493E"/>
                </a:solidFill>
              </a:defRPr>
            </a:pPr>
            <a:r>
              <a:rPr sz="1050" b="1">
                <a:solidFill>
                  <a:srgbClr val="C9493E"/>
                </a:solidFill>
              </a:rPr>
              <a:t>07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E517950-BC5B-42B7-8D6E-6982AFC29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9525000" cy="590550"/>
          </a:xfrm>
          <a:prstGeom xmlns:a="http://schemas.openxmlformats.org/drawingml/2006/main" prst="roundRect">
            <a:avLst>
              <a:gd name="adj" fmla="val 19355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74936"/>
                </a:solidFill>
              </a:defRPr>
            </a:pPr>
            <a:r>
              <a:rPr sz="3150" b="1">
                <a:solidFill>
                  <a:srgbClr val="174936"/>
                </a:solidFill>
              </a:rPr>
              <a:t>Read → Select → Explain → Check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E0D5E2B-25C4-4B8A-BDC8-4A7327530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10820400" cy="1238250"/>
          </a:xfrm>
          <a:prstGeom xmlns:a="http://schemas.openxmlformats.org/drawingml/2006/main" prst="roundRect">
            <a:avLst>
              <a:gd name="adj" fmla="val 1230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1DDD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684D25D-456A-476B-A2F2-A393DB7FF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885950"/>
            <a:ext cx="1809750" cy="2286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C9493E"/>
                </a:solidFill>
              </a:defRPr>
            </a:pPr>
            <a:r>
              <a:rPr sz="1125" b="1">
                <a:solidFill>
                  <a:srgbClr val="C9493E"/>
                </a:solidFill>
              </a:rPr>
              <a:t>THE QUESTION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A1AAD5C-DEE7-4F95-B1F8-BF7F6F93A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209800"/>
            <a:ext cx="10287000" cy="533400"/>
          </a:xfrm>
          <a:prstGeom xmlns:a="http://schemas.openxmlformats.org/drawingml/2006/main" prst="roundRect">
            <a:avLst>
              <a:gd name="adj" fmla="val 21429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4936"/>
                </a:solidFill>
              </a:defRPr>
            </a:pPr>
            <a:r>
              <a:rPr sz="1725" b="1">
                <a:solidFill>
                  <a:srgbClr val="174936"/>
                </a:solidFill>
              </a:rPr>
              <a:t>For the selected idea, identify the confirmed criteria it meets and the evidence that supports each important judgement.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88C975D-D616-4725-A8F3-AB18078C0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14700"/>
            <a:ext cx="2476500" cy="2038350"/>
          </a:xfrm>
          <a:prstGeom xmlns:a="http://schemas.openxmlformats.org/drawingml/2006/main" prst="roundRect">
            <a:avLst>
              <a:gd name="adj" fmla="val 7477"/>
            </a:avLst>
          </a:prstGeom>
          <a:solidFill xmlns:a="http://schemas.openxmlformats.org/drawingml/2006/main">
            <a:srgbClr val="174936"/>
          </a:solidFill>
          <a:ln xmlns:a="http://schemas.openxmlformats.org/drawingml/2006/main" w="19050">
            <a:solidFill>
              <a:srgbClr val="174936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ECAE896-A282-4063-9B0E-D7801B117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543300"/>
            <a:ext cx="2095500" cy="266700"/>
          </a:xfrm>
          <a:prstGeom xmlns:a="http://schemas.openxmlformats.org/drawingml/2006/main" prst="roundRect">
            <a:avLst>
              <a:gd name="adj" fmla="val 42857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1 · READ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30F966B-40B2-4A25-A23B-7DB315BB3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010025"/>
            <a:ext cx="2095500" cy="1047750"/>
          </a:xfrm>
          <a:prstGeom xmlns:a="http://schemas.openxmlformats.org/drawingml/2006/main" prst="roundRect">
            <a:avLst>
              <a:gd name="adj" fmla="val 10909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FFFFFF"/>
                </a:solidFill>
              </a:defRPr>
            </a:pPr>
            <a:r>
              <a:rPr sz="1500" b="0">
                <a:solidFill>
                  <a:srgbClr val="FFFFFF"/>
                </a:solidFill>
              </a:rPr>
              <a:t>Underline the task word and the exact context.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AAA2F2C-DF9F-443B-B219-28B3AE4C2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3314700"/>
            <a:ext cx="2476500" cy="2038350"/>
          </a:xfrm>
          <a:prstGeom xmlns:a="http://schemas.openxmlformats.org/drawingml/2006/main" prst="roundRect">
            <a:avLst>
              <a:gd name="adj" fmla="val 7477"/>
            </a:avLst>
          </a:prstGeom>
          <a:solidFill xmlns:a="http://schemas.openxmlformats.org/drawingml/2006/main">
            <a:srgbClr val="DCEEE2"/>
          </a:solidFill>
          <a:ln xmlns:a="http://schemas.openxmlformats.org/drawingml/2006/main" w="19050">
            <a:solidFill>
              <a:srgbClr val="D1DDD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326C4D0-A854-4F3A-BC09-FB7EAC6A0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3543300"/>
            <a:ext cx="2095500" cy="266700"/>
          </a:xfrm>
          <a:prstGeom xmlns:a="http://schemas.openxmlformats.org/drawingml/2006/main" prst="roundRect">
            <a:avLst>
              <a:gd name="adj" fmla="val 42857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4936"/>
                </a:solidFill>
              </a:defRPr>
            </a:pPr>
            <a:r>
              <a:rPr sz="1275" b="1">
                <a:solidFill>
                  <a:srgbClr val="174936"/>
                </a:solidFill>
              </a:rPr>
              <a:t>2 · SELECT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A3163FB-F9A8-473B-A9E4-EB1BFF2FB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4010025"/>
            <a:ext cx="2095500" cy="1047750"/>
          </a:xfrm>
          <a:prstGeom xmlns:a="http://schemas.openxmlformats.org/drawingml/2006/main" prst="roundRect">
            <a:avLst>
              <a:gd name="adj" fmla="val 10909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43229"/>
                </a:solidFill>
              </a:defRPr>
            </a:pPr>
            <a:r>
              <a:rPr sz="1500" b="0">
                <a:solidFill>
                  <a:srgbClr val="243229"/>
                </a:solidFill>
              </a:rPr>
              <a:t>Choose the theory and evidence that answer this question.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831727D-3AE9-4986-A340-13B90E29A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314700"/>
            <a:ext cx="2476500" cy="2038350"/>
          </a:xfrm>
          <a:prstGeom xmlns:a="http://schemas.openxmlformats.org/drawingml/2006/main" prst="roundRect">
            <a:avLst>
              <a:gd name="adj" fmla="val 7477"/>
            </a:avLst>
          </a:prstGeom>
          <a:solidFill xmlns:a="http://schemas.openxmlformats.org/drawingml/2006/main">
            <a:srgbClr val="E6AE35"/>
          </a:solidFill>
          <a:ln xmlns:a="http://schemas.openxmlformats.org/drawingml/2006/main" w="19050">
            <a:solidFill>
              <a:srgbClr val="E6AE35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A0A2EF4-623A-45DA-8D29-CB9045E6D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543300"/>
            <a:ext cx="2095500" cy="266700"/>
          </a:xfrm>
          <a:prstGeom xmlns:a="http://schemas.openxmlformats.org/drawingml/2006/main" prst="roundRect">
            <a:avLst>
              <a:gd name="adj" fmla="val 42857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4936"/>
                </a:solidFill>
              </a:defRPr>
            </a:pPr>
            <a:r>
              <a:rPr sz="1275" b="1">
                <a:solidFill>
                  <a:srgbClr val="174936"/>
                </a:solidFill>
              </a:rPr>
              <a:t>3 · EXPLAIN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F24864B-847E-4E2C-A736-401C6A0D0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010025"/>
            <a:ext cx="2095500" cy="1047750"/>
          </a:xfrm>
          <a:prstGeom xmlns:a="http://schemas.openxmlformats.org/drawingml/2006/main" prst="roundRect">
            <a:avLst>
              <a:gd name="adj" fmla="val 10909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43229"/>
                </a:solidFill>
              </a:defRPr>
            </a:pPr>
            <a:r>
              <a:rPr sz="1500" b="0">
                <a:solidFill>
                  <a:srgbClr val="243229"/>
                </a:solidFill>
              </a:rPr>
              <a:t>Connect the idea with because, so or therefore.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FC32B2A-7E77-43D0-A667-5D6ECB424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3314700"/>
            <a:ext cx="2476500" cy="2038350"/>
          </a:xfrm>
          <a:prstGeom xmlns:a="http://schemas.openxmlformats.org/drawingml/2006/main" prst="roundRect">
            <a:avLst>
              <a:gd name="adj" fmla="val 7477"/>
            </a:avLst>
          </a:prstGeom>
          <a:solidFill xmlns:a="http://schemas.openxmlformats.org/drawingml/2006/main">
            <a:srgbClr val="DCEEE2"/>
          </a:solidFill>
          <a:ln xmlns:a="http://schemas.openxmlformats.org/drawingml/2006/main" w="19050">
            <a:solidFill>
              <a:srgbClr val="D1DDD3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6538E2C-5110-499E-8D3A-B01E9673A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3543300"/>
            <a:ext cx="2095500" cy="266700"/>
          </a:xfrm>
          <a:prstGeom xmlns:a="http://schemas.openxmlformats.org/drawingml/2006/main" prst="roundRect">
            <a:avLst>
              <a:gd name="adj" fmla="val 42857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4 · CHECK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9F710C8-B9BA-4CFF-8E43-BE61E838D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4010025"/>
            <a:ext cx="2095500" cy="1047750"/>
          </a:xfrm>
          <a:prstGeom xmlns:a="http://schemas.openxmlformats.org/drawingml/2006/main" prst="roundRect">
            <a:avLst>
              <a:gd name="adj" fmla="val 10909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FFFFFF"/>
                </a:solidFill>
              </a:defRPr>
            </a:pPr>
            <a:r>
              <a:rPr sz="1500" b="0">
                <a:solidFill>
                  <a:srgbClr val="FFFFFF"/>
                </a:solidFill>
              </a:rPr>
              <a:t>Confirm every part is answered and every claim is specific.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BC824C9-423C-4B6F-916A-FC59D8F00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00700"/>
            <a:ext cx="9525000" cy="342900"/>
          </a:xfrm>
          <a:prstGeom xmlns:a="http://schemas.openxmlformats.org/drawingml/2006/main" prst="roundRect">
            <a:avLst>
              <a:gd name="adj" fmla="val 33333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C9493E"/>
                </a:solidFill>
              </a:defRPr>
            </a:pPr>
            <a:r>
              <a:rPr sz="1425" b="1">
                <a:solidFill>
                  <a:srgbClr val="C9493E"/>
                </a:solidFill>
              </a:rPr>
              <a:t>Save the finished response as formative learning evidence on the module page.</a:t>
            </a:r>
          </a:p>
        </p:txBody>
      </p:sp>
    </p:spTree>
    <p:extLst>
      <p:ext uri="{BB962C8B-B14F-4D97-AF65-F5344CB8AC3E}">
        <p14:creationId xmlns:p14="http://schemas.microsoft.com/office/powerpoint/2010/main" val="135012902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C9493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FBAD89C-E4F0-479D-A424-E4F3B340E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AE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6F5A7B7-FCE4-4456-AD44-AE27E0C93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5715000" cy="2286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D6D63"/>
                </a:solidFill>
              </a:defRPr>
            </a:pPr>
            <a:r>
              <a:rPr sz="1050" b="1">
                <a:solidFill>
                  <a:srgbClr val="5D6D63"/>
                </a:solidFill>
              </a:rPr>
              <a:t>MODULE 08 · YEAR 8 FOOD TECHNOLOGY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269D3A4-79AC-4D03-B01A-DEA91BF90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552450" cy="2286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C9493E"/>
                </a:solidFill>
              </a:defRPr>
            </a:pPr>
            <a:r>
              <a:rPr sz="1050" b="1">
                <a:solidFill>
                  <a:srgbClr val="C9493E"/>
                </a:solidFill>
              </a:rPr>
              <a:t>08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8952752-1B6A-4C92-B724-F26DA5D48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57250"/>
            <a:ext cx="7810500" cy="609600"/>
          </a:xfrm>
          <a:prstGeom xmlns:a="http://schemas.openxmlformats.org/drawingml/2006/main" prst="roundRect">
            <a:avLst>
              <a:gd name="adj" fmla="val 1875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FFFFFF"/>
                </a:solidFill>
              </a:defRPr>
            </a:pPr>
            <a:r>
              <a:rPr sz="3300" b="1">
                <a:solidFill>
                  <a:srgbClr val="FFFFFF"/>
                </a:solidFill>
              </a:rPr>
              <a:t>Before you pack up…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63A2B28-ABA2-4203-BDE1-8A3AB7B6A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952625"/>
            <a:ext cx="8572500" cy="62865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txBody>
          <a:bodyPr xmlns:a="http://schemas.openxmlformats.org/drawingml/2006/main" lIns="152400" tIns="76200" rIns="152400" bIns="7620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4936"/>
                </a:solidFill>
              </a:defRPr>
            </a:pPr>
            <a:r>
              <a:rPr sz="1725" b="1">
                <a:solidFill>
                  <a:srgbClr val="174936"/>
                </a:solidFill>
              </a:rPr>
              <a:t>1. One idea I can now explain is…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88E65CE-ABFE-40C6-A46C-98762EBB9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828925"/>
            <a:ext cx="8572500" cy="62865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txBody>
          <a:bodyPr xmlns:a="http://schemas.openxmlformats.org/drawingml/2006/main" lIns="152400" tIns="76200" rIns="152400" bIns="7620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4936"/>
                </a:solidFill>
              </a:defRPr>
            </a:pPr>
            <a:r>
              <a:rPr sz="1725" b="1">
                <a:solidFill>
                  <a:srgbClr val="174936"/>
                </a:solidFill>
              </a:rPr>
              <a:t>2. One practical or design decision this changes is…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A1ACEFB-F81D-4F45-A633-D0776B3C2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705225"/>
            <a:ext cx="8572500" cy="62865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txBody>
          <a:bodyPr xmlns:a="http://schemas.openxmlformats.org/drawingml/2006/main" lIns="152400" tIns="76200" rIns="152400" bIns="7620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4936"/>
                </a:solidFill>
              </a:defRPr>
            </a:pPr>
            <a:r>
              <a:rPr sz="1725" b="1">
                <a:solidFill>
                  <a:srgbClr val="174936"/>
                </a:solidFill>
              </a:rPr>
              <a:t>3. One question I still need answered is…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C9056B0-10DF-4B49-87D6-33F9E4AB1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2400300"/>
            <a:ext cx="1238250" cy="1238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AE35"/>
          </a:solidFill>
          <a:ln xmlns:a="http://schemas.openxmlformats.org/drawingml/2006/main" w="19050">
            <a:solidFill>
              <a:srgbClr val="E6AE3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9F33EDB-1955-4696-A7D0-9B72228CC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2600325"/>
            <a:ext cx="952500" cy="838200"/>
          </a:xfrm>
          <a:prstGeom xmlns:a="http://schemas.openxmlformats.org/drawingml/2006/main" prst="roundRect">
            <a:avLst>
              <a:gd name="adj" fmla="val 13636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4936"/>
                </a:solidFill>
              </a:defRPr>
            </a:pPr>
            <a:r>
              <a:rPr sz="1275" b="1">
                <a:solidFill>
                  <a:srgbClr val="174936"/>
                </a:solidFill>
              </a:rPr>
              <a:t>SAVE</a:t>
            </a:r>
          </a:p>
          <a:p xmlns:a="http://schemas.openxmlformats.org/drawingml/2006/main">
            <a:pPr algn="ctr">
              <a:defRPr sz="1275" b="1">
                <a:solidFill>
                  <a:srgbClr val="174936"/>
                </a:solidFill>
              </a:defRPr>
            </a:pPr>
            <a:r>
              <a:rPr sz="1275" b="1">
                <a:solidFill>
                  <a:srgbClr val="174936"/>
                </a:solidFill>
              </a:rPr>
              <a:t>YOUR</a:t>
            </a:r>
          </a:p>
          <a:p xmlns:a="http://schemas.openxmlformats.org/drawingml/2006/main">
            <a:pPr algn="ctr">
              <a:defRPr sz="1275" b="1">
                <a:solidFill>
                  <a:srgbClr val="174936"/>
                </a:solidFill>
              </a:defRPr>
            </a:pPr>
            <a:r>
              <a:rPr sz="1275" b="1">
                <a:solidFill>
                  <a:srgbClr val="174936"/>
                </a:solidFill>
              </a:rPr>
              <a:t>EVIDENCE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4BA239B-BC88-4F6B-A29E-ECDB208A9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095875"/>
            <a:ext cx="9525000" cy="400050"/>
          </a:xfrm>
          <a:prstGeom xmlns:a="http://schemas.openxmlformats.org/drawingml/2006/main" prst="roundRect">
            <a:avLst>
              <a:gd name="adj" fmla="val 28571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Next: Module 9 · Plan, Produce and Present</a:t>
            </a:r>
          </a:p>
        </p:txBody>
      </p:sp>
    </p:spTree>
    <p:extLst>
      <p:ext uri="{BB962C8B-B14F-4D97-AF65-F5344CB8AC3E}">
        <p14:creationId xmlns:p14="http://schemas.microsoft.com/office/powerpoint/2010/main" val="71010971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2026-08-25T03:54:05.5940000Z</dcterms:created>
  <dcterms:modified xsi:type="dcterms:W3CDTF">2026-08-25T03:54:05.5940000Z</dcterms:modified>
</coreProperties>
</file>