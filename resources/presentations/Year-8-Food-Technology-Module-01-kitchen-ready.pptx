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079c9842e34dab" /><Relationship Type="http://schemas.openxmlformats.org/officeDocument/2006/relationships/extended-properties" Target="/docProps/app.xml" Id="R2a7b8234ff7f4109" /><Relationship Type="http://schemas.openxmlformats.org/officeDocument/2006/relationships/officeDocument" Target="/ppt/presentation.xml" Id="R0702783f179444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cad6739af4ace"/>
  </p:sldMasterIdLst>
  <p:notesMasterIdLst>
    <p:notesMasterId xmlns:r="http://schemas.openxmlformats.org/officeDocument/2006/relationships" r:id="R43b19a866adb4960"/>
  </p:notesMasterIdLst>
  <p:sldIdLst>
    <p:sldId xmlns:r="http://schemas.openxmlformats.org/officeDocument/2006/relationships" id="256" r:id="R8de4321720654ccc"/>
    <p:sldId xmlns:r="http://schemas.openxmlformats.org/officeDocument/2006/relationships" id="257" r:id="R83e3a341002443d7"/>
    <p:sldId xmlns:r="http://schemas.openxmlformats.org/officeDocument/2006/relationships" id="258" r:id="Ree10654c653f4f57"/>
    <p:sldId xmlns:r="http://schemas.openxmlformats.org/officeDocument/2006/relationships" id="259" r:id="R63e0dd4067ed4723"/>
    <p:sldId xmlns:r="http://schemas.openxmlformats.org/officeDocument/2006/relationships" id="260" r:id="R3a6bde7dd0aa4eea"/>
    <p:sldId xmlns:r="http://schemas.openxmlformats.org/officeDocument/2006/relationships" id="261" r:id="R66f63b59aa52462e"/>
    <p:sldId xmlns:r="http://schemas.openxmlformats.org/officeDocument/2006/relationships" id="262" r:id="Rd81954ed0f884df2"/>
    <p:sldId xmlns:r="http://schemas.openxmlformats.org/officeDocument/2006/relationships" id="263" r:id="Ra885db8d65d4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eeacca7364465" /><Relationship Type="http://schemas.openxmlformats.org/officeDocument/2006/relationships/slideMaster" Target="/ppt/slideMasters/slideMaster1.xml" Id="Re7fcad6739af4ace" /><Relationship Type="http://schemas.openxmlformats.org/officeDocument/2006/relationships/notesMaster" Target="/ppt/notesMasters/notesMaster1.xml" Id="R43b19a866adb4960" /><Relationship Type="http://schemas.openxmlformats.org/officeDocument/2006/relationships/presProps" Target="/ppt/presProps.xml" Id="R8893a2217c8b4763" /><Relationship Type="http://schemas.openxmlformats.org/officeDocument/2006/relationships/tableStyles" Target="/ppt/tableStyles.xml" Id="Rf623eb1262744aa1" /><Relationship Type="http://schemas.openxmlformats.org/officeDocument/2006/relationships/slide" Target="/ppt/slides/slide1.xml" Id="R8de4321720654ccc" /><Relationship Type="http://schemas.openxmlformats.org/officeDocument/2006/relationships/slide" Target="/ppt/slides/slide2.xml" Id="R83e3a341002443d7" /><Relationship Type="http://schemas.openxmlformats.org/officeDocument/2006/relationships/slide" Target="/ppt/slides/slide3.xml" Id="Ree10654c653f4f57" /><Relationship Type="http://schemas.openxmlformats.org/officeDocument/2006/relationships/slide" Target="/ppt/slides/slide4.xml" Id="R63e0dd4067ed4723" /><Relationship Type="http://schemas.openxmlformats.org/officeDocument/2006/relationships/slide" Target="/ppt/slides/slide5.xml" Id="R3a6bde7dd0aa4eea" /><Relationship Type="http://schemas.openxmlformats.org/officeDocument/2006/relationships/slide" Target="/ppt/slides/slide6.xml" Id="R66f63b59aa52462e" /><Relationship Type="http://schemas.openxmlformats.org/officeDocument/2006/relationships/slide" Target="/ppt/slides/slide7.xml" Id="Rd81954ed0f884df2" /><Relationship Type="http://schemas.openxmlformats.org/officeDocument/2006/relationships/slide" Target="/ppt/slides/slide8.xml" Id="Ra885db8d65d4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9d9bb27c5942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ca12de539487e" /><Relationship Type="http://schemas.openxmlformats.org/officeDocument/2006/relationships/notesMaster" Target="/ppt/notesMasters/notesMaster1.xml" Id="Rfbe4a49d358e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5a34c7af14027" /><Relationship Type="http://schemas.openxmlformats.org/officeDocument/2006/relationships/notesMaster" Target="/ppt/notesMasters/notesMaster1.xml" Id="Redd634d6d537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4a131431e4774" /><Relationship Type="http://schemas.openxmlformats.org/officeDocument/2006/relationships/notesMaster" Target="/ppt/notesMasters/notesMaster1.xml" Id="R1c88f7b30175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281d0d7c924aab" /><Relationship Type="http://schemas.openxmlformats.org/officeDocument/2006/relationships/notesMaster" Target="/ppt/notesMasters/notesMaster1.xml" Id="Re0c88b057429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50b64eda94df1" /><Relationship Type="http://schemas.openxmlformats.org/officeDocument/2006/relationships/notesMaster" Target="/ppt/notesMasters/notesMaster1.xml" Id="R13b579335351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3139796014cf3" /><Relationship Type="http://schemas.openxmlformats.org/officeDocument/2006/relationships/notesMaster" Target="/ppt/notesMasters/notesMaster1.xml" Id="R509af9db3e45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41086620741fa" /><Relationship Type="http://schemas.openxmlformats.org/officeDocument/2006/relationships/notesMaster" Target="/ppt/notesMasters/notesMaster1.xml" Id="Rffe6b874d81a49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fbddd21e87476a" /><Relationship Type="http://schemas.openxmlformats.org/officeDocument/2006/relationships/notesMaster" Target="/ppt/notesMasters/notesMaster1.xml" Id="R4a9071c77146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Build calm routines for safe, clean practical work.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assets/photos/module-01-kitchen-ready.png · SHA-256 977c35b0390319242437ac6d72a8e691a76d7216f6b70b97cd7d930d29476b40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Personal hygiene and handwashing; Kitchen hazards and safe routines; Washing up, cleaning and sanitising.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Personal hygiene creates barriers to contamination; Use a careful handwashing sequence; Check that you are ready to cook.</a:t>
            </a:r>
          </a:p>
          <a:p xmlns:a="http://schemas.openxmlformats.org/drawingml/2006/main">
            <a:r>
              <a:t>Use the worked example: From phone to food preparation. Being ready to cook is an ongoing condition, not a one-time check at the start of the lesson.</a:t>
            </a:r>
          </a:p>
          <a:p xmlns:a="http://schemas.openxmlformats.org/drawingml/2006/main">
            <a:r>
              <a:t>Likely misconception: If I washed my hands at the start of the practical, they stay clean for the whole lesson. Correction: Hands can become contaminated again after touching items such as a phone, so they may need to be washed again before handling food.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Recognise common kitchen hazards; Use notice, pause, control and report; Build safe routines into every practical.</a:t>
            </a:r>
          </a:p>
          <a:p xmlns:a="http://schemas.openxmlformats.org/drawingml/2006/main">
            <a:r>
              <a:t>Use the worked example: Managing hazards during a pikelet practical. Safe kitchen work comes from recognising hazards early and responding calmly before they turn into accidents.</a:t>
            </a:r>
          </a:p>
          <a:p xmlns:a="http://schemas.openxmlformats.org/drawingml/2006/main">
            <a:r>
              <a:t>Likely misconception: If I see a hazard, I should fix it immediately. Correction: Pause first. Some hazards can be managed through simple safe routines, while others should be reported rather than handled by a student.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safety-routines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Cleaning and sanitising do different jobs; Follow an orderly washing-up routine; Reset the kitchen for the next group.</a:t>
            </a:r>
          </a:p>
          <a:p xmlns:a="http://schemas.openxmlformats.org/drawingml/2006/main">
            <a:r>
              <a:t>Use the worked example: Resetting after a recipe. A successful kitchen reset uses the correct order: remove dirt first, sanitise after cleaning, handle special items appropriately and finish with a usable workspace.</a:t>
            </a:r>
          </a:p>
          <a:p xmlns:a="http://schemas.openxmlformats.org/drawingml/2006/main">
            <a:r>
              <a:t>Likely misconception: Cleaning and sanitising mean the same thing. Correction: Cleaning removes food and dirt, while sanitising is a separate step used after cleaning to reduce microorganisms.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Personal hygiene and handwashing: accept an answer only when it explains why. Hands can become contaminated again after touching items such as a phone, so they may need to be washed again before handling food.</a:t>
            </a:r>
          </a:p>
          <a:p xmlns:a="http://schemas.openxmlformats.org/drawingml/2006/main">
            <a:r>
              <a:t>Question on Kitchen hazards and safe routines: accept an answer only when it explains why. Pause first. Some hazards can be managed through simple safe routines, while others should be reported rather than handled by a student.</a:t>
            </a:r>
          </a:p>
          <a:p xmlns:a="http://schemas.openxmlformats.org/drawingml/2006/main">
            <a:r>
              <a:t>Question on Washing up, cleaning and sanitising: accept an answer only when it explains why. Cleaning removes food and dirt, while sanitising is a separate step used after cleaning to reduce microorganisms.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Personal hygiene and handwashing; Kitchen hazards and safe routines; Washing up, cleaning and sanitising.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Recipes, Equipment and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safety-routines
- course-program
- https://www.foodauthority.nsw.gov.au/consumer/food-at-home/cleaning-and-hygiene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14d60fa89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a665f97024efb" /><Relationship Type="http://schemas.openxmlformats.org/officeDocument/2006/relationships/slideLayout" Target="/ppt/slideLayouts/slideLayout1.xml" Id="R1b5d39d4c25f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5d39d4c25f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e5716beea4183" /><Relationship Type="http://schemas.openxmlformats.org/officeDocument/2006/relationships/image" Target="/ppt/media/image.png" Id="Rc3d53b8857a240fa" /><Relationship Type="http://schemas.openxmlformats.org/officeDocument/2006/relationships/notesSlide" Target="/ppt/notesSlides/notesSlide1.xml" Id="R7ede619b6a4b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f8438d3244fb" /><Relationship Type="http://schemas.openxmlformats.org/officeDocument/2006/relationships/notesSlide" Target="/ppt/notesSlides/notesSlide2.xml" Id="R15123ce74e5a45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3af03d6c341a9" /><Relationship Type="http://schemas.openxmlformats.org/officeDocument/2006/relationships/notesSlide" Target="/ppt/notesSlides/notesSlide3.xml" Id="R7fe5dabd918b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a85fa6abe45cf" /><Relationship Type="http://schemas.openxmlformats.org/officeDocument/2006/relationships/notesSlide" Target="/ppt/notesSlides/notesSlide4.xml" Id="Rfc0b79ce1f6e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e3db9460f4d41" /><Relationship Type="http://schemas.openxmlformats.org/officeDocument/2006/relationships/notesSlide" Target="/ppt/notesSlides/notesSlide5.xml" Id="R8fa4058f2f1e4f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42625a83f4594" /><Relationship Type="http://schemas.openxmlformats.org/officeDocument/2006/relationships/notesSlide" Target="/ppt/notesSlides/notesSlide6.xml" Id="R6305c8b66471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4a4df73bf417a" /><Relationship Type="http://schemas.openxmlformats.org/officeDocument/2006/relationships/notesSlide" Target="/ppt/notesSlides/notesSlide7.xml" Id="Rd3f30eb819074a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2bd9beb044c9" /><Relationship Type="http://schemas.openxmlformats.org/officeDocument/2006/relationships/notesSlide" Target="/ppt/notesSlides/notesSlide8.xml" Id="R1608183d45eb4a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25998-766D-4BD1-9508-0BF88CC3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53b8857a240fa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8F25C-7C7A-45FB-BF6F-D039CF3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ECCD8-7552-42A4-95D8-5FFB778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62C69-E595-45F3-858E-FB4BD343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Kitchen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DAA0A-16F9-484A-B7AE-0AE1DE5A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Build calm routines for safe, clean practical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0A89E-20E5-472B-AD21-DFB98FB0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80264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04F1E-8532-42FF-BDB1-91FA976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41D7-8B2F-4BFA-8015-EC51932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31B96-FEEC-4595-B333-8B7972D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A5B85-8BEA-48E8-937C-2D7083C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4E25C-E5D8-4502-9AE7-51B5232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58DFE-B406-49C4-92B0-D15DECC4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0334-2049-4B9F-B298-ADA2958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E7751-5513-4BF7-B7E8-CD33D553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4028E-79D0-487B-BA09-6F7F26F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F1A8B-C3C0-4110-8336-FCD1D50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Personal hygiene and handwashing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94C83-A3D0-4C79-89FC-3B7B396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A8B43-5B65-40C0-AAAB-C8A57EA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68549-806C-40EA-A138-A899E35C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Kitchen hazards and safe routines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99B6-EDA5-46E9-A95D-41BBCEC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63E19-27C2-41E5-89AE-F78F8B4E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3F0F4-A6CE-4C7D-89E1-C15B2A42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Washing up, cleaning and sanitising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9F93E-BB1A-4411-A8BB-1A35D7B0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1F78E-DC24-4E48-8B8A-0AA670DC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DB2E5-9EEE-4CAC-BFD4-B1F52ABF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02213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DFFD8-ABE7-4CA9-A4AB-2364877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52DA5-A831-4DA5-A6FC-00A432FF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3B061-2E91-4A19-B9F0-943BAFB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E9EF4-9C2F-4B6B-ABE6-C935A54F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1.1 · PERSONAL HYGIENE AND HANDWASHING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E2783-7EE4-4A6F-8C73-82B4E7DB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Personal hygiene and handwashing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7FDE3-934D-41DA-BC50-EA03C31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students’ understanding of personal hygiene as a practical barrier to contamination before and during food preparation.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FE3CB-1EEB-4703-93A1-88E1C5D8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79430-BCD8-45DC-9B3B-39ED34E9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Personal hygiene acts as a barrier that reduces the chance of contamination reaching food.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D12DC-08A0-46FF-8C71-3B463EB7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FAA24-9F0A-404F-BEBD-DC3A5D6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Kitchen readiness includes clean hands, clean clothing or an apron, tied-back hair, covered cuts and reporting illness.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D9A81-EF0D-4152-9BC1-4C4A06F1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C39D8-311D-4F33-A5CD-AF45E992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DF397-DB40-4418-AD3B-A3B9591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use personal hygiene routines before you begin and whenever your actions could reintroduce contamination.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49290-D82E-4A10-BEF4-C70CB43B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05A8D-8ABA-451E-964A-6D0E205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DC850-8BC4-4A1E-BB4A-D05AD5A2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35953-9F53-4690-883F-F8AA6C8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ABBDE-EA5E-48D7-885A-04BD9F2A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Personal hygiene creates barriers to contamination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28E75-3A06-409E-9A48-DBB958D8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C8D05-860F-4251-ACE9-36B1A039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A976C-6997-4C81-9CAD-B1C679F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Use a careful handwashing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22D2B-DA5A-490B-A4C8-597E98C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8EC6D-DC6B-4CF2-AB22-C0895F31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E750B-2B88-4D09-9AC0-68768AE3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Check that you are ready to…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067C1-D5D5-435C-89F0-0423E3E1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5CAEE-BA3B-4C01-ABC0-199C03F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I washed my hands at the start of the practical, they stay…</a:t>
            </a:r>
          </a:p>
        </p:txBody>
      </p:sp>
    </p:spTree>
    <p:extLst>
      <p:ext uri="{BB962C8B-B14F-4D97-AF65-F5344CB8AC3E}">
        <p14:creationId xmlns:p14="http://schemas.microsoft.com/office/powerpoint/2010/main" val="635643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9ABEC-B178-4134-BB24-A4880B85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07147-C5DB-4C22-BD7A-1F30B13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F8793-54DB-4460-8EC2-7E8E43B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21EC3-BCB9-4EBC-9509-64ED350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1.2 · KITCHEN HAZARDS AND SAFE ROUTINES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06FFA-3BF8-4F52-B481-12825A3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Kitchen hazards and safe routines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4FE33-F568-49ED-B056-ACE80F9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students' ability to recognise common kitchen hazards and use calm, practical routines to reduce risk during food preparation.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85610-91C3-4053-821A-C210D63A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FBECF-41E1-4DCC-AADB-B61EE6C2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Common kitchen hazards include slips and trips, cuts, burns and scalds, hot surfaces, electricity near water, clutter and unsafe movement.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BB3D9-4308-40E9-A7C4-5BA4531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36163-F5D1-4F0C-8382-738A3A7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When you notice a hazard, pause before acting and consider what harm could occur.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228C7-3726-4338-800D-EADD7ABA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82ACA-EB3C-4B63-B6A6-AAB5475C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33DF5-AB5E-473A-883D-6019F3D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your next pikelet practical, pay attention to more than your own cooking task.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55855-F6C4-4195-83CD-C25FF49C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15965-5ACF-42E1-AC72-90C2356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B7747-38CC-4D03-828A-7256E9E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Recognise common kitchen hazards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70282-F623-421D-8ECD-68C61BE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10ECC-02DC-4128-A899-6851CE31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7AFBE-C280-450F-9D2C-11CA75B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Use notice, pause, control and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C3362-4E51-416C-9D13-3CF3943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DF603-C3D3-4187-90B9-E4504717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77BC4-C424-469F-AC05-83E0A977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Build safe routines into every practical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A4BAF-3A1E-4D3C-B9A9-2C4822C3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BDAB7-E61D-46DE-A604-7B10FFC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I see a hazard, I should fix it immediately.</a:t>
            </a:r>
          </a:p>
        </p:txBody>
      </p:sp>
    </p:spTree>
    <p:extLst>
      <p:ext uri="{BB962C8B-B14F-4D97-AF65-F5344CB8AC3E}">
        <p14:creationId xmlns:p14="http://schemas.microsoft.com/office/powerpoint/2010/main" val="53649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6319D-9A14-4171-99A3-0B661563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ABA56-5B15-4125-A5C6-4B722ED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C94D8-3BB2-4C26-9E74-37D0957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87A79-C1CE-47A6-8553-57A3C7F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1.3 · WASHING UP, CLEANING AND SANITISING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7A7C-27EE-46A6-BCBA-218DB96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Washing up, cleaning and sanitising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52AC8-47EA-49AA-88CB-C0653CB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students' understanding of the difference between cleaning and sanitising and their ability to follow an orderly kitchen reset routine.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D16C-2A05-477D-9E02-75EB4F8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27D51-A0D1-408A-8A1F-E8D12958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Cleaning removes food, grease and dirt, while sanitising reduces microorganisms after cleaning.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5ACA8-0597-49B8-A840-075E420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0FC69-ED78-4C13-8437-7DDE013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An orderly routine begins with clearing, scraping and safely sorting equipment before washing.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3F4B0-706A-42AE-ADA1-6C02B01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61183-D0B2-4CB8-A79A-76E1A7E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34405-BC74-4A31-B75E-B344B31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At the end of your next practical, avoid treating washing up as a rushed final job.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AA989-A705-4618-8BA6-C6E28F0F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02E8D-ABAA-4FE4-902F-959E1CA6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CA7F4-E738-4438-B3DF-44F2E0B1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03612-DF13-4338-BB80-DF80DB91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Cleaning and sanitising do different jobs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4B50D-60E2-4E36-B692-3BC0C096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779B8-9958-4228-9E3F-FD999C56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Follow an orderly washing-up routine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14DA1-2365-4A74-A079-F952559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34E3E-46CA-43D8-B9AC-409A9D0A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Reset the kitchen for the next…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6114E-EAEF-4EF8-8F8E-8C59C14C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FE411-75A1-46AA-9A6A-17654DA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Cleaning and sanitising mean the same thing.</a:t>
            </a:r>
          </a:p>
        </p:txBody>
      </p:sp>
    </p:spTree>
    <p:extLst>
      <p:ext uri="{BB962C8B-B14F-4D97-AF65-F5344CB8AC3E}">
        <p14:creationId xmlns:p14="http://schemas.microsoft.com/office/powerpoint/2010/main" val="922763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5C0CD-D2A8-4777-BE57-B3E84E8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02CFA-551B-4297-8767-48F5EE3D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53D19-0325-44DE-AAB9-9B7E9606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574D2-A4B2-4E59-9E32-B074616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2B9A3-825C-454F-A7A9-563DF61B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9E69-78DA-4DD1-96FD-1C27695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6DB0-2691-4846-833F-273A4937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I washed my hands at the start of the practical, they stay clean for the whole lesson.”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5732C-E09E-4479-A872-27B7C39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9F094-3F06-4C8D-B15E-3348DC5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I see a hazard, I should fix it immediately.”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A0E6F-C8CA-44B2-B028-1E3C0E2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BDA4-FCD8-437C-8303-AF8244D7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“Cleaning and sanitising mean the same thing.”</a:t>
            </a:r>
          </a:p>
        </p:txBody>
      </p:sp>
    </p:spTree>
    <p:extLst>
      <p:ext uri="{BB962C8B-B14F-4D97-AF65-F5344CB8AC3E}">
        <p14:creationId xmlns:p14="http://schemas.microsoft.com/office/powerpoint/2010/main" val="1499118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D1AC4-CCE5-446E-80D9-E204020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6907B-84D9-4D8C-90E9-150B6D54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062A1-4341-4C61-87FA-7E35BEC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CED5D-966E-4D86-88C2-3DDC9955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4645F-0748-4C3B-BFAD-28437D8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63403-622A-45A5-92BA-5209EBF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5FE44-59AD-44E4-8BCC-FB312B86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Ask students to analyse a cluttered end-of-practical workspace and justify the order in which they would reset it, including where cleaning, sanitising and separate handling are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F5A4A-8780-41BC-82A9-033D4211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0EB06-A776-43F0-A804-792E921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72E0C-79CD-41A9-BEFF-14469D1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BD96D-4AFD-4FDD-991C-12D1AED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D6FD9-D6A8-4C26-A9CD-88891AA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BA1BF-6ED2-495F-9E60-32468F6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7F969-4C33-4596-BF1A-13BE357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062A9-CDAE-49A5-8C49-4499F20D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B826E-067E-4934-B682-1B65435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4C4F0-728D-43A7-870B-AC2B3BA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4F4D8-1BE7-43E7-A09D-DDF63451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85738-8A0B-4FC7-BDD5-5F3F14B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BDE74-C0C7-4D5A-ABD0-CF7C331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550507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3F45C-B72F-4B2F-A183-D4D6B95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F5A36-563F-4A4A-A297-7E2D65FF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01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85CEF-1639-465B-B7D7-0C762E4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C512-9EBC-43DA-A5F3-58B2C02D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39D1-7243-4A5B-8CC1-B06E346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95339-4374-4259-AD2F-15C2DDCF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C2D67-854B-499E-AAEB-A33C7283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E3ECA-C3A8-41DD-B54B-605B1EE5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A5039-E819-41B0-A3D3-F70432E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EC8E6-EBEA-4497-8CAF-114CA0F7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2 · Recipes, Equipment and Measurement</a:t>
            </a:r>
          </a:p>
        </p:txBody>
      </p:sp>
    </p:spTree>
    <p:extLst>
      <p:ext uri="{BB962C8B-B14F-4D97-AF65-F5344CB8AC3E}">
        <p14:creationId xmlns:p14="http://schemas.microsoft.com/office/powerpoint/2010/main" val="1198778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2026-08-25T03:53:53.2000000Z</dcterms:created>
  <dcterms:modified xsi:type="dcterms:W3CDTF">2026-08-25T03:53:53.2010000Z</dcterms:modified>
</coreProperties>
</file>