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430bfbeab4e83" /><Relationship Type="http://schemas.openxmlformats.org/officeDocument/2006/relationships/extended-properties" Target="/docProps/app.xml" Id="R0d871970852a4090" /><Relationship Type="http://schemas.openxmlformats.org/officeDocument/2006/relationships/officeDocument" Target="/ppt/presentation.xml" Id="Re22cd5d8c3024f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15ab20445422f"/>
  </p:sldMasterIdLst>
  <p:notesMasterIdLst>
    <p:notesMasterId xmlns:r="http://schemas.openxmlformats.org/officeDocument/2006/relationships" r:id="Rdf2ee4e0afc04e51"/>
  </p:notesMasterIdLst>
  <p:sldIdLst>
    <p:sldId xmlns:r="http://schemas.openxmlformats.org/officeDocument/2006/relationships" id="256" r:id="Rd14fd89299174242"/>
    <p:sldId xmlns:r="http://schemas.openxmlformats.org/officeDocument/2006/relationships" id="257" r:id="R8167c1f4359d4547"/>
    <p:sldId xmlns:r="http://schemas.openxmlformats.org/officeDocument/2006/relationships" id="258" r:id="R6e47a8cc4a4c46a7"/>
    <p:sldId xmlns:r="http://schemas.openxmlformats.org/officeDocument/2006/relationships" id="259" r:id="R81c6802ef70941da"/>
    <p:sldId xmlns:r="http://schemas.openxmlformats.org/officeDocument/2006/relationships" id="260" r:id="R6432146178044b41"/>
    <p:sldId xmlns:r="http://schemas.openxmlformats.org/officeDocument/2006/relationships" id="261" r:id="R20d77b4e676b4b8f"/>
    <p:sldId xmlns:r="http://schemas.openxmlformats.org/officeDocument/2006/relationships" id="262" r:id="R88b1de10d2264727"/>
    <p:sldId xmlns:r="http://schemas.openxmlformats.org/officeDocument/2006/relationships" id="263" r:id="R7f346dd0de6f4a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9c5ecd6aa64957" /><Relationship Type="http://schemas.openxmlformats.org/officeDocument/2006/relationships/slideMaster" Target="/ppt/slideMasters/slideMaster1.xml" Id="R57e15ab20445422f" /><Relationship Type="http://schemas.openxmlformats.org/officeDocument/2006/relationships/notesMaster" Target="/ppt/notesMasters/notesMaster1.xml" Id="Rdf2ee4e0afc04e51" /><Relationship Type="http://schemas.openxmlformats.org/officeDocument/2006/relationships/presProps" Target="/ppt/presProps.xml" Id="R5daaac3dc7b04204" /><Relationship Type="http://schemas.openxmlformats.org/officeDocument/2006/relationships/tableStyles" Target="/ppt/tableStyles.xml" Id="Rb7932f1092d044b7" /><Relationship Type="http://schemas.openxmlformats.org/officeDocument/2006/relationships/slide" Target="/ppt/slides/slide1.xml" Id="Rd14fd89299174242" /><Relationship Type="http://schemas.openxmlformats.org/officeDocument/2006/relationships/slide" Target="/ppt/slides/slide2.xml" Id="R8167c1f4359d4547" /><Relationship Type="http://schemas.openxmlformats.org/officeDocument/2006/relationships/slide" Target="/ppt/slides/slide3.xml" Id="R6e47a8cc4a4c46a7" /><Relationship Type="http://schemas.openxmlformats.org/officeDocument/2006/relationships/slide" Target="/ppt/slides/slide4.xml" Id="R81c6802ef70941da" /><Relationship Type="http://schemas.openxmlformats.org/officeDocument/2006/relationships/slide" Target="/ppt/slides/slide5.xml" Id="R6432146178044b41" /><Relationship Type="http://schemas.openxmlformats.org/officeDocument/2006/relationships/slide" Target="/ppt/slides/slide6.xml" Id="R20d77b4e676b4b8f" /><Relationship Type="http://schemas.openxmlformats.org/officeDocument/2006/relationships/slide" Target="/ppt/slides/slide7.xml" Id="R88b1de10d2264727" /><Relationship Type="http://schemas.openxmlformats.org/officeDocument/2006/relationships/slide" Target="/ppt/slides/slide8.xml" Id="R7f346dd0de6f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ea9089523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1ec9e78d24b9f" /><Relationship Type="http://schemas.openxmlformats.org/officeDocument/2006/relationships/notesMaster" Target="/ppt/notesMasters/notesMaster1.xml" Id="R7f07221884bd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f190399dc24434" /><Relationship Type="http://schemas.openxmlformats.org/officeDocument/2006/relationships/notesMaster" Target="/ppt/notesMasters/notesMaster1.xml" Id="R1a2a5e2259c247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63f42b32f84140" /><Relationship Type="http://schemas.openxmlformats.org/officeDocument/2006/relationships/notesMaster" Target="/ppt/notesMasters/notesMaster1.xml" Id="Rc9b62ae5bedd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9dadc7491046ef" /><Relationship Type="http://schemas.openxmlformats.org/officeDocument/2006/relationships/notesMaster" Target="/ppt/notesMasters/notesMaster1.xml" Id="R7ac72b98d0084e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4e0a1d9f04a29" /><Relationship Type="http://schemas.openxmlformats.org/officeDocument/2006/relationships/notesMaster" Target="/ppt/notesMasters/notesMaster1.xml" Id="R00a91c3471c94d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cdfbc67f084902" /><Relationship Type="http://schemas.openxmlformats.org/officeDocument/2006/relationships/notesMaster" Target="/ppt/notesMasters/notesMaster1.xml" Id="R45d6c487818c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d2f64fe4343d2" /><Relationship Type="http://schemas.openxmlformats.org/officeDocument/2006/relationships/notesMaster" Target="/ppt/notesMasters/notesMaster1.xml" Id="R47c2adeb52bf42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a64f629e0f43c1" /><Relationship Type="http://schemas.openxmlformats.org/officeDocument/2006/relationships/notesMaster" Target="/ppt/notesMasters/notesMaster1.xml" Id="R2d90722961f04b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Read, choose and measure accurately before production begins.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- food-knowledge
- assets/photos/module-02-measurement-station-v2.png · SHA-256 25a27e33a4ed6697cf5ca537abb58812ab6dab77ad3f78bde35f491d11fab41c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Reading recipes and cooking terms; Selecting equipment and techniques; Measuring, converting and scaling.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Use the recipe as a map; Cooking verbs tell you how to act; Read the sequence before you start.</a:t>
            </a:r>
          </a:p>
          <a:p xmlns:a="http://schemas.openxmlformats.org/drawingml/2006/main">
            <a:r>
              <a:t>Use the worked example: Organising before an introductory recipe. Reading and organising first turns the recipe from a list of instructions into a clear plan for the practical.</a:t>
            </a:r>
          </a:p>
          <a:p xmlns:a="http://schemas.openxmlformats.org/drawingml/2006/main">
            <a:r>
              <a:t>Likely misconception: I only need to read one recipe step at a time. Correction: Reading the whole recipe first helps you understand the sequence, prepare equipment and ingredients, and identify unfamiliar terms before they cause problems.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Match the tool to the task; Match the technique to the tool; Consider accuracy and safe technique.</a:t>
            </a:r>
          </a:p>
          <a:p xmlns:a="http://schemas.openxmlformats.org/drawingml/2006/main">
            <a:r>
              <a:t>Use the worked example: Choosing equipment for muffin preparation. Good equipment selection starts with the task: identify what must happen, consider quantity and accuracy, then match both the tool and technique to the job.</a:t>
            </a:r>
          </a:p>
          <a:p xmlns:a="http://schemas.openxmlformats.org/drawingml/2006/main">
            <a:r>
              <a:t>Likely misconception: If I choose the correct tool, the technique does not matter. Correction: Equipment and technique work together. A suitable tool used with the wrong action may not produce the intended result.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Measure accurately and consistently; Understand the metric links; Scale every ingredient by the same factor.</a:t>
            </a:r>
          </a:p>
          <a:p xmlns:a="http://schemas.openxmlformats.org/drawingml/2006/main">
            <a:r>
              <a:t>Use the worked example: Scaling four serves to six. To change a four-serve recipe to six serves without changing its proportions, multiply every ingredient amount by the same scaling factor of 1.5.</a:t>
            </a:r>
          </a:p>
          <a:p xmlns:a="http://schemas.openxmlformats.org/drawingml/2006/main">
            <a:r>
              <a:t>Likely misconception: If a recipe needs two extra serves, I can simply add the same extra amount to every ingredient. Correction: Different ingredients have different original amounts, so use a scaling factor and multiply every ingredient by that same factor.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recipe-booklet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Reading recipes and cooking terms: accept an answer only when it explains why. Reading the whole recipe first helps you understand the sequence, prepare equipment and ingredients, and identify unfamiliar terms before they cause problems.</a:t>
            </a:r>
          </a:p>
          <a:p xmlns:a="http://schemas.openxmlformats.org/drawingml/2006/main">
            <a:r>
              <a:t>Question on Selecting equipment and techniques: accept an answer only when it explains why. Equipment and technique work together. A suitable tool used with the wrong action may not produce the intended result.</a:t>
            </a:r>
          </a:p>
          <a:p xmlns:a="http://schemas.openxmlformats.org/drawingml/2006/main">
            <a:r>
              <a:t>Question on Measuring, converting and scaling: accept an answer only when it explains why. Different ingredients have different original amounts, so use a scaling factor and multiply every ingredient by that same factor.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Reading recipes and cooking terms; Selecting equipment and techniques; Measuring, converting and scaling.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Food Safety in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recipe-booklet
- course-program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0548ccb3b4e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7a18ab1f2b4758" /><Relationship Type="http://schemas.openxmlformats.org/officeDocument/2006/relationships/slideLayout" Target="/ppt/slideLayouts/slideLayout1.xml" Id="R976f1df57eca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f1df57eca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cdaba0b1c43b0" /><Relationship Type="http://schemas.openxmlformats.org/officeDocument/2006/relationships/image" Target="/ppt/media/image.png" Id="Rc119cfe680b04945" /><Relationship Type="http://schemas.openxmlformats.org/officeDocument/2006/relationships/notesSlide" Target="/ppt/notesSlides/notesSlide1.xml" Id="R1e1a9956516b4b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f37e71af34713" /><Relationship Type="http://schemas.openxmlformats.org/officeDocument/2006/relationships/notesSlide" Target="/ppt/notesSlides/notesSlide2.xml" Id="R2aa1bdf9e9874a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de7501c5b4fef" /><Relationship Type="http://schemas.openxmlformats.org/officeDocument/2006/relationships/notesSlide" Target="/ppt/notesSlides/notesSlide3.xml" Id="R11f85bd6d4e94f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5132a2f6d40c7" /><Relationship Type="http://schemas.openxmlformats.org/officeDocument/2006/relationships/notesSlide" Target="/ppt/notesSlides/notesSlide4.xml" Id="Rcf54f191e285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479b8a3114dae" /><Relationship Type="http://schemas.openxmlformats.org/officeDocument/2006/relationships/notesSlide" Target="/ppt/notesSlides/notesSlide5.xml" Id="Rf3309097ce4345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20e4139d04374" /><Relationship Type="http://schemas.openxmlformats.org/officeDocument/2006/relationships/notesSlide" Target="/ppt/notesSlides/notesSlide6.xml" Id="Rd5a065488576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342c4e65545eb" /><Relationship Type="http://schemas.openxmlformats.org/officeDocument/2006/relationships/notesSlide" Target="/ppt/notesSlides/notesSlide7.xml" Id="R8711ba57e50840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36c3a05734022" /><Relationship Type="http://schemas.openxmlformats.org/officeDocument/2006/relationships/notesSlide" Target="/ppt/notesSlides/notesSlide8.xml" Id="R8e3a610bf89c43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9081E-15E3-486B-8FD4-173D20E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9cfe680b04945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B6079-A3B2-4F8C-A7AC-19F4FD9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3816F-B26D-4435-A402-BBC48275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5EBFE-9FC4-4D24-86A6-17669F1F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Recipes, Equipment and 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CD4EC-0DB2-4BE4-9316-8A1F11D6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Read, choose and measure accurately before production begins.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80399-F5E0-415D-8E93-71D063A1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473687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4812E-7265-4E42-8A0C-3C76F442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E7BF6-8A09-445F-9F12-C51298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74D4A-2C8D-4B32-8CA7-6E55C125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5DA15-794A-4232-B176-2222CE10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AD998-AACD-4D4B-82BB-7F7F92C0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A371E-CB6C-4EA5-B198-A05FB4E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5D83D-D345-42CD-94FE-7644F61C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105AE-302F-4A5F-A597-7E1C59D2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BDB0D-9332-4C46-9DFB-D0D83157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F7974-B282-439B-A732-A094B3FE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Reading recipes and cooking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1BE8A-A865-4FC3-AEE5-90E065D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D2D9C-0A1A-4544-A638-A32D9D3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D5918-F71F-4236-8D64-F327F35B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Selecting equipment and techniques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92924-4FA5-484A-A1E0-133882E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5227E-1F09-46E2-A451-FD47F23D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C8B32-E8DC-46CB-93BA-D6AA6B45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Measuring, converting and scaling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F50E0-0088-451C-A399-48BFB1F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785AC-D899-4AE5-805E-DA76CC8A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671A5-4332-4871-A0B9-464ABA7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1533920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E5F5E-96B8-4B8D-8137-B2A69CD5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B2960-D96B-41FA-8F46-8C20D4F0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DD905-4C4A-49A1-B02F-4106D74B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2F551-031E-495C-B95B-6246374E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2.1 · READING RECIPES AND COOKING TERMS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158B4-8B40-44CF-BC7B-306389A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Reading recipes and cooking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2CE92-70A0-47B7-B4F4-77FC25D4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students' ability to interpret recipe structure, cooking terms and sequence so they can organise practical work before beginning food preparation.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54012-5F4B-4AC2-BE0A-28E1C335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18A86-08C6-4222-A230-44A3F8F3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 recipe can include a title, yield or serves, ingredients with amounts, equipment clues, an ordered method, and time or temperature where…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F4BB3-0EE0-4A89-ADF5-A40D8653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406D9-3C89-41ED-9EEC-09BA9763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Action verbs such as whisk, fold, knead, dice, simmer and bake describe techniques that affect how a recipe is completed.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545F9-3B51-4BB0-9D7D-305BC6D4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4FEBF-6D3F-4940-A007-BF31BB4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02F03-1BC9-40B6-B2C2-B9BF5AC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Before your next recipe, keep your hands off the ingredients for a moment and read the whole recipe.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647C7-C081-4C27-ADC1-C105560E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56771-927F-4B51-8763-003B57E7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9FD27-DDC6-4069-8770-B006B7B8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A29A2-56DC-4BBE-A851-A9A33A16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AD8A5-56C5-4CFD-8B70-77A9CD8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Use the recipe as a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E137-1733-42F2-A661-FDBA513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A93E6-2F01-4050-B569-0410995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1F6AA-F416-4581-92F2-569E7EF4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Cooking verbs tell you how to…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8EBA5-AEA7-48B2-B504-55D814C4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9B42A-1C93-4B5F-8E7A-CEDF95C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A9EF4-D6B2-43A7-A77F-D22E92B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Read the sequence before you start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B5649-5F23-440A-BC89-FBC2157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67809-6979-475F-A22C-A05ECF54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 only need to read one recipe step at a time.</a:t>
            </a:r>
          </a:p>
        </p:txBody>
      </p:sp>
    </p:spTree>
    <p:extLst>
      <p:ext uri="{BB962C8B-B14F-4D97-AF65-F5344CB8AC3E}">
        <p14:creationId xmlns:p14="http://schemas.microsoft.com/office/powerpoint/2010/main" val="690565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8B992-E243-484B-AE37-68AD4E54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16DAC-DDFF-4677-963D-4664E7FE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63A5E-CAAD-4F7E-85CE-9C3D193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A5112-4D49-49DC-B4E1-6366090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2.2 · SELECTING EQUIPMENT AND TECHNIQUES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2165-E07D-42A2-BA7B-A5E8E5A8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Selecting equipment and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24922-E7EB-4C5B-84F2-6C8BFA85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students' ability to select equipment by considering the task, quantity, required accuracy and technique needed for successful food preparation.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2D52B-06BC-4717-9AE0-88141C9A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DE0FD-9CAD-4E22-A8FC-3E633D88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Choose equipment according to the task, food quantity, required accuracy and technique.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BF57D-7DC5-4598-8CAC-E234ABDA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C4C76-F8EF-4B58-B105-9F91E2D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Tools such as whisks, spatulas, measuring spoons, scales, boards and knives perform different jobs.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19A60-A45F-4265-A326-443CAE2B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431D9-3540-4410-B59B-2B4E6283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EE8CF-C965-4DE1-AA01-C3C23066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Before your next practical, read the recipe and identify the main jobs before collecting equipment.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0D274-EC57-460C-9F05-37147F7D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35C9F-9ED9-4232-B2F1-787592FD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A83F6-7B4E-41CB-9C0C-B3A90B42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Match the tool to the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D13F5-952E-46F7-9296-EAEF2DA8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16930-4B66-4855-BD48-76381C7A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98299-496A-469A-9B3C-EEC5E40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Match the technique to the 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B0C50-13B7-47C3-A290-2141280C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1DA17-BE22-4511-952D-1A95B38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B46C5-23ED-40C5-BDB4-FF1FC23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Consider accuracy and safe technique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47059-BC01-47A3-B27D-70999BC2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C6296-9BA2-4AB2-B5BD-F9049F3A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I choose the correct tool, the technique does not matter.</a:t>
            </a:r>
          </a:p>
        </p:txBody>
      </p:sp>
    </p:spTree>
    <p:extLst>
      <p:ext uri="{BB962C8B-B14F-4D97-AF65-F5344CB8AC3E}">
        <p14:creationId xmlns:p14="http://schemas.microsoft.com/office/powerpoint/2010/main" val="1147846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1A00C-8312-4269-A127-DE3B654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261AF-8E37-4C2E-912C-6508EA86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08F80-8057-4E0D-ABD4-064A04B3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495E4-7D3E-4683-801D-755B6F81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2.3 · MEASURING, CONVERTING AND SCALING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2C4BD-CD00-40BE-AC6E-4C2F0AC0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Measuring, converting and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7C69B-5734-4C83-8433-73A1705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Develop students' ability to measure accurately, use metric relationships and scale recipe quantities while maintaining the original ingredient proportions.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2501A-3C8B-45E8-8D41-52301A9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9C3D5-83CC-4EC6-9B2C-51E5ED2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Mass and volume describe different types of measurement, so always check the amount and unit given in the recipe.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BD5CA-2EE9-40CF-8604-2EA2F39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A79D9-8788-46ED-A62F-3DB18906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Accurate measuring includes zeroing digital scales, reading marked scales at eye level and using level measures where required.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2A2FA-A4F7-4C1E-8BD7-8446B0AE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50554-BBC9-470E-9F64-90CE8885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1E0AD-357F-4AED-ABBD-76309AA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Before measuring ingredients, check both the number and unit shown in the recipe.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E5956-E9E4-454D-BC75-0A87998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429FF-D187-4BA4-9BAE-9051D16E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443CE-D0F8-4F7F-A7AD-08A08628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C8B4E-A6DB-4104-A6AB-EC1303B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Measure accurately and consistently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BC2BC-CA0C-4495-BF03-87ADBBF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9CD95-788B-4F6B-B7C3-FE5A61B8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Understand the metric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89E84-04FE-4C06-9164-63AB915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37400-D490-4CC2-A93F-4DFE75C5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Scale every ingredient by the same…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78CE4-4DC3-46AD-BC99-55092B7F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DB8AC-AD37-4A66-A73E-24B6540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a recipe needs two extra serves, I can simply add the same…</a:t>
            </a:r>
          </a:p>
        </p:txBody>
      </p:sp>
    </p:spTree>
    <p:extLst>
      <p:ext uri="{BB962C8B-B14F-4D97-AF65-F5344CB8AC3E}">
        <p14:creationId xmlns:p14="http://schemas.microsoft.com/office/powerpoint/2010/main" val="4502074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F745E-21D0-492D-AF14-1736BBDB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20FE0-8CA1-43BF-9022-7B4DB75E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2E0DE-F02E-4B57-90C8-37A5EE3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73194-5DAD-42B9-80C5-AD31F44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DE2F-88B3-47F7-9611-1E919EE4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24669-C26A-4F7E-A2E9-D1133EFC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EF615-F56C-424F-A933-7C88F23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 only need to read one recipe step at a time.”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FE549-B504-48B9-B2C2-1D99B9B3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B3A8B-FE32-42F4-BAB8-3B8FC677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I choose the correct tool, the technique does not matter.”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93C93-F4EB-4D88-9FFA-6EDF51F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6B95F-88AD-4D36-B44E-5CA5E3E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a recipe needs two extra serves, I can simply add the same extra amount to every ingredient.”</a:t>
            </a:r>
          </a:p>
        </p:txBody>
      </p:sp>
    </p:spTree>
    <p:extLst>
      <p:ext uri="{BB962C8B-B14F-4D97-AF65-F5344CB8AC3E}">
        <p14:creationId xmlns:p14="http://schemas.microsoft.com/office/powerpoint/2010/main" val="68878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668F6-4B2D-4932-8A98-83C4CCDE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DCB92-6A82-473B-AFA8-200CE2D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591E0-EB9E-43DE-8696-607B1CAD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B3B92-9188-4437-A68D-721797CE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0EA88-9545-4945-801E-43C22EC8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D6DE8-E1AA-41BB-A908-A68F98A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B4172-28C9-404E-8301-90D76C09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Ask students to analyse a six-serve recipe plan in which some ingredients were scaled correctly and others were not, identify the errors and justify the corrected amounts using the scaling factor.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368C9-05E8-4CBB-A39A-110CD590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10EBC-84FD-43BD-B650-665E8743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8F142-1878-4A74-9C70-505E3C9E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72C13-3D96-4A93-990C-FC205CF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59EBC-0DDE-4743-B091-227F6C0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3BFE6-DD9B-4D49-9068-2C76935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C4DE7-972B-487E-90C9-012D9B1A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42ECA-773C-4BA9-B3F4-3D98232C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0C617-2208-4AC4-A49A-3F8AA575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7536B-2BA5-49A0-AADE-6457A07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C62C1-1C83-4FBF-BC48-0900F86C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9A86A-F3E3-4DE5-9DB8-1560975D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9E7B5-BB5E-4F9D-9D2B-D0926325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779099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B70DD-ADCD-4D48-B01F-621FD716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B99CC-8E10-4F2F-B345-2951894C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02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ED68-2AE5-4D0B-B0BD-3A76D48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2798-07B3-48FA-9BF0-6F0E3031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76D11-2C56-447A-9FD9-13918B0D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EAB96-B557-421C-9477-77A46624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0C56D-45E3-4039-BBFD-78562F3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41B61-5D83-44A5-85DA-9E61E2F8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184D-177E-480F-A5E4-6798396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9B99E-1764-4E82-9749-45CF9F8A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3 · Food Safety in Action</a:t>
            </a:r>
          </a:p>
        </p:txBody>
      </p:sp>
    </p:spTree>
    <p:extLst>
      <p:ext uri="{BB962C8B-B14F-4D97-AF65-F5344CB8AC3E}">
        <p14:creationId xmlns:p14="http://schemas.microsoft.com/office/powerpoint/2010/main" val="1983174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2026-08-25T03:53:55.6130000Z</dcterms:created>
  <dcterms:modified xsi:type="dcterms:W3CDTF">2026-08-25T03:53:55.6130000Z</dcterms:modified>
</coreProperties>
</file>