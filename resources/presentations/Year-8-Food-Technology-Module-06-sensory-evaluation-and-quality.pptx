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6e402225f4736" /><Relationship Type="http://schemas.openxmlformats.org/officeDocument/2006/relationships/extended-properties" Target="/docProps/app.xml" Id="R1f7f737a09784689" /><Relationship Type="http://schemas.openxmlformats.org/officeDocument/2006/relationships/officeDocument" Target="/ppt/presentation.xml" Id="Rd5b0dddbd986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dd40d8fe14641"/>
  </p:sldMasterIdLst>
  <p:notesMasterIdLst>
    <p:notesMasterId xmlns:r="http://schemas.openxmlformats.org/officeDocument/2006/relationships" r:id="R83e9a9ae6cbf46db"/>
  </p:notesMasterIdLst>
  <p:sldIdLst>
    <p:sldId xmlns:r="http://schemas.openxmlformats.org/officeDocument/2006/relationships" id="256" r:id="Rf81fbab635944d68"/>
    <p:sldId xmlns:r="http://schemas.openxmlformats.org/officeDocument/2006/relationships" id="257" r:id="R410d31facb2149fe"/>
    <p:sldId xmlns:r="http://schemas.openxmlformats.org/officeDocument/2006/relationships" id="258" r:id="R15da2ab151604d06"/>
    <p:sldId xmlns:r="http://schemas.openxmlformats.org/officeDocument/2006/relationships" id="259" r:id="Rbfaa4c7ff0164780"/>
    <p:sldId xmlns:r="http://schemas.openxmlformats.org/officeDocument/2006/relationships" id="260" r:id="R899f64848cb24afa"/>
    <p:sldId xmlns:r="http://schemas.openxmlformats.org/officeDocument/2006/relationships" id="261" r:id="Rbada51dc2c9a48d6"/>
    <p:sldId xmlns:r="http://schemas.openxmlformats.org/officeDocument/2006/relationships" id="262" r:id="R5ef006d65dda4ab7"/>
    <p:sldId xmlns:r="http://schemas.openxmlformats.org/officeDocument/2006/relationships" id="263" r:id="R06f8df02a47745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ad79126634745" /><Relationship Type="http://schemas.openxmlformats.org/officeDocument/2006/relationships/slideMaster" Target="/ppt/slideMasters/slideMaster1.xml" Id="R3c3dd40d8fe14641" /><Relationship Type="http://schemas.openxmlformats.org/officeDocument/2006/relationships/notesMaster" Target="/ppt/notesMasters/notesMaster1.xml" Id="R83e9a9ae6cbf46db" /><Relationship Type="http://schemas.openxmlformats.org/officeDocument/2006/relationships/presProps" Target="/ppt/presProps.xml" Id="Re51c29cff6c74553" /><Relationship Type="http://schemas.openxmlformats.org/officeDocument/2006/relationships/tableStyles" Target="/ppt/tableStyles.xml" Id="R3d74d1344d5b4a57" /><Relationship Type="http://schemas.openxmlformats.org/officeDocument/2006/relationships/slide" Target="/ppt/slides/slide1.xml" Id="Rf81fbab635944d68" /><Relationship Type="http://schemas.openxmlformats.org/officeDocument/2006/relationships/slide" Target="/ppt/slides/slide2.xml" Id="R410d31facb2149fe" /><Relationship Type="http://schemas.openxmlformats.org/officeDocument/2006/relationships/slide" Target="/ppt/slides/slide3.xml" Id="R15da2ab151604d06" /><Relationship Type="http://schemas.openxmlformats.org/officeDocument/2006/relationships/slide" Target="/ppt/slides/slide4.xml" Id="Rbfaa4c7ff0164780" /><Relationship Type="http://schemas.openxmlformats.org/officeDocument/2006/relationships/slide" Target="/ppt/slides/slide5.xml" Id="R899f64848cb24afa" /><Relationship Type="http://schemas.openxmlformats.org/officeDocument/2006/relationships/slide" Target="/ppt/slides/slide6.xml" Id="Rbada51dc2c9a48d6" /><Relationship Type="http://schemas.openxmlformats.org/officeDocument/2006/relationships/slide" Target="/ppt/slides/slide7.xml" Id="R5ef006d65dda4ab7" /><Relationship Type="http://schemas.openxmlformats.org/officeDocument/2006/relationships/slide" Target="/ppt/slides/slide8.xml" Id="R06f8df02a47745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002a2f3ef048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e28839687d4501" /><Relationship Type="http://schemas.openxmlformats.org/officeDocument/2006/relationships/notesMaster" Target="/ppt/notesMasters/notesMaster1.xml" Id="R7e8f9f45ca5d46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7830a9d4443c1" /><Relationship Type="http://schemas.openxmlformats.org/officeDocument/2006/relationships/notesMaster" Target="/ppt/notesMasters/notesMaster1.xml" Id="R603554bb3d1b4b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10caef4ec64c30" /><Relationship Type="http://schemas.openxmlformats.org/officeDocument/2006/relationships/notesMaster" Target="/ppt/notesMasters/notesMaster1.xml" Id="R771895ecb85f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746f118bd4c59" /><Relationship Type="http://schemas.openxmlformats.org/officeDocument/2006/relationships/notesMaster" Target="/ppt/notesMasters/notesMaster1.xml" Id="R5f158a14fe93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6a037db274437d" /><Relationship Type="http://schemas.openxmlformats.org/officeDocument/2006/relationships/notesMaster" Target="/ppt/notesMasters/notesMaster1.xml" Id="R9186762ade56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bd1bbccab458c" /><Relationship Type="http://schemas.openxmlformats.org/officeDocument/2006/relationships/notesMaster" Target="/ppt/notesMasters/notesMaster1.xml" Id="Re09b3067149149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f10e6689fc4400" /><Relationship Type="http://schemas.openxmlformats.org/officeDocument/2006/relationships/notesMaster" Target="/ppt/notesMasters/notesMaster1.xml" Id="R1c168001838642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015fe365d4955" /><Relationship Type="http://schemas.openxmlformats.org/officeDocument/2006/relationships/notesMaster" Target="/ppt/notesMasters/notesMaster1.xml" Id="R421362679aa7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Describe food precisely and use evidence to improve it.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- assets/photos/module-06-sensory-evaluation.png · SHA-256 785926c8c360bf9526ff70366f14098d5e99da541747b158eaa2a4a28ec345b7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The five senses; Precise sensory language and fair comparisons; Using evidence to improve food.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Using the five senses as evidence; Taste is not the same as flavour; Organising a sensory evaluation.</a:t>
            </a:r>
          </a:p>
          <a:p xmlns:a="http://schemas.openxmlformats.org/drawingml/2006/main">
            <a:r>
              <a:t>Use the worked example: Evaluating a freshly prepared mini pizza. Useful sensory evaluation identifies observable evidence and explains it clearly without treating personal preference as proof of quality.</a:t>
            </a:r>
          </a:p>
          <a:p xmlns:a="http://schemas.openxmlformats.org/drawingml/2006/main">
            <a:r>
              <a:t>Likely misconception: Taste and flavour mean exactly the same thing. Correction: Taste is one part of flavour. Flavour also includes aroma and other sensations experienced while eating.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Choose precise sensory descriptors; Make the comparison fair; Record evidence without bias.</a:t>
            </a:r>
          </a:p>
          <a:p xmlns:a="http://schemas.openxmlformats.org/drawingml/2006/main">
            <a:r>
              <a:t>Use the worked example: Comparing two muffin samples. A useful comparison combines precise sensory descriptors with controlled conditions so the conclusion is based on relevant evidence.</a:t>
            </a:r>
          </a:p>
          <a:p xmlns:a="http://schemas.openxmlformats.org/drawingml/2006/main">
            <a:r>
              <a:t>Likely misconception: Saying a sample is good gives enough sensory evidence. Correction: A useful evaluation identifies specific qualities such as colour, aroma, flavour or texture instead of relying on vague approval.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Look for patterns in the evidence; Link a criterion to a controllable change; Plan one useful next trial.</a:t>
            </a:r>
          </a:p>
          <a:p xmlns:a="http://schemas.openxmlformats.org/drawingml/2006/main">
            <a:r>
              <a:t>Use the worked example: Choosing one improvement for a party food. A justified improvement connects a criterion to sensory evidence, recognises limitations and tests one realistic, controllable change.</a:t>
            </a:r>
          </a:p>
          <a:p xmlns:a="http://schemas.openxmlformats.org/drawingml/2006/main">
            <a:r>
              <a:t>Likely misconception: The most popular preference automatically tells us what must be changed. Correction: Preference shows what people like, while an improvement should also be connected to relevant sensory evidence and the intended criteria.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The five senses: accept an answer only when it explains why. Taste is one part of flavour. Flavour also includes aroma and other sensations experienced while eating.</a:t>
            </a:r>
          </a:p>
          <a:p xmlns:a="http://schemas.openxmlformats.org/drawingml/2006/main">
            <a:r>
              <a:t>Question on Precise sensory language and fair comparisons: accept an answer only when it explains why. A useful evaluation identifies specific qualities such as colour, aroma, flavour or texture instead of relying on vague approval.</a:t>
            </a:r>
          </a:p>
          <a:p xmlns:a="http://schemas.openxmlformats.org/drawingml/2006/main">
            <a:r>
              <a:t>Question on Using evidence to improve food: accept an answer only when it explains why. Preference shows what people like, while an improvement should also be connected to relevant sensory evidence and the intended criteria.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The five senses; Precise sensory language and fair comparisons; Using evidence to improve food.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Food Systems and Sustainability.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assessment-workbook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decb1fd30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ea45c012a44142" /><Relationship Type="http://schemas.openxmlformats.org/officeDocument/2006/relationships/slideLayout" Target="/ppt/slideLayouts/slideLayout1.xml" Id="Rab44e340382648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4e340382648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c379f9da647ef" /><Relationship Type="http://schemas.openxmlformats.org/officeDocument/2006/relationships/image" Target="/ppt/media/image.png" Id="R0c2ee8c213a14d04" /><Relationship Type="http://schemas.openxmlformats.org/officeDocument/2006/relationships/notesSlide" Target="/ppt/notesSlides/notesSlide1.xml" Id="Raaa31654ad2a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a58cfd68c4411" /><Relationship Type="http://schemas.openxmlformats.org/officeDocument/2006/relationships/notesSlide" Target="/ppt/notesSlides/notesSlide2.xml" Id="R38df52329c4e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d1ff443f4694" /><Relationship Type="http://schemas.openxmlformats.org/officeDocument/2006/relationships/notesSlide" Target="/ppt/notesSlides/notesSlide3.xml" Id="Rca587347e77544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e8f85bdfa4cb2" /><Relationship Type="http://schemas.openxmlformats.org/officeDocument/2006/relationships/notesSlide" Target="/ppt/notesSlides/notesSlide4.xml" Id="Rc874b2e6cb0049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c321747b64c87" /><Relationship Type="http://schemas.openxmlformats.org/officeDocument/2006/relationships/notesSlide" Target="/ppt/notesSlides/notesSlide5.xml" Id="R6687aae3df4a47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a33c22a74cbd" /><Relationship Type="http://schemas.openxmlformats.org/officeDocument/2006/relationships/notesSlide" Target="/ppt/notesSlides/notesSlide6.xml" Id="Ra2205dcb3b84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b50330d54611" /><Relationship Type="http://schemas.openxmlformats.org/officeDocument/2006/relationships/notesSlide" Target="/ppt/notesSlides/notesSlide7.xml" Id="Rb6e24c3dc69e45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6b34a944849ef" /><Relationship Type="http://schemas.openxmlformats.org/officeDocument/2006/relationships/notesSlide" Target="/ppt/notesSlides/notesSlide8.xml" Id="R86df87bd5b93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D9CEE-9A7B-4720-8546-4C1C844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ee8c213a14d04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0711-45FC-4DEF-B08C-878B3FD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3FA69-DCD1-4359-8BE8-6333E5C8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7ECAA-0872-491C-808A-9E6700BC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Sensory Evaluation and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4298B-8415-4B85-83BC-BF19EA3B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Describe food precisely and use evidence to improve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B1C6D-2D64-4D14-88C7-44BF633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43158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A8B93-8EA8-4968-81E6-B133F767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99E44-6DA5-48E8-B482-2ECF0B6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358A0-AD59-46EA-B9F5-66F1A376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FD7F1-36A5-4810-84AC-4CC3FD8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B7F8B-F2A0-48E1-99DB-431B1630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03268-D441-4BDB-804C-42DABFAF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1B926-4133-4947-9572-CFE121A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1AE86-7BBB-4A33-A21A-3448A0E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60BEE-12CC-4973-8768-F9C62FF6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E5CBA-042D-41BF-83C4-72C4E48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The five senses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A279-2ED6-41F3-AD3A-D2CDABE1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B4B96-3C22-4E66-B87B-EC9B7B16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1EE62-8173-457F-9FE3-3C664B49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Precise sensory language and fair comparisons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6FC9B-59E1-4B41-B16C-A7ECD5B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1CE5A-03D4-42FE-9342-B1CDB9F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EE4D4-B688-4BD0-AA8B-43CF378C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Using evidence to improve food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19E57-094E-4380-9308-DAE9753C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A2CA3-E344-496A-A61E-33E77F6D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E9948-99D6-4338-BA3F-12D5553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607575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418C0-B5EE-4F84-B990-CA21A81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008D-50B9-48A6-A48F-66582DE9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60442-5C58-49A2-A4C6-C24AEA70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75DD1-3F73-4A2C-A40B-6621A01F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6.1 · THE FIVE SENSES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F3F9-FFD2-42E8-A5DF-21B7223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The five senses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C580E-653D-4C95-B0D6-35A5F33D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students capacity to use specific sensory evidence when evaluating food quality in a practical school-kitchen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ACF90-2420-48E9-99B0-EEE886C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7AC3-1CC8-4F4E-A1AB-1D760E4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Sight, smell, taste, touch and hearing can all contribute evidence during sensory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6BA89-1121-41D5-AF25-A578D564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5200D-0FB6-4BB4-BD1A-D7F9003F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Taste refers to taste sensations, while flavour combines taste, aroma and other sensations.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27D56-5270-4994-9EC2-97394C51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DB696-EFE7-4069-9B68-C3592C8A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071E6-66F5-4782-9FBF-2A413AB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or Party Task, examine your freshly prepared food using the senses that are safe and permitted.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B8456-8816-408A-B5A6-E40738D8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351EF-B901-4E28-B0A3-4FE021C6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E5A2C-87F5-45A5-B3CF-A5A95DA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E0125-B412-41E5-86F1-AD4144A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F31D7-51A2-4C6D-9270-C559347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Using the five senses as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38861-1B9C-41B2-9C14-2435E49E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BD4BD-671A-4C23-B45B-938D37A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31179-A6BA-4DE4-A733-9CC57AE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Taste is not the same as…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8FA40-5223-4E6E-B975-576649A0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70FB7-2909-409C-896B-98E1318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57C6F-85B1-4263-BA4B-561C9CF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Organising a sensory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AE68C-C43B-452D-B681-8189C1B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5831E-4239-4726-9598-53B66F82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Taste and flavour mean exactly the same thing.</a:t>
            </a:r>
          </a:p>
        </p:txBody>
      </p:sp>
    </p:spTree>
    <p:extLst>
      <p:ext uri="{BB962C8B-B14F-4D97-AF65-F5344CB8AC3E}">
        <p14:creationId xmlns:p14="http://schemas.microsoft.com/office/powerpoint/2010/main" val="910219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EEE11-E4E7-4C28-BAE1-33E84D6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A3858-9F6E-40F7-86BF-BBF93E4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52BA-C57E-4783-BDE2-03A7C982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3A9F9-F01A-4A2A-A9A0-769B4654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6.2 · PRECISE SENSORY LANGUAGE AND FAIR COMPARISONS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B52C8-267E-42CC-8266-CF4EB067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Precise sensory language and fair comparisons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8CE2E-B140-4A2F-AABB-3F3823E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 ability to describe sensory qualities precisely and compare food samples using fair, neutral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3C237-D3C0-46D1-A048-CFDDAFC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98D6A-D5D8-490C-B0DC-63A594E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Precise sensory descriptors communicate more information than vague words such as good, nice or bad.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C87FF-E305-4D0F-9E3B-FBBBC6FC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1E048-82B7-4546-BCF3-B431382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Comparative language such as softer, darker, stronger or less sweet helps explain differences between samples.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25756-3D84-405C-8A39-EBEEA88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19F36-5F54-45F0-BE98-67D60D6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48E47-189D-4A71-A9D1-B632549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the Food for Purpose or Party Task, compare two versions of a teacher-approved food by selecting one meaningful difference and keeping other conditions as similar…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6E531-29E5-4898-845C-80612FC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A99B8-5A65-4F7E-BBB5-63D74BB2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7E61-A0CA-4634-B645-52BAD67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Choose precise sensory descriptors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C8606-5DA6-481A-9538-5957782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1C580-EA90-447B-8814-A49DEDD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3A02C-9E88-4484-B283-913368A5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Make the comparison fair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66A7A-8FEC-4C15-AB4D-87227A3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788EA-C0E7-4B8D-8033-861E0CCA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AE311-69FC-471A-A58D-EB1AAA1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Record evidence without bias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05257-2AC6-4BCD-B263-A2680DB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E1046-F1DB-4080-9542-75EB84C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Saying a sample is good gives enough sensory evidence.</a:t>
            </a:r>
          </a:p>
        </p:txBody>
      </p:sp>
    </p:spTree>
    <p:extLst>
      <p:ext uri="{BB962C8B-B14F-4D97-AF65-F5344CB8AC3E}">
        <p14:creationId xmlns:p14="http://schemas.microsoft.com/office/powerpoint/2010/main" val="1828111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10FC7-9BB4-4435-95DF-E9244B1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7A073-89B3-4406-B793-0CC264F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8D76F-713E-4327-AF91-4FB4E190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00AF0-453D-4F97-8F68-CF88D5B1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6.3 · USING EVIDENCE TO IMPROVE FOOD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5B21C-9A68-46FB-B8F5-F21711F7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Using evidence to improve food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263B6-CC50-441B-9584-86F9C9A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Help students use sensory evidence and stated criteria to justify one realistic improvement for a future food trial.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BF2B-D038-4F4E-888E-876682D6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18F9A-AD81-41CD-888D-A136C5D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Sensory observations become useful for improvement when they are compared with clear criteria.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3107C-EC3D-4050-98CC-E5FEB4F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37A64-E79D-4ACE-BC77-CAB4E3C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Patterns in evidence can provide stronger support for a change than vague or isolated preference comments.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714F-B320-440E-8466-BC638CB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B7478-B342-4E55-9322-251102B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7591F-FF0E-4393-BA4D-E9D7627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the Food for Purpose or Party Task, review the sensory evidence collected about your food and compare it with the qualities you intended to achieve.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AC575-0DE8-4890-A05F-1DE0D09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E73BE-7561-4719-BAE8-ED8AA5F5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DC2DF-F4CA-45A7-A410-E38299E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857A3-2C0B-48BC-9C44-5E986AE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Look for patterns in the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A25C6-7618-4B0D-9314-9CB103F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9E21D-83ED-4FD1-8993-E91E61C3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Link a criterion to a controllable…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94FB4-26DB-47A0-B1EF-79AFCC7B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AC9C4-8AF5-4460-8CE2-064DC84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Plan one useful next trial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8D617-A6F3-4190-BE7D-1299725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F60FF-8285-4678-81D9-0A63184A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most popular preference automatically tells us what must be changed.</a:t>
            </a:r>
          </a:p>
        </p:txBody>
      </p:sp>
    </p:spTree>
    <p:extLst>
      <p:ext uri="{BB962C8B-B14F-4D97-AF65-F5344CB8AC3E}">
        <p14:creationId xmlns:p14="http://schemas.microsoft.com/office/powerpoint/2010/main" val="574375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779B-5473-4032-A089-35BA06A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D657A-57F8-45F9-9DB3-220807FD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4BADC-CFC6-4EAA-8B32-B23CE1A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AA172-E6FC-4C3C-B1F5-CBE5542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D880A-4AA9-482E-B83C-944C92D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7705E-C09A-4AAD-94E7-A372472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407E-8700-40AF-8200-C028002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“Taste and flavour mean exactly the same thing.”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5E988-41C8-4B25-AA75-BD6E525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07C45-C4F8-4C03-B61B-E3F7250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“Saying a sample is good gives enough sensory evidence.”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1B6A-D6CE-4957-8A92-00FFBEC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16E1A-D705-4426-856E-877D955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most popular preference automatically tells us what must be changed.”</a:t>
            </a:r>
          </a:p>
        </p:txBody>
      </p:sp>
    </p:spTree>
    <p:extLst>
      <p:ext uri="{BB962C8B-B14F-4D97-AF65-F5344CB8AC3E}">
        <p14:creationId xmlns:p14="http://schemas.microsoft.com/office/powerpoint/2010/main" val="96413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B0D32-CFCE-4C58-A877-5623F8C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12BF0-A5F3-4194-9D4D-40D02C04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13C24-322E-4210-A27D-7CAC2224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41954-A897-4422-B55D-DB83078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185A9-88AD-43C6-9468-C1701C29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ED911-6DD0-4FE9-A690-AB2929A8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D44FB-AF49-46EA-9AB8-4F841B9F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Explain which criterion and sensory observations support the proposed change, and note any limitation that affects how confidently the evidence can be interpreted.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A6EF-55D7-4103-8333-909C932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553C1-1607-4028-ABA2-17E0FA3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7066A-2B9A-4CFF-B9D4-01D107CA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B3640-A264-497C-B955-25B985D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56FDF-1707-4078-9F2F-47C81620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C3EEB-9681-4124-A2D2-022DFD51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F5490-ECF4-4849-BFF8-A998098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F41B3-EE6D-44C1-8581-2F2914EE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CEDE9-98B6-4EFF-8C00-C6DC826B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A7D76-E548-4AD8-8E80-AF181CB5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625EA-CFAD-4C5E-831D-DFD799E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73E0F-8AEC-4AB9-B177-4FED7EE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AF430-85BD-49ED-B95C-CC03518D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767213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90BC4-7BDD-4217-8C9E-C2347DF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0AF5E-8820-4116-8F37-F11EE50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06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A7ED2-FF81-4EC4-8BBB-8B3252A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04E9B-1AEF-47CD-A080-321DFEE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F4488-3751-4486-8AC0-D637889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5F293-7698-4364-8BFD-0DA941E5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3416-D88F-4CB4-B79F-130D44C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1466-DF3B-4289-A223-3AD7BEF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2EE22-C308-4ADD-B05B-2D9BE67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40C8C-1884-4783-9C87-41E549C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7 · Food Systems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987252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2026-08-25T03:54:02.1340000Z</dcterms:created>
  <dcterms:modified xsi:type="dcterms:W3CDTF">2026-08-25T03:54:02.1340000Z</dcterms:modified>
</coreProperties>
</file>